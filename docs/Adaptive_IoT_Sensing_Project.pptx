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ac272e3f-6d13-4d0a-d21e-a9065fe4a858}">
          <p14:sldIdLst>
            <p14:sldId id="256"/>
            <p14:sldId id="257"/>
            <p14:sldId id="258"/>
            <p14:sldId id="259"/>
            <p14:sldId id="260"/>
            <p14:sldId id="261"/>
            <p14:sldId id="262"/>
            <p14:sldId id="263"/>
            <p14:sldId id="264"/>
            <p14:sldId id="265"/>
            <p14:sldId id="266"/>
            <p14:sldId id="267"/>
            <p14:sldId id="268"/>
          </p14:sldIdLst>
        </p14:section>
        <p14:section name="Appendix" id="{90403abf-e00e-dd3c-5e06-8e3f2d9cc9cc}">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an IoT sensing node that adapts how often it samples, and a predictive trigger that speeds up sampling before an event starts rather than after. Everything in this talk is a design, a simulation, and a working prototype in code; physical-hardware results are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 modes. Fixed-rate sensing wastes energy because it samples and transmits constantly even when nothing is happening. Threshold-based adaptive sensing improves on that, but it only reacts after the threshold is crossed, so the response is late. Both matter most for battery-powered nodes, where battery replacement at scale is costly and where fewer transmissions also ease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23 papers across five themes: classical adaptive sampling, predictive and event-driven triggers, energy-harvesting duty cycling, edge-AI and TinyML, and LoRaWAN adaptive data rate. Three gaps recur. First, most schemes are reactive rather than predictive. Second, results are usually reported at a single operating point instead of a full trade-off curve. Third, few studies combine a predictive trigger with real hardware and full multi-metric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whether a lightweight predictive trigger can beat threshold-based sampling on energy and data volume without hurting accuracy or latency. The five objectives run from building the node, to implementing the three policies, to collecting real data with induced events, to comparing all four metrics, and finally plotting the full accuracy-versus-energy trade-off curve rather than a single operating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policies run on identical hardware. Fixed-rate samples at a constant interval. Threshold-adaptive samples slowly until a reading crosses a threshold, then speeds up. The proposed predictive-adaptive policy watches the recent trend and speeds up before the threshold is crossed. The tick marks in each card are the real sampling instants from the simulated 20-second trace, so the shaded band is the event and the dense region shows when each policy switched to high-rate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is one straight line: the ESP32 node publishes readings over MQTT to a broker; a Python logger subscribes and writes every message into MongoDB; a REST API serves that data; and the dashboard displays it. Three things keep the comparison fair: all three policies share the same hardware and logging path, energy is measured directly with a current-sense sensor, and every reading is published, logged, and analysed offline. The three MQTT topics are sensor/reading, sensor/event, and sensor/energy.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 is deliberately small and cheap. An ESP32 runs the three policies. An ADXL345 accelerometer senses vibration and an INA219 measures the node's own current, so energy is measured rather than estimated. A small DC motor creates repeatable vibration events at known times. The two I2C sensors share one bus at different addresses. The cost is an estimate of roughly 30 to 50 dollars, using a laptop as the MQTT broker. The firmware is written but this rig has not been built or run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three pages. Live Monitoring shows the vibration signal, the active policy and sampling interval, energy draw, and an event log. Trial Results shows the accuracy-versus-energy trade-off curve and a policy comparison table. Trial History lets you filter, sort, and open past trials. Every control works, but the pages currently run on sample data, not measurements, so the screenshot is labelled as an interface preview. Connecting it to the FastAPI backend and MongoDB is the next integration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a controlled comparison. Run all three policies under identical induced events, log ground-truth event times so latency and accuracy can be scored objectively, sweep the predictive trigger's sensitivity to get a whole trade-off curve rather than one point, and run an ablation with and without trend pre-emption to show which component actually helps. The four metrics are energy in millijoules, detection latency in milliseconds, accuracy as a percentage, and bandwidth as bytes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 this is. It is a simulation of the decision logic on one synthetic 20-second trace with a single induced event, not a hardware result. Relative to the event start, the threshold policy switched to high-rate sampling 400 milliseconds after it, and the predictive policy 400 milliseconds before it: an 800 millisecond gap. The cost was 13 extra samples, 65 versus 52. Important caveat: the trigger sensitivity of 0.035 was tuned on this same trace, so this shows the logic works, not how it will perform on a real sensor. Physical-hardware results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the limits plainly: nothing has run on physical hardware yet; the simulation uses one synthetic event; the accuracy metric in the analysis scripts is a placeholder derived from detection latency until labelled multi-event data exists; and the trigger value was tuned on the same trace used to evaluate it. Next steps are real trials on the ESP32 rig, a sensitivity sweep for the full trade-off curve, a comparison of light sleep with deep sleep, and proper precision, recall and F1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a lightweight on-device predictive trigger evaluated against fixed-rate and threshold baselines, reported as a full accuracy-versus-energy trade-off curve rather than one number, on a reproducible low-cost reference design. The early simulation shows the idea works as intended: the predictive policy switched to high-rate sampling before the event began. The remaining work is the real-hardware experiment that will show how much it actually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trust a simulation tuned on one trace (answer: it only validates the logic; hardware trials are the real test); why light sleep rather than deep sleep (state is preserved, simpler first); how accuracy will be scored (labelled multi-event trials, precision/recall/F1).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two dashboard pages. Both run on sample data for now; the trial list on Trial History and the Trial Results metadata are driven by the same sample trial list, so selecting View on a trial opens it in Trial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closest works from the 23-paper review. The reported results are as stated in each source. The right-hand column states how this project differs; items marked planned depend on the hardware experiment that has not been run yet. The full comparison matrix is in Deliverable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items are the rough estimates from the Deliverable 1 bill of materials. They add up to about 29 to 49 dollars without a Raspberry Pi, using a laptop as the MQTT broker, which is why the slides say about 30 to 50 dollars. Treat them as estimates; prices vary by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Selected references from the project's literature review. The complete reference list is in Deliverables 1 and 2. Bibliographic details should be checked against each source and reformatted to the required citation style before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315200" y="0"/>
            <a:ext cx="4876495" cy="6858000"/>
          </a:xfrm>
          <a:prstGeom prst="rect">
            <a:avLst/>
          </a:prstGeom>
          <a:solidFill>
            <a:schemeClr val="bg2"/>
          </a:solidFill>
          <a:ln/>
        </p:spPr>
      </p:sp>
      <p:pic>
        <p:nvPicPr>
          <p:cNvPr id="3" name="Image 0" descr="assets/logo.png">    </p:cNvPr>
          <p:cNvPicPr>
            <a:picLocks noChangeAspect="1"/>
          </p:cNvPicPr>
          <p:nvPr/>
        </p:nvPicPr>
        <p:blipFill>
          <a:blip r:embed="rId1"/>
          <a:stretch>
            <a:fillRect/>
          </a:stretch>
        </p:blipFill>
        <p:spPr>
          <a:xfrm>
            <a:off x="7772400" y="685800"/>
            <a:ext cx="3959352" cy="1470355"/>
          </a:xfrm>
          <a:prstGeom prst="rect">
            <a:avLst/>
          </a:prstGeom>
        </p:spPr>
      </p:pic>
      <p:sp>
        <p:nvSpPr>
          <p:cNvPr id="4" name="Text 1"/>
          <p:cNvSpPr/>
          <p:nvPr>
            <p:ph idx="102" type="title" hasCustomPrompt="1"/>
          </p:nvPr>
        </p:nvSpPr>
        <p:spPr>
          <a:xfrm>
            <a:off x="640080" y="1234440"/>
            <a:ext cx="6309360" cy="24688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1"/>
          <p:cNvSpPr/>
          <p:nvPr>
            <p:ph idx="103" type="body" hasCustomPrompt="1"/>
          </p:nvPr>
        </p:nvSpPr>
        <p:spPr>
          <a:xfrm>
            <a:off x="640080" y="3886200"/>
            <a:ext cx="6309360" cy="109728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1005840" y="6382512"/>
            <a:ext cx="7315200" cy="274320"/>
          </a:xfrm>
          <a:prstGeom prst="rect">
            <a:avLst/>
          </a:prstGeom>
          <a:noFill/>
          <a:ln/>
        </p:spPr>
        <p:txBody>
          <a:bodyPr wrap="square" lIns="0" tIns="0" rIns="0" bIns="0" rtlCol="0" anchor="ctr"/>
          <a:lstStyle/>
          <a:p>
            <a:pPr indent="0" marL="0">
              <a:buNone/>
            </a:pPr>
            <a:r>
              <a:rPr lang="en-US" sz="1100" dirty="0">
                <a:solidFill>
                  <a:srgbClr val="5F727C"/>
                </a:solidFill>
              </a:rPr>
              <a:t>Predictive Adaptive Sampling for Energy-Efficient Edge IoT</a:t>
            </a:r>
            <a:endParaRPr lang="en-US" sz="1100" dirty="0"/>
          </a:p>
        </p:txBody>
      </p:sp>
      <p:pic>
        <p:nvPicPr>
          <p:cNvPr id="4" name="Image 0" descr="assets/logo.png">    </p:cNvPr>
          <p:cNvPicPr>
            <a:picLocks noChangeAspect="1"/>
          </p:cNvPicPr>
          <p:nvPr/>
        </p:nvPicPr>
        <p:blipFill>
          <a:blip r:embed="rId1"/>
          <a:stretch>
            <a:fillRect/>
          </a:stretch>
        </p:blipFill>
        <p:spPr>
          <a:xfrm>
            <a:off x="10543032" y="6254496"/>
            <a:ext cx="1097280" cy="407822"/>
          </a:xfrm>
          <a:prstGeom prst="rect">
            <a:avLst/>
          </a:prstGeom>
        </p:spPr>
      </p:pic>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315200" y="0"/>
            <a:ext cx="4876495" cy="6858000"/>
          </a:xfrm>
          <a:prstGeom prst="rect">
            <a:avLst/>
          </a:prstGeom>
          <a:solidFill>
            <a:schemeClr val="bg2"/>
          </a:solidFill>
          <a:ln/>
        </p:spPr>
      </p:sp>
      <p:pic>
        <p:nvPicPr>
          <p:cNvPr id="3" name="Image 0" descr="assets/logo.png">    </p:cNvPr>
          <p:cNvPicPr>
            <a:picLocks noChangeAspect="1"/>
          </p:cNvPicPr>
          <p:nvPr/>
        </p:nvPicPr>
        <p:blipFill>
          <a:blip r:embed="rId1"/>
          <a:stretch>
            <a:fillRect/>
          </a:stretch>
        </p:blipFill>
        <p:spPr>
          <a:xfrm>
            <a:off x="7772400" y="2697480"/>
            <a:ext cx="3959352" cy="1470355"/>
          </a:xfrm>
          <a:prstGeom prst="rect">
            <a:avLst/>
          </a:prstGeom>
        </p:spPr>
      </p:pic>
      <p:sp>
        <p:nvSpPr>
          <p:cNvPr id="4" name="Text 1"/>
          <p:cNvSpPr/>
          <p:nvPr>
            <p:ph idx="102" type="title" hasCustomPrompt="1"/>
          </p:nvPr>
        </p:nvSpPr>
        <p:spPr>
          <a:xfrm>
            <a:off x="640080" y="2103120"/>
            <a:ext cx="6309360" cy="137160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5" name="Text 1"/>
          <p:cNvSpPr/>
          <p:nvPr>
            <p:ph idx="103" type="body" hasCustomPrompt="1"/>
          </p:nvPr>
        </p:nvSpPr>
        <p:spPr>
          <a:xfrm>
            <a:off x="640080" y="3611880"/>
            <a:ext cx="6309360" cy="822960"/>
          </a:xfrm>
          <a:prstGeom prst="rect">
            <a:avLst/>
          </a:prstGeom>
          <a:noFill/>
          <a:ln/>
        </p:spPr>
        <p:txBody>
          <a:bodyPr wrap="square" rtlCol="0"/>
          <a:lstStyle>
            <a:lvl1pPr algn="l" indent="0" marL="0">
              <a:buNone/>
              <a:defRPr lang="en-US" sz="3200" dirty="0">
                <a:solidFill>
                  <a:schemeClr val="accent2"/>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4" Type="http://schemas.openxmlformats.org/officeDocument/2006/relationships/image" Target="../media/image-12-2.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640080" y="1234440"/>
            <a:ext cx="6309360" cy="2468880"/>
          </a:xfrm>
          <a:prstGeom prst="rect">
            <a:avLst/>
          </a:prstGeom>
          <a:noFill/>
          <a:ln/>
        </p:spPr>
        <p:txBody>
          <a:bodyPr wrap="square" lIns="0" tIns="0" rIns="0" bIns="0" rtlCol="0" anchor="t"/>
          <a:lstStyle/>
          <a:p>
            <a:pPr algn="l" indent="0" marL="0">
              <a:buNone/>
            </a:pPr>
            <a:r>
              <a:rPr lang="en-US" sz="4400" b="1" dirty="0">
                <a:solidFill>
                  <a:schemeClr val="bg1"/>
                </a:solidFill>
              </a:rPr>
              <a:t>Predictive Adaptive Sampling for Energy-Efficient Edge IoT</a:t>
            </a:r>
            <a:endParaRPr lang="en-US" sz="4400" dirty="0"/>
          </a:p>
        </p:txBody>
      </p:sp>
      <p:sp>
        <p:nvSpPr>
          <p:cNvPr id="3" name="Text 1"/>
          <p:cNvSpPr/>
          <p:nvPr>
            <p:ph idx="103" type="body" hasCustomPrompt="1"/>
          </p:nvPr>
        </p:nvSpPr>
        <p:spPr>
          <a:xfrm>
            <a:off x="640080" y="3886200"/>
            <a:ext cx="6309360" cy="1097280"/>
          </a:xfrm>
          <a:prstGeom prst="rect">
            <a:avLst/>
          </a:prstGeom>
          <a:noFill/>
          <a:ln/>
        </p:spPr>
        <p:txBody>
          <a:bodyPr wrap="square" lIns="0" tIns="0" rIns="0" bIns="0" rtlCol="0" anchor="t"/>
          <a:lstStyle/>
          <a:p>
            <a:pPr algn="l" indent="0" marL="0">
              <a:buNone/>
            </a:pPr>
            <a:r>
              <a:rPr lang="en-US" sz="2000" dirty="0">
                <a:solidFill>
                  <a:schemeClr val="accent2"/>
                </a:solidFill>
              </a:rPr>
              <a:t>A Quantitative Trade-off Study Against Fixed-Rate and Threshold-Based Baselines</a:t>
            </a:r>
            <a:endParaRPr lang="en-US" sz="2000" dirty="0"/>
          </a:p>
        </p:txBody>
      </p:sp>
      <p:sp>
        <p:nvSpPr>
          <p:cNvPr id="4" name="Course line"/>
          <p:cNvSpPr txBox="1"/>
          <p:nvPr/>
        </p:nvSpPr>
        <p:spPr>
          <a:xfrm>
            <a:off x="640080" y="5760720"/>
            <a:ext cx="5943600" cy="365760"/>
          </a:xfrm>
          <a:prstGeom prst="rect">
            <a:avLst/>
          </a:prstGeom>
          <a:noFill/>
          <a:ln/>
        </p:spPr>
        <p:txBody>
          <a:bodyPr wrap="square" lIns="0" tIns="0" rIns="0" bIns="0" rtlCol="0" anchor="ctr"/>
          <a:lstStyle/>
          <a:p>
            <a:pPr indent="0" marL="0">
              <a:buNone/>
            </a:pPr>
            <a:r>
              <a:rPr lang="en-US" sz="1600" dirty="0">
                <a:solidFill>
                  <a:srgbClr val="CBD5DB"/>
                </a:solidFill>
              </a:rPr>
              <a:t>IoT &amp; Industrial IoT Course Project</a:t>
            </a:r>
            <a:endParaRPr lang="en-US" sz="1600" dirty="0"/>
          </a:p>
        </p:txBody>
      </p:sp>
      <p:sp>
        <p:nvSpPr>
          <p:cNvPr id="5" name="Title stat 1"/>
          <p:cNvSpPr/>
          <p:nvPr/>
        </p:nvSpPr>
        <p:spPr>
          <a:xfrm>
            <a:off x="7772400" y="2606040"/>
            <a:ext cx="3959352" cy="868680"/>
          </a:xfrm>
          <a:prstGeom prst="roundRect">
            <a:avLst>
              <a:gd name="adj" fmla="val 12632"/>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6" name="Title stat 1 circle"/>
          <p:cNvSpPr/>
          <p:nvPr/>
        </p:nvSpPr>
        <p:spPr>
          <a:xfrm>
            <a:off x="8028432" y="2779776"/>
            <a:ext cx="521208" cy="521208"/>
          </a:xfrm>
          <a:prstGeom prst="ellipse">
            <a:avLst/>
          </a:prstGeom>
          <a:solidFill>
            <a:schemeClr val="accent1"/>
          </a:solidFill>
          <a:ln/>
        </p:spPr>
      </p:sp>
      <p:pic>
        <p:nvPicPr>
          <p:cNvPr id="7" name="Image 0" descr="Title stat 1 icon">    </p:cNvPr>
          <p:cNvPicPr>
            <a:picLocks noChangeAspect="1"/>
          </p:cNvPicPr>
          <p:nvPr/>
        </p:nvPicPr>
        <p:blipFill>
          <a:blip r:embed="rId1"/>
          <a:stretch>
            <a:fillRect/>
          </a:stretch>
        </p:blipFill>
        <p:spPr>
          <a:xfrm>
            <a:off x="8158734" y="2910078"/>
            <a:ext cx="260604" cy="260604"/>
          </a:xfrm>
          <a:prstGeom prst="rect">
            <a:avLst/>
          </a:prstGeom>
        </p:spPr>
      </p:pic>
      <p:sp>
        <p:nvSpPr>
          <p:cNvPr id="8" name="Title stat 1 text"/>
          <p:cNvSpPr txBox="1"/>
          <p:nvPr/>
        </p:nvSpPr>
        <p:spPr>
          <a:xfrm>
            <a:off x="8732520" y="2606040"/>
            <a:ext cx="2834640" cy="868680"/>
          </a:xfrm>
          <a:prstGeom prst="rect">
            <a:avLst/>
          </a:prstGeom>
          <a:noFill/>
          <a:ln/>
        </p:spPr>
        <p:txBody>
          <a:bodyPr wrap="square" lIns="0" tIns="0" rIns="0" bIns="0" rtlCol="0" anchor="ctr"/>
          <a:lstStyle/>
          <a:p>
            <a:pPr indent="0" marL="0">
              <a:buNone/>
            </a:pPr>
            <a:r>
              <a:rPr lang="en-US" sz="1600" dirty="0">
                <a:solidFill>
                  <a:schemeClr val="tx1"/>
                </a:solidFill>
              </a:rPr>
              <a:t>3 sensing policies compared</a:t>
            </a:r>
            <a:endParaRPr lang="en-US" sz="1600" dirty="0"/>
          </a:p>
        </p:txBody>
      </p:sp>
      <p:sp>
        <p:nvSpPr>
          <p:cNvPr id="9" name="Title stat 2"/>
          <p:cNvSpPr/>
          <p:nvPr/>
        </p:nvSpPr>
        <p:spPr>
          <a:xfrm>
            <a:off x="7772400" y="3703320"/>
            <a:ext cx="3959352" cy="868680"/>
          </a:xfrm>
          <a:prstGeom prst="roundRect">
            <a:avLst>
              <a:gd name="adj" fmla="val 12632"/>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0" name="Title stat 2 circle"/>
          <p:cNvSpPr/>
          <p:nvPr/>
        </p:nvSpPr>
        <p:spPr>
          <a:xfrm>
            <a:off x="8028432" y="3877056"/>
            <a:ext cx="521208" cy="521208"/>
          </a:xfrm>
          <a:prstGeom prst="ellipse">
            <a:avLst/>
          </a:prstGeom>
          <a:solidFill>
            <a:schemeClr val="accent1"/>
          </a:solidFill>
          <a:ln/>
        </p:spPr>
      </p:sp>
      <p:pic>
        <p:nvPicPr>
          <p:cNvPr id="11" name="Image 1" descr="Title stat 2 icon">    </p:cNvPr>
          <p:cNvPicPr>
            <a:picLocks noChangeAspect="1"/>
          </p:cNvPicPr>
          <p:nvPr/>
        </p:nvPicPr>
        <p:blipFill>
          <a:blip r:embed="rId2"/>
          <a:stretch>
            <a:fillRect/>
          </a:stretch>
        </p:blipFill>
        <p:spPr>
          <a:xfrm>
            <a:off x="8158734" y="4007358"/>
            <a:ext cx="260604" cy="260604"/>
          </a:xfrm>
          <a:prstGeom prst="rect">
            <a:avLst/>
          </a:prstGeom>
        </p:spPr>
      </p:pic>
      <p:sp>
        <p:nvSpPr>
          <p:cNvPr id="12" name="Title stat 2 text"/>
          <p:cNvSpPr txBox="1"/>
          <p:nvPr/>
        </p:nvSpPr>
        <p:spPr>
          <a:xfrm>
            <a:off x="8732520" y="3703320"/>
            <a:ext cx="2834640" cy="868680"/>
          </a:xfrm>
          <a:prstGeom prst="rect">
            <a:avLst/>
          </a:prstGeom>
          <a:noFill/>
          <a:ln/>
        </p:spPr>
        <p:txBody>
          <a:bodyPr wrap="square" lIns="0" tIns="0" rIns="0" bIns="0" rtlCol="0" anchor="ctr"/>
          <a:lstStyle/>
          <a:p>
            <a:pPr indent="0" marL="0">
              <a:buNone/>
            </a:pPr>
            <a:r>
              <a:rPr lang="en-US" sz="1600" dirty="0">
                <a:solidFill>
                  <a:schemeClr val="tx1"/>
                </a:solidFill>
              </a:rPr>
              <a:t>23 papers reviewed</a:t>
            </a:r>
            <a:endParaRPr lang="en-US" sz="1600" dirty="0"/>
          </a:p>
        </p:txBody>
      </p:sp>
      <p:sp>
        <p:nvSpPr>
          <p:cNvPr id="13" name="Title stat 3"/>
          <p:cNvSpPr/>
          <p:nvPr/>
        </p:nvSpPr>
        <p:spPr>
          <a:xfrm>
            <a:off x="7772400" y="4800600"/>
            <a:ext cx="3959352" cy="868680"/>
          </a:xfrm>
          <a:prstGeom prst="roundRect">
            <a:avLst>
              <a:gd name="adj" fmla="val 12632"/>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4" name="Title stat 3 circle"/>
          <p:cNvSpPr/>
          <p:nvPr/>
        </p:nvSpPr>
        <p:spPr>
          <a:xfrm>
            <a:off x="8028432" y="4974336"/>
            <a:ext cx="521208" cy="521208"/>
          </a:xfrm>
          <a:prstGeom prst="ellipse">
            <a:avLst/>
          </a:prstGeom>
          <a:solidFill>
            <a:schemeClr val="accent1"/>
          </a:solidFill>
          <a:ln/>
        </p:spPr>
      </p:sp>
      <p:pic>
        <p:nvPicPr>
          <p:cNvPr id="15" name="Image 2" descr="Title stat 3 icon">    </p:cNvPr>
          <p:cNvPicPr>
            <a:picLocks noChangeAspect="1"/>
          </p:cNvPicPr>
          <p:nvPr/>
        </p:nvPicPr>
        <p:blipFill>
          <a:blip r:embed="rId3"/>
          <a:stretch>
            <a:fillRect/>
          </a:stretch>
        </p:blipFill>
        <p:spPr>
          <a:xfrm>
            <a:off x="8158734" y="5104638"/>
            <a:ext cx="260604" cy="260604"/>
          </a:xfrm>
          <a:prstGeom prst="rect">
            <a:avLst/>
          </a:prstGeom>
        </p:spPr>
      </p:pic>
      <p:sp>
        <p:nvSpPr>
          <p:cNvPr id="16" name="Title stat 3 text"/>
          <p:cNvSpPr txBox="1"/>
          <p:nvPr/>
        </p:nvSpPr>
        <p:spPr>
          <a:xfrm>
            <a:off x="8732520" y="4800600"/>
            <a:ext cx="2834640" cy="868680"/>
          </a:xfrm>
          <a:prstGeom prst="rect">
            <a:avLst/>
          </a:prstGeom>
          <a:noFill/>
          <a:ln/>
        </p:spPr>
        <p:txBody>
          <a:bodyPr wrap="square" lIns="0" tIns="0" rIns="0" bIns="0" rtlCol="0" anchor="ctr"/>
          <a:lstStyle/>
          <a:p>
            <a:pPr indent="0" marL="0">
              <a:buNone/>
            </a:pPr>
            <a:r>
              <a:rPr lang="en-US" sz="1600" dirty="0">
                <a:solidFill>
                  <a:schemeClr val="tx1"/>
                </a:solidFill>
              </a:rPr>
              <a:t>ESP32 · MQTT · MongoDB · React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Always-On Sensing Wastes Energy</a:t>
            </a:r>
            <a:endParaRPr lang="en-US" sz="3600" dirty="0"/>
          </a:p>
        </p:txBody>
      </p:sp>
      <p:sp>
        <p:nvSpPr>
          <p:cNvPr id="4" name="Problem card 1"/>
          <p:cNvSpPr/>
          <p:nvPr/>
        </p:nvSpPr>
        <p:spPr>
          <a:xfrm>
            <a:off x="548640" y="1371600"/>
            <a:ext cx="5455768" cy="2788920"/>
          </a:xfrm>
          <a:prstGeom prst="roundRect">
            <a:avLst>
              <a:gd name="adj" fmla="val 3934"/>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Fixed-rate sensing circle"/>
          <p:cNvSpPr/>
          <p:nvPr/>
        </p:nvSpPr>
        <p:spPr>
          <a:xfrm>
            <a:off x="914400" y="1737360"/>
            <a:ext cx="822960" cy="822960"/>
          </a:xfrm>
          <a:prstGeom prst="ellipse">
            <a:avLst/>
          </a:prstGeom>
          <a:solidFill>
            <a:schemeClr val="accent4"/>
          </a:solidFill>
          <a:ln/>
        </p:spPr>
      </p:sp>
      <p:pic>
        <p:nvPicPr>
          <p:cNvPr id="6" name="Image 0" descr="Fixed-rate sensing icon">    </p:cNvPr>
          <p:cNvPicPr>
            <a:picLocks noChangeAspect="1"/>
          </p:cNvPicPr>
          <p:nvPr/>
        </p:nvPicPr>
        <p:blipFill>
          <a:blip r:embed="rId1"/>
          <a:stretch>
            <a:fillRect/>
          </a:stretch>
        </p:blipFill>
        <p:spPr>
          <a:xfrm>
            <a:off x="1120140" y="1943100"/>
            <a:ext cx="411480" cy="411480"/>
          </a:xfrm>
          <a:prstGeom prst="rect">
            <a:avLst/>
          </a:prstGeom>
        </p:spPr>
      </p:pic>
      <p:sp>
        <p:nvSpPr>
          <p:cNvPr id="7" name="Fixed-rate sensing title"/>
          <p:cNvSpPr txBox="1"/>
          <p:nvPr/>
        </p:nvSpPr>
        <p:spPr>
          <a:xfrm>
            <a:off x="914400" y="2743200"/>
            <a:ext cx="4724248" cy="457200"/>
          </a:xfrm>
          <a:prstGeom prst="rect">
            <a:avLst/>
          </a:prstGeom>
          <a:noFill/>
          <a:ln/>
        </p:spPr>
        <p:txBody>
          <a:bodyPr wrap="square" lIns="0" tIns="0" rIns="0" bIns="0" rtlCol="0" anchor="ctr"/>
          <a:lstStyle/>
          <a:p>
            <a:pPr indent="0" marL="0">
              <a:buNone/>
            </a:pPr>
            <a:r>
              <a:rPr lang="en-US" sz="2400" b="1" dirty="0">
                <a:solidFill>
                  <a:schemeClr val="tx1"/>
                </a:solidFill>
              </a:rPr>
              <a:t>Fixed-rate sensing</a:t>
            </a:r>
            <a:endParaRPr lang="en-US" sz="2400" dirty="0"/>
          </a:p>
        </p:txBody>
      </p:sp>
      <p:sp>
        <p:nvSpPr>
          <p:cNvPr id="8" name="Fixed-rate sensing text"/>
          <p:cNvSpPr txBox="1"/>
          <p:nvPr/>
        </p:nvSpPr>
        <p:spPr>
          <a:xfrm>
            <a:off x="914400" y="3246120"/>
            <a:ext cx="4724248" cy="731520"/>
          </a:xfrm>
          <a:prstGeom prst="rect">
            <a:avLst/>
          </a:prstGeom>
          <a:noFill/>
          <a:ln/>
        </p:spPr>
        <p:txBody>
          <a:bodyPr wrap="square" lIns="0" tIns="0" rIns="0" bIns="0" rtlCol="0" anchor="t"/>
          <a:lstStyle/>
          <a:p>
            <a:pPr indent="0" marL="0">
              <a:buNone/>
            </a:pPr>
            <a:r>
              <a:rPr lang="en-US" sz="1700" dirty="0">
                <a:solidFill>
                  <a:schemeClr val="tx1"/>
                </a:solidFill>
              </a:rPr>
              <a:t>Samples and transmits constantly, even when nothing is happening</a:t>
            </a:r>
            <a:endParaRPr lang="en-US" sz="1700" dirty="0"/>
          </a:p>
        </p:txBody>
      </p:sp>
      <p:sp>
        <p:nvSpPr>
          <p:cNvPr id="9" name="Problem card 2"/>
          <p:cNvSpPr/>
          <p:nvPr/>
        </p:nvSpPr>
        <p:spPr>
          <a:xfrm>
            <a:off x="6187288" y="1371600"/>
            <a:ext cx="5455768" cy="2788920"/>
          </a:xfrm>
          <a:prstGeom prst="roundRect">
            <a:avLst>
              <a:gd name="adj" fmla="val 3934"/>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0" name="Threshold-based sensing circle"/>
          <p:cNvSpPr/>
          <p:nvPr/>
        </p:nvSpPr>
        <p:spPr>
          <a:xfrm>
            <a:off x="6553048" y="1737360"/>
            <a:ext cx="822960" cy="822960"/>
          </a:xfrm>
          <a:prstGeom prst="ellipse">
            <a:avLst/>
          </a:prstGeom>
          <a:solidFill>
            <a:schemeClr val="accent5"/>
          </a:solidFill>
          <a:ln/>
        </p:spPr>
      </p:sp>
      <p:pic>
        <p:nvPicPr>
          <p:cNvPr id="11" name="Image 1" descr="Threshold-based sensing icon">    </p:cNvPr>
          <p:cNvPicPr>
            <a:picLocks noChangeAspect="1"/>
          </p:cNvPicPr>
          <p:nvPr/>
        </p:nvPicPr>
        <p:blipFill>
          <a:blip r:embed="rId2"/>
          <a:stretch>
            <a:fillRect/>
          </a:stretch>
        </p:blipFill>
        <p:spPr>
          <a:xfrm>
            <a:off x="6758788" y="1943100"/>
            <a:ext cx="411480" cy="411480"/>
          </a:xfrm>
          <a:prstGeom prst="rect">
            <a:avLst/>
          </a:prstGeom>
        </p:spPr>
      </p:pic>
      <p:sp>
        <p:nvSpPr>
          <p:cNvPr id="12" name="Threshold-based sensing title"/>
          <p:cNvSpPr txBox="1"/>
          <p:nvPr/>
        </p:nvSpPr>
        <p:spPr>
          <a:xfrm>
            <a:off x="6553048" y="2743200"/>
            <a:ext cx="4724248" cy="457200"/>
          </a:xfrm>
          <a:prstGeom prst="rect">
            <a:avLst/>
          </a:prstGeom>
          <a:noFill/>
          <a:ln/>
        </p:spPr>
        <p:txBody>
          <a:bodyPr wrap="square" lIns="0" tIns="0" rIns="0" bIns="0" rtlCol="0" anchor="ctr"/>
          <a:lstStyle/>
          <a:p>
            <a:pPr indent="0" marL="0">
              <a:buNone/>
            </a:pPr>
            <a:r>
              <a:rPr lang="en-US" sz="2400" b="1" dirty="0">
                <a:solidFill>
                  <a:schemeClr val="tx1"/>
                </a:solidFill>
              </a:rPr>
              <a:t>Threshold-based sensing</a:t>
            </a:r>
            <a:endParaRPr lang="en-US" sz="2400" dirty="0"/>
          </a:p>
        </p:txBody>
      </p:sp>
      <p:sp>
        <p:nvSpPr>
          <p:cNvPr id="13" name="Threshold-based sensing text"/>
          <p:cNvSpPr txBox="1"/>
          <p:nvPr/>
        </p:nvSpPr>
        <p:spPr>
          <a:xfrm>
            <a:off x="6553048" y="3246120"/>
            <a:ext cx="4724248" cy="731520"/>
          </a:xfrm>
          <a:prstGeom prst="rect">
            <a:avLst/>
          </a:prstGeom>
          <a:noFill/>
          <a:ln/>
        </p:spPr>
        <p:txBody>
          <a:bodyPr wrap="square" lIns="0" tIns="0" rIns="0" bIns="0" rtlCol="0" anchor="t"/>
          <a:lstStyle/>
          <a:p>
            <a:pPr indent="0" marL="0">
              <a:buNone/>
            </a:pPr>
            <a:r>
              <a:rPr lang="en-US" sz="1700" dirty="0">
                <a:solidFill>
                  <a:schemeClr val="tx1"/>
                </a:solidFill>
              </a:rPr>
              <a:t>Reacts only after a threshold is crossed, so the response is late</a:t>
            </a:r>
            <a:endParaRPr lang="en-US" sz="1700" dirty="0"/>
          </a:p>
        </p:txBody>
      </p:sp>
      <p:sp>
        <p:nvSpPr>
          <p:cNvPr id="14" name="Motivation panel"/>
          <p:cNvSpPr/>
          <p:nvPr/>
        </p:nvSpPr>
        <p:spPr>
          <a:xfrm>
            <a:off x="548640" y="4434840"/>
            <a:ext cx="11094415" cy="1600200"/>
          </a:xfrm>
          <a:prstGeom prst="roundRect">
            <a:avLst>
              <a:gd name="adj" fmla="val 6857"/>
            </a:avLst>
          </a:prstGeom>
          <a:solidFill>
            <a:schemeClr val="tx2"/>
          </a:solidFill>
          <a:ln/>
        </p:spPr>
      </p:sp>
      <p:sp>
        <p:nvSpPr>
          <p:cNvPr id="15" name="Motivation heading"/>
          <p:cNvSpPr txBox="1"/>
          <p:nvPr/>
        </p:nvSpPr>
        <p:spPr>
          <a:xfrm>
            <a:off x="1005840" y="4663440"/>
            <a:ext cx="10180015" cy="457200"/>
          </a:xfrm>
          <a:prstGeom prst="rect">
            <a:avLst/>
          </a:prstGeom>
          <a:noFill/>
          <a:ln/>
        </p:spPr>
        <p:txBody>
          <a:bodyPr wrap="square" lIns="0" tIns="0" rIns="0" bIns="0" rtlCol="0" anchor="ctr"/>
          <a:lstStyle/>
          <a:p>
            <a:pPr indent="0" marL="0">
              <a:buNone/>
            </a:pPr>
            <a:r>
              <a:rPr lang="en-US" sz="2400" b="1" dirty="0">
                <a:solidFill>
                  <a:schemeClr val="bg1"/>
                </a:solidFill>
              </a:rPr>
              <a:t>Battery-powered nodes: lifetime is the binding constraint</a:t>
            </a:r>
            <a:endParaRPr lang="en-US" sz="2400" dirty="0"/>
          </a:p>
        </p:txBody>
      </p:sp>
      <p:sp>
        <p:nvSpPr>
          <p:cNvPr id="16" name="Motivation 1 circle"/>
          <p:cNvSpPr/>
          <p:nvPr/>
        </p:nvSpPr>
        <p:spPr>
          <a:xfrm>
            <a:off x="1005840" y="5303520"/>
            <a:ext cx="502920" cy="502920"/>
          </a:xfrm>
          <a:prstGeom prst="ellipse">
            <a:avLst/>
          </a:prstGeom>
          <a:solidFill>
            <a:schemeClr val="accent1"/>
          </a:solidFill>
          <a:ln/>
        </p:spPr>
      </p:sp>
      <p:pic>
        <p:nvPicPr>
          <p:cNvPr id="17" name="Image 2" descr="Motivation 1 icon">    </p:cNvPr>
          <p:cNvPicPr>
            <a:picLocks noChangeAspect="1"/>
          </p:cNvPicPr>
          <p:nvPr/>
        </p:nvPicPr>
        <p:blipFill>
          <a:blip r:embed="rId3"/>
          <a:stretch>
            <a:fillRect/>
          </a:stretch>
        </p:blipFill>
        <p:spPr>
          <a:xfrm>
            <a:off x="1131570" y="5429250"/>
            <a:ext cx="251460" cy="251460"/>
          </a:xfrm>
          <a:prstGeom prst="rect">
            <a:avLst/>
          </a:prstGeom>
        </p:spPr>
      </p:pic>
      <p:sp>
        <p:nvSpPr>
          <p:cNvPr id="18" name="Motivation 1 text"/>
          <p:cNvSpPr txBox="1"/>
          <p:nvPr/>
        </p:nvSpPr>
        <p:spPr>
          <a:xfrm>
            <a:off x="1691640" y="5239512"/>
            <a:ext cx="4221328" cy="640080"/>
          </a:xfrm>
          <a:prstGeom prst="rect">
            <a:avLst/>
          </a:prstGeom>
          <a:noFill/>
          <a:ln/>
        </p:spPr>
        <p:txBody>
          <a:bodyPr wrap="square" lIns="0" tIns="0" rIns="0" bIns="0" rtlCol="0" anchor="ctr"/>
          <a:lstStyle/>
          <a:p>
            <a:pPr indent="0" marL="0">
              <a:buNone/>
            </a:pPr>
            <a:r>
              <a:rPr lang="en-US" sz="1600" dirty="0">
                <a:solidFill>
                  <a:srgbClr val="E6EEF2"/>
                </a:solidFill>
              </a:rPr>
              <a:t>Replacing batteries at scale is costly: buried sensors, remote sites</a:t>
            </a:r>
            <a:endParaRPr lang="en-US" sz="1600" dirty="0"/>
          </a:p>
        </p:txBody>
      </p:sp>
      <p:sp>
        <p:nvSpPr>
          <p:cNvPr id="19" name="Motivation 2 circle"/>
          <p:cNvSpPr/>
          <p:nvPr/>
        </p:nvSpPr>
        <p:spPr>
          <a:xfrm>
            <a:off x="6187288" y="5303520"/>
            <a:ext cx="502920" cy="502920"/>
          </a:xfrm>
          <a:prstGeom prst="ellipse">
            <a:avLst/>
          </a:prstGeom>
          <a:solidFill>
            <a:schemeClr val="accent1"/>
          </a:solidFill>
          <a:ln/>
        </p:spPr>
      </p:sp>
      <p:pic>
        <p:nvPicPr>
          <p:cNvPr id="20" name="Image 3" descr="Motivation 2 icon">    </p:cNvPr>
          <p:cNvPicPr>
            <a:picLocks noChangeAspect="1"/>
          </p:cNvPicPr>
          <p:nvPr/>
        </p:nvPicPr>
        <p:blipFill>
          <a:blip r:embed="rId4"/>
          <a:stretch>
            <a:fillRect/>
          </a:stretch>
        </p:blipFill>
        <p:spPr>
          <a:xfrm>
            <a:off x="6313018" y="5429250"/>
            <a:ext cx="251460" cy="251460"/>
          </a:xfrm>
          <a:prstGeom prst="rect">
            <a:avLst/>
          </a:prstGeom>
        </p:spPr>
      </p:pic>
      <p:sp>
        <p:nvSpPr>
          <p:cNvPr id="21" name="Motivation 2 text"/>
          <p:cNvSpPr txBox="1"/>
          <p:nvPr/>
        </p:nvSpPr>
        <p:spPr>
          <a:xfrm>
            <a:off x="6873088" y="5239512"/>
            <a:ext cx="4221328" cy="640080"/>
          </a:xfrm>
          <a:prstGeom prst="rect">
            <a:avLst/>
          </a:prstGeom>
          <a:noFill/>
          <a:ln/>
        </p:spPr>
        <p:txBody>
          <a:bodyPr wrap="square" lIns="0" tIns="0" rIns="0" bIns="0" rtlCol="0" anchor="ctr"/>
          <a:lstStyle/>
          <a:p>
            <a:pPr indent="0" marL="0">
              <a:buNone/>
            </a:pPr>
            <a:r>
              <a:rPr lang="en-US" sz="1600" dirty="0">
                <a:solidFill>
                  <a:srgbClr val="E6EEF2"/>
                </a:solidFill>
              </a:rPr>
              <a:t>Fewer transmissions also relieve bandwidth and network congestion</a:t>
            </a:r>
            <a:endParaRPr lang="en-US" sz="16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Literature Review and Research Gap</a:t>
            </a:r>
            <a:endParaRPr lang="en-US" sz="3600" dirty="0"/>
          </a:p>
        </p:txBody>
      </p:sp>
      <p:sp>
        <p:nvSpPr>
          <p:cNvPr id="4" name="Literature stat card"/>
          <p:cNvSpPr/>
          <p:nvPr/>
        </p:nvSpPr>
        <p:spPr>
          <a:xfrm>
            <a:off x="548640" y="1371600"/>
            <a:ext cx="3383280" cy="4663440"/>
          </a:xfrm>
          <a:prstGeom prst="roundRect">
            <a:avLst>
              <a:gd name="adj" fmla="val 3243"/>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Paper count"/>
          <p:cNvSpPr txBox="1"/>
          <p:nvPr/>
        </p:nvSpPr>
        <p:spPr>
          <a:xfrm>
            <a:off x="914400" y="1554480"/>
            <a:ext cx="2651760" cy="1188720"/>
          </a:xfrm>
          <a:prstGeom prst="rect">
            <a:avLst/>
          </a:prstGeom>
          <a:noFill/>
          <a:ln/>
        </p:spPr>
        <p:txBody>
          <a:bodyPr wrap="square" lIns="0" tIns="0" rIns="0" bIns="0" rtlCol="0" anchor="ctr"/>
          <a:lstStyle/>
          <a:p>
            <a:pPr indent="0" marL="0">
              <a:buNone/>
            </a:pPr>
            <a:r>
              <a:rPr lang="en-US" sz="8000" b="1" dirty="0">
                <a:solidFill>
                  <a:schemeClr val="accent1"/>
                </a:solidFill>
              </a:rPr>
              <a:t>23</a:t>
            </a:r>
            <a:endParaRPr lang="en-US" sz="8000" dirty="0"/>
          </a:p>
        </p:txBody>
      </p:sp>
      <p:sp>
        <p:nvSpPr>
          <p:cNvPr id="6" name="Paper count caption"/>
          <p:cNvSpPr txBox="1"/>
          <p:nvPr/>
        </p:nvSpPr>
        <p:spPr>
          <a:xfrm>
            <a:off x="914400" y="2743200"/>
            <a:ext cx="2651760" cy="640080"/>
          </a:xfrm>
          <a:prstGeom prst="rect">
            <a:avLst/>
          </a:prstGeom>
          <a:noFill/>
          <a:ln/>
        </p:spPr>
        <p:txBody>
          <a:bodyPr wrap="square" lIns="0" tIns="0" rIns="0" bIns="0" rtlCol="0" anchor="t"/>
          <a:lstStyle/>
          <a:p>
            <a:pPr indent="0" marL="0">
              <a:buNone/>
            </a:pPr>
            <a:r>
              <a:rPr lang="en-US" sz="1700" dirty="0">
                <a:solidFill>
                  <a:schemeClr val="tx1"/>
                </a:solidFill>
              </a:rPr>
              <a:t>papers reviewed across 5 themes</a:t>
            </a:r>
            <a:endParaRPr lang="en-US" sz="1700" dirty="0"/>
          </a:p>
        </p:txBody>
      </p:sp>
      <p:sp>
        <p:nvSpPr>
          <p:cNvPr id="7" name="Theme list"/>
          <p:cNvSpPr txBox="1"/>
          <p:nvPr/>
        </p:nvSpPr>
        <p:spPr>
          <a:xfrm>
            <a:off x="914400" y="3520440"/>
            <a:ext cx="2788920" cy="2331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Classical adaptive sampling</a:t>
            </a:r>
            <a:endParaRPr lang="en-US" sz="1500" dirty="0"/>
          </a:p>
          <a:p>
            <a:pPr marL="342900" indent="-342900">
              <a:spcAft>
                <a:spcPts val="600"/>
              </a:spcAft>
              <a:buSzPct val="100000"/>
              <a:buChar char="•"/>
            </a:pPr>
            <a:r>
              <a:rPr lang="en-US" sz="1500" dirty="0">
                <a:solidFill>
                  <a:schemeClr val="tx1"/>
                </a:solidFill>
              </a:rPr>
              <a:t>Predictive and event-driven triggers</a:t>
            </a:r>
            <a:endParaRPr lang="en-US" sz="1500" dirty="0"/>
          </a:p>
          <a:p>
            <a:pPr marL="342900" indent="-342900">
              <a:spcAft>
                <a:spcPts val="600"/>
              </a:spcAft>
              <a:buSzPct val="100000"/>
              <a:buChar char="•"/>
            </a:pPr>
            <a:r>
              <a:rPr lang="en-US" sz="1500" dirty="0">
                <a:solidFill>
                  <a:schemeClr val="tx1"/>
                </a:solidFill>
              </a:rPr>
              <a:t>Energy-harvesting duty-cycling</a:t>
            </a:r>
            <a:endParaRPr lang="en-US" sz="1500" dirty="0"/>
          </a:p>
          <a:p>
            <a:pPr marL="342900" indent="-342900">
              <a:spcAft>
                <a:spcPts val="600"/>
              </a:spcAft>
              <a:buSzPct val="100000"/>
              <a:buChar char="•"/>
            </a:pPr>
            <a:r>
              <a:rPr lang="en-US" sz="1500" dirty="0">
                <a:solidFill>
                  <a:schemeClr val="tx1"/>
                </a:solidFill>
              </a:rPr>
              <a:t>Edge-AI and TinyML inference</a:t>
            </a:r>
            <a:endParaRPr lang="en-US" sz="1500" dirty="0"/>
          </a:p>
          <a:p>
            <a:pPr marL="342900" indent="-342900">
              <a:spcAft>
                <a:spcPts val="600"/>
              </a:spcAft>
              <a:buSzPct val="100000"/>
              <a:buChar char="•"/>
            </a:pPr>
            <a:r>
              <a:rPr lang="en-US" sz="1500" dirty="0">
                <a:solidFill>
                  <a:schemeClr val="tx1"/>
                </a:solidFill>
              </a:rPr>
              <a:t>LoRaWAN adaptive data rate</a:t>
            </a:r>
            <a:endParaRPr lang="en-US" sz="1500" dirty="0"/>
          </a:p>
        </p:txBody>
      </p:sp>
      <p:sp>
        <p:nvSpPr>
          <p:cNvPr id="8" name="Gap card 1"/>
          <p:cNvSpPr/>
          <p:nvPr/>
        </p:nvSpPr>
        <p:spPr>
          <a:xfrm>
            <a:off x="4206240" y="1371600"/>
            <a:ext cx="7436815" cy="1432560"/>
          </a:xfrm>
          <a:prstGeom prst="roundRect">
            <a:avLst>
              <a:gd name="adj" fmla="val 766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9" name="Gap number 1"/>
          <p:cNvSpPr txBox="1"/>
          <p:nvPr/>
        </p:nvSpPr>
        <p:spPr>
          <a:xfrm>
            <a:off x="4526280" y="1758696"/>
            <a:ext cx="658368" cy="658368"/>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10" name="Gap 1 text"/>
          <p:cNvSpPr txBox="1"/>
          <p:nvPr/>
        </p:nvSpPr>
        <p:spPr>
          <a:xfrm>
            <a:off x="5486400" y="1508760"/>
            <a:ext cx="5836615" cy="1158240"/>
          </a:xfrm>
          <a:prstGeom prst="rect">
            <a:avLst/>
          </a:prstGeom>
          <a:noFill/>
          <a:ln/>
        </p:spPr>
        <p:txBody>
          <a:bodyPr wrap="square" lIns="0" tIns="0" rIns="0" bIns="0" rtlCol="0" anchor="ctr"/>
          <a:lstStyle/>
          <a:p>
            <a:pPr indent="0" marL="0">
              <a:buNone/>
            </a:pPr>
            <a:r>
              <a:rPr lang="en-US" sz="2100" dirty="0">
                <a:solidFill>
                  <a:schemeClr val="tx1"/>
                </a:solidFill>
              </a:rPr>
              <a:t>Most adaptive schemes are reactive, not predictive</a:t>
            </a:r>
            <a:endParaRPr lang="en-US" sz="2100" dirty="0"/>
          </a:p>
        </p:txBody>
      </p:sp>
      <p:sp>
        <p:nvSpPr>
          <p:cNvPr id="11" name="Gap card 2"/>
          <p:cNvSpPr/>
          <p:nvPr/>
        </p:nvSpPr>
        <p:spPr>
          <a:xfrm>
            <a:off x="4206240" y="2987040"/>
            <a:ext cx="7436815" cy="1432560"/>
          </a:xfrm>
          <a:prstGeom prst="roundRect">
            <a:avLst>
              <a:gd name="adj" fmla="val 766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2" name="Gap number 2"/>
          <p:cNvSpPr txBox="1"/>
          <p:nvPr/>
        </p:nvSpPr>
        <p:spPr>
          <a:xfrm>
            <a:off x="4526280" y="3374136"/>
            <a:ext cx="658368" cy="658368"/>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3" name="Gap 2 text"/>
          <p:cNvSpPr txBox="1"/>
          <p:nvPr/>
        </p:nvSpPr>
        <p:spPr>
          <a:xfrm>
            <a:off x="5486400" y="3124200"/>
            <a:ext cx="5836615" cy="1158240"/>
          </a:xfrm>
          <a:prstGeom prst="rect">
            <a:avLst/>
          </a:prstGeom>
          <a:noFill/>
          <a:ln/>
        </p:spPr>
        <p:txBody>
          <a:bodyPr wrap="square" lIns="0" tIns="0" rIns="0" bIns="0" rtlCol="0" anchor="ctr"/>
          <a:lstStyle/>
          <a:p>
            <a:pPr indent="0" marL="0">
              <a:buNone/>
            </a:pPr>
            <a:r>
              <a:rPr lang="en-US" sz="2100" dirty="0">
                <a:solidFill>
                  <a:schemeClr val="tx1"/>
                </a:solidFill>
              </a:rPr>
              <a:t>Results are reported at a single operating point, not a full trade-off curve</a:t>
            </a:r>
            <a:endParaRPr lang="en-US" sz="2100" dirty="0"/>
          </a:p>
        </p:txBody>
      </p:sp>
      <p:sp>
        <p:nvSpPr>
          <p:cNvPr id="14" name="Gap card 3"/>
          <p:cNvSpPr/>
          <p:nvPr/>
        </p:nvSpPr>
        <p:spPr>
          <a:xfrm>
            <a:off x="4206240" y="4602480"/>
            <a:ext cx="7436815" cy="1432560"/>
          </a:xfrm>
          <a:prstGeom prst="roundRect">
            <a:avLst>
              <a:gd name="adj" fmla="val 766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5" name="Gap number 3"/>
          <p:cNvSpPr txBox="1"/>
          <p:nvPr/>
        </p:nvSpPr>
        <p:spPr>
          <a:xfrm>
            <a:off x="4526280" y="4989576"/>
            <a:ext cx="658368" cy="658368"/>
          </a:xfrm>
          <a:prstGeom prst="ellipse">
            <a:avLst/>
          </a:prstGeom>
          <a:solidFill>
            <a:schemeClr val="accent1"/>
          </a:solid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6" name="Gap 3 text"/>
          <p:cNvSpPr txBox="1"/>
          <p:nvPr/>
        </p:nvSpPr>
        <p:spPr>
          <a:xfrm>
            <a:off x="5486400" y="4739640"/>
            <a:ext cx="5836615" cy="1158240"/>
          </a:xfrm>
          <a:prstGeom prst="rect">
            <a:avLst/>
          </a:prstGeom>
          <a:noFill/>
          <a:ln/>
        </p:spPr>
        <p:txBody>
          <a:bodyPr wrap="square" lIns="0" tIns="0" rIns="0" bIns="0" rtlCol="0" anchor="ctr"/>
          <a:lstStyle/>
          <a:p>
            <a:pPr indent="0" marL="0">
              <a:buNone/>
            </a:pPr>
            <a:r>
              <a:rPr lang="en-US" sz="2100" dirty="0">
                <a:solidFill>
                  <a:schemeClr val="tx1"/>
                </a:solidFill>
              </a:rPr>
              <a:t>Few studies pair a predictive trigger with real hardware and full multi-metric results</a:t>
            </a:r>
            <a:endParaRPr lang="en-US" sz="21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Research Question and Objectives</a:t>
            </a:r>
            <a:endParaRPr lang="en-US" sz="3600" dirty="0"/>
          </a:p>
        </p:txBody>
      </p:sp>
      <p:sp>
        <p:nvSpPr>
          <p:cNvPr id="4" name="Research question card"/>
          <p:cNvSpPr/>
          <p:nvPr/>
        </p:nvSpPr>
        <p:spPr>
          <a:xfrm>
            <a:off x="548640" y="1371600"/>
            <a:ext cx="11094415"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Research question circle"/>
          <p:cNvSpPr/>
          <p:nvPr/>
        </p:nvSpPr>
        <p:spPr>
          <a:xfrm>
            <a:off x="914400" y="1645920"/>
            <a:ext cx="822960" cy="822960"/>
          </a:xfrm>
          <a:prstGeom prst="ellipse">
            <a:avLst/>
          </a:prstGeom>
          <a:solidFill>
            <a:schemeClr val="accent1"/>
          </a:solidFill>
          <a:ln/>
        </p:spPr>
      </p:sp>
      <p:pic>
        <p:nvPicPr>
          <p:cNvPr id="6" name="Image 0" descr="Research question icon">    </p:cNvPr>
          <p:cNvPicPr>
            <a:picLocks noChangeAspect="1"/>
          </p:cNvPicPr>
          <p:nvPr/>
        </p:nvPicPr>
        <p:blipFill>
          <a:blip r:embed="rId1"/>
          <a:stretch>
            <a:fillRect/>
          </a:stretch>
        </p:blipFill>
        <p:spPr>
          <a:xfrm>
            <a:off x="1120140" y="1851660"/>
            <a:ext cx="411480" cy="411480"/>
          </a:xfrm>
          <a:prstGeom prst="rect">
            <a:avLst/>
          </a:prstGeom>
        </p:spPr>
      </p:pic>
      <p:sp>
        <p:nvSpPr>
          <p:cNvPr id="7" name="Research question"/>
          <p:cNvSpPr txBox="1"/>
          <p:nvPr/>
        </p:nvSpPr>
        <p:spPr>
          <a:xfrm>
            <a:off x="2057400" y="1508760"/>
            <a:ext cx="9174175" cy="1097280"/>
          </a:xfrm>
          <a:prstGeom prst="rect">
            <a:avLst/>
          </a:prstGeom>
          <a:noFill/>
          <a:ln/>
        </p:spPr>
        <p:txBody>
          <a:bodyPr wrap="square" lIns="0" tIns="0" rIns="0" bIns="0" rtlCol="0" anchor="ctr"/>
          <a:lstStyle/>
          <a:p>
            <a:pPr indent="0" marL="0">
              <a:buNone/>
            </a:pPr>
            <a:r>
              <a:rPr lang="en-US" sz="2200" b="1" dirty="0">
                <a:solidFill>
                  <a:schemeClr val="tx2"/>
                </a:solidFill>
              </a:rPr>
              <a:t>Can a lightweight predictive trigger beat threshold-based sampling on energy and data volume without hurting accuracy or latency?</a:t>
            </a:r>
            <a:endParaRPr lang="en-US" sz="2200" dirty="0"/>
          </a:p>
        </p:txBody>
      </p:sp>
      <p:sp>
        <p:nvSpPr>
          <p:cNvPr id="8" name="Objective row 1"/>
          <p:cNvSpPr/>
          <p:nvPr/>
        </p:nvSpPr>
        <p:spPr>
          <a:xfrm>
            <a:off x="548640" y="2926080"/>
            <a:ext cx="11094415" cy="530352"/>
          </a:xfrm>
          <a:prstGeom prst="roundRect">
            <a:avLst>
              <a:gd name="adj" fmla="val 50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9" name="Objective number 1"/>
          <p:cNvSpPr txBox="1"/>
          <p:nvPr/>
        </p:nvSpPr>
        <p:spPr>
          <a:xfrm>
            <a:off x="685800" y="2990088"/>
            <a:ext cx="402336" cy="40233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Objective 1 text"/>
          <p:cNvSpPr txBox="1"/>
          <p:nvPr/>
        </p:nvSpPr>
        <p:spPr>
          <a:xfrm>
            <a:off x="1325880" y="2926080"/>
            <a:ext cx="9997135" cy="530352"/>
          </a:xfrm>
          <a:prstGeom prst="rect">
            <a:avLst/>
          </a:prstGeom>
          <a:noFill/>
          <a:ln/>
        </p:spPr>
        <p:txBody>
          <a:bodyPr wrap="square" lIns="0" tIns="0" rIns="0" bIns="0" rtlCol="0" anchor="ctr"/>
          <a:lstStyle/>
          <a:p>
            <a:pPr indent="0" marL="0">
              <a:buNone/>
            </a:pPr>
            <a:r>
              <a:rPr lang="en-US" sz="1800" dirty="0">
                <a:solidFill>
                  <a:schemeClr val="tx1"/>
                </a:solidFill>
              </a:rPr>
              <a:t>Build an adaptive edge sensing node</a:t>
            </a:r>
            <a:endParaRPr lang="en-US" sz="1800" dirty="0"/>
          </a:p>
        </p:txBody>
      </p:sp>
      <p:sp>
        <p:nvSpPr>
          <p:cNvPr id="11" name="Objective row 2"/>
          <p:cNvSpPr/>
          <p:nvPr/>
        </p:nvSpPr>
        <p:spPr>
          <a:xfrm>
            <a:off x="548640" y="3566160"/>
            <a:ext cx="11094415" cy="530352"/>
          </a:xfrm>
          <a:prstGeom prst="roundRect">
            <a:avLst>
              <a:gd name="adj" fmla="val 50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2" name="Objective number 2"/>
          <p:cNvSpPr txBox="1"/>
          <p:nvPr/>
        </p:nvSpPr>
        <p:spPr>
          <a:xfrm>
            <a:off x="685800" y="3630168"/>
            <a:ext cx="402336" cy="40233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Objective 2 text"/>
          <p:cNvSpPr txBox="1"/>
          <p:nvPr/>
        </p:nvSpPr>
        <p:spPr>
          <a:xfrm>
            <a:off x="1325880" y="3566160"/>
            <a:ext cx="9997135" cy="530352"/>
          </a:xfrm>
          <a:prstGeom prst="rect">
            <a:avLst/>
          </a:prstGeom>
          <a:noFill/>
          <a:ln/>
        </p:spPr>
        <p:txBody>
          <a:bodyPr wrap="square" lIns="0" tIns="0" rIns="0" bIns="0" rtlCol="0" anchor="ctr"/>
          <a:lstStyle/>
          <a:p>
            <a:pPr indent="0" marL="0">
              <a:buNone/>
            </a:pPr>
            <a:r>
              <a:rPr lang="en-US" sz="1800" dirty="0">
                <a:solidFill>
                  <a:schemeClr val="tx1"/>
                </a:solidFill>
              </a:rPr>
              <a:t>Implement three sensing policies</a:t>
            </a:r>
            <a:endParaRPr lang="en-US" sz="1800" dirty="0"/>
          </a:p>
        </p:txBody>
      </p:sp>
      <p:sp>
        <p:nvSpPr>
          <p:cNvPr id="14" name="Objective row 3"/>
          <p:cNvSpPr/>
          <p:nvPr/>
        </p:nvSpPr>
        <p:spPr>
          <a:xfrm>
            <a:off x="548640" y="4206240"/>
            <a:ext cx="11094415" cy="530352"/>
          </a:xfrm>
          <a:prstGeom prst="roundRect">
            <a:avLst>
              <a:gd name="adj" fmla="val 50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5" name="Objective number 3"/>
          <p:cNvSpPr txBox="1"/>
          <p:nvPr/>
        </p:nvSpPr>
        <p:spPr>
          <a:xfrm>
            <a:off x="685800" y="4270248"/>
            <a:ext cx="402336" cy="40233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Objective 3 text"/>
          <p:cNvSpPr txBox="1"/>
          <p:nvPr/>
        </p:nvSpPr>
        <p:spPr>
          <a:xfrm>
            <a:off x="1325880" y="4206240"/>
            <a:ext cx="9997135" cy="530352"/>
          </a:xfrm>
          <a:prstGeom prst="rect">
            <a:avLst/>
          </a:prstGeom>
          <a:noFill/>
          <a:ln/>
        </p:spPr>
        <p:txBody>
          <a:bodyPr wrap="square" lIns="0" tIns="0" rIns="0" bIns="0" rtlCol="0" anchor="ctr"/>
          <a:lstStyle/>
          <a:p>
            <a:pPr indent="0" marL="0">
              <a:buNone/>
            </a:pPr>
            <a:r>
              <a:rPr lang="en-US" sz="1800" dirty="0">
                <a:solidFill>
                  <a:schemeClr val="tx1"/>
                </a:solidFill>
              </a:rPr>
              <a:t>Collect real data with induced events</a:t>
            </a:r>
            <a:endParaRPr lang="en-US" sz="1800" dirty="0"/>
          </a:p>
        </p:txBody>
      </p:sp>
      <p:sp>
        <p:nvSpPr>
          <p:cNvPr id="17" name="Objective row 4"/>
          <p:cNvSpPr/>
          <p:nvPr/>
        </p:nvSpPr>
        <p:spPr>
          <a:xfrm>
            <a:off x="548640" y="4846320"/>
            <a:ext cx="11094415" cy="530352"/>
          </a:xfrm>
          <a:prstGeom prst="roundRect">
            <a:avLst>
              <a:gd name="adj" fmla="val 50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8" name="Objective number 4"/>
          <p:cNvSpPr txBox="1"/>
          <p:nvPr/>
        </p:nvSpPr>
        <p:spPr>
          <a:xfrm>
            <a:off x="685800" y="4910328"/>
            <a:ext cx="402336" cy="40233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Objective 4 text"/>
          <p:cNvSpPr txBox="1"/>
          <p:nvPr/>
        </p:nvSpPr>
        <p:spPr>
          <a:xfrm>
            <a:off x="1325880" y="4846320"/>
            <a:ext cx="9997135" cy="530352"/>
          </a:xfrm>
          <a:prstGeom prst="rect">
            <a:avLst/>
          </a:prstGeom>
          <a:noFill/>
          <a:ln/>
        </p:spPr>
        <p:txBody>
          <a:bodyPr wrap="square" lIns="0" tIns="0" rIns="0" bIns="0" rtlCol="0" anchor="ctr"/>
          <a:lstStyle/>
          <a:p>
            <a:pPr indent="0" marL="0">
              <a:buNone/>
            </a:pPr>
            <a:r>
              <a:rPr lang="en-US" sz="1800" dirty="0">
                <a:solidFill>
                  <a:schemeClr val="tx1"/>
                </a:solidFill>
              </a:rPr>
              <a:t>Compare energy, data volume, accuracy and latency</a:t>
            </a:r>
            <a:endParaRPr lang="en-US" sz="1800" dirty="0"/>
          </a:p>
        </p:txBody>
      </p:sp>
      <p:sp>
        <p:nvSpPr>
          <p:cNvPr id="20" name="Objective row 5"/>
          <p:cNvSpPr/>
          <p:nvPr/>
        </p:nvSpPr>
        <p:spPr>
          <a:xfrm>
            <a:off x="548640" y="5486400"/>
            <a:ext cx="11094415" cy="530352"/>
          </a:xfrm>
          <a:prstGeom prst="roundRect">
            <a:avLst>
              <a:gd name="adj" fmla="val 50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21" name="Objective number 5"/>
          <p:cNvSpPr txBox="1"/>
          <p:nvPr/>
        </p:nvSpPr>
        <p:spPr>
          <a:xfrm>
            <a:off x="685800" y="5550408"/>
            <a:ext cx="402336" cy="402336"/>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Objective 5 text"/>
          <p:cNvSpPr txBox="1"/>
          <p:nvPr/>
        </p:nvSpPr>
        <p:spPr>
          <a:xfrm>
            <a:off x="1325880" y="5486400"/>
            <a:ext cx="9997135" cy="530352"/>
          </a:xfrm>
          <a:prstGeom prst="rect">
            <a:avLst/>
          </a:prstGeom>
          <a:noFill/>
          <a:ln/>
        </p:spPr>
        <p:txBody>
          <a:bodyPr wrap="square" lIns="0" tIns="0" rIns="0" bIns="0" rtlCol="0" anchor="ctr"/>
          <a:lstStyle/>
          <a:p>
            <a:pPr indent="0" marL="0">
              <a:buNone/>
            </a:pPr>
            <a:r>
              <a:rPr lang="en-US" sz="1800" dirty="0">
                <a:solidFill>
                  <a:schemeClr val="tx1"/>
                </a:solidFill>
              </a:rPr>
              <a:t>Plot the full accuracy-vs-energy trade-off curve</a:t>
            </a:r>
            <a:endParaRPr lang="en-US" sz="18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Proposed Method: Three Sensing Policies</a:t>
            </a:r>
            <a:endParaRPr lang="en-US" sz="3600" dirty="0"/>
          </a:p>
        </p:txBody>
      </p:sp>
      <p:sp>
        <p:nvSpPr>
          <p:cNvPr id="4" name="Fixed-rate card"/>
          <p:cNvSpPr/>
          <p:nvPr/>
        </p:nvSpPr>
        <p:spPr>
          <a:xfrm>
            <a:off x="548640" y="1325880"/>
            <a:ext cx="3566160" cy="4709160"/>
          </a:xfrm>
          <a:prstGeom prst="roundRect">
            <a:avLst>
              <a:gd name="adj" fmla="val 3077"/>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Fixed-rate circle"/>
          <p:cNvSpPr/>
          <p:nvPr/>
        </p:nvSpPr>
        <p:spPr>
          <a:xfrm>
            <a:off x="822960" y="1554480"/>
            <a:ext cx="566928" cy="566928"/>
          </a:xfrm>
          <a:prstGeom prst="ellipse">
            <a:avLst/>
          </a:prstGeom>
          <a:solidFill>
            <a:schemeClr val="accent4"/>
          </a:solidFill>
          <a:ln/>
        </p:spPr>
      </p:sp>
      <p:pic>
        <p:nvPicPr>
          <p:cNvPr id="6" name="Image 0" descr="Fixed-rate icon">    </p:cNvPr>
          <p:cNvPicPr>
            <a:picLocks noChangeAspect="1"/>
          </p:cNvPicPr>
          <p:nvPr/>
        </p:nvPicPr>
        <p:blipFill>
          <a:blip r:embed="rId1"/>
          <a:stretch>
            <a:fillRect/>
          </a:stretch>
        </p:blipFill>
        <p:spPr>
          <a:xfrm>
            <a:off x="964692" y="1696212"/>
            <a:ext cx="283464" cy="283464"/>
          </a:xfrm>
          <a:prstGeom prst="rect">
            <a:avLst/>
          </a:prstGeom>
        </p:spPr>
      </p:pic>
      <p:sp>
        <p:nvSpPr>
          <p:cNvPr id="7" name="Fixed-rate tag"/>
          <p:cNvSpPr txBox="1"/>
          <p:nvPr/>
        </p:nvSpPr>
        <p:spPr>
          <a:xfrm>
            <a:off x="1554480" y="1709928"/>
            <a:ext cx="1051560" cy="310896"/>
          </a:xfrm>
          <a:prstGeom prst="roundRect">
            <a:avLst>
              <a:gd name="adj" fmla="val 50000"/>
            </a:avLst>
          </a:prstGeom>
          <a:solidFill>
            <a:srgbClr val="E6ECEF"/>
          </a:solidFill>
          <a:ln/>
        </p:spPr>
        <p:txBody>
          <a:bodyPr wrap="square" lIns="0" tIns="0" rIns="0" bIns="0" rtlCol="0" anchor="ctr"/>
          <a:lstStyle/>
          <a:p>
            <a:pPr algn="ctr" indent="0" marL="0">
              <a:buNone/>
            </a:pPr>
            <a:r>
              <a:rPr lang="en-US" sz="1200" b="1" dirty="0">
                <a:solidFill>
                  <a:schemeClr val="tx1"/>
                </a:solidFill>
              </a:rPr>
              <a:t>Baseline</a:t>
            </a:r>
            <a:endParaRPr lang="en-US" sz="1200" dirty="0"/>
          </a:p>
        </p:txBody>
      </p:sp>
      <p:sp>
        <p:nvSpPr>
          <p:cNvPr id="8" name="Fixed-rate title"/>
          <p:cNvSpPr txBox="1"/>
          <p:nvPr/>
        </p:nvSpPr>
        <p:spPr>
          <a:xfrm>
            <a:off x="822960" y="228600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Fixed-rate</a:t>
            </a:r>
            <a:endParaRPr lang="en-US" sz="2200" dirty="0"/>
          </a:p>
        </p:txBody>
      </p:sp>
      <p:sp>
        <p:nvSpPr>
          <p:cNvPr id="9" name="Fixed-rate description"/>
          <p:cNvSpPr txBox="1"/>
          <p:nvPr/>
        </p:nvSpPr>
        <p:spPr>
          <a:xfrm>
            <a:off x="822960"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Constant sampling interval</a:t>
            </a:r>
            <a:endParaRPr lang="en-US" sz="1500" dirty="0"/>
          </a:p>
        </p:txBody>
      </p:sp>
      <p:sp>
        <p:nvSpPr>
          <p:cNvPr id="10" name="Fixed-rate timeline caption"/>
          <p:cNvSpPr txBox="1"/>
          <p:nvPr/>
        </p:nvSpPr>
        <p:spPr>
          <a:xfrm>
            <a:off x="822960" y="3758184"/>
            <a:ext cx="3017520" cy="237744"/>
          </a:xfrm>
          <a:prstGeom prst="rect">
            <a:avLst/>
          </a:prstGeom>
          <a:noFill/>
          <a:ln/>
        </p:spPr>
        <p:txBody>
          <a:bodyPr wrap="square" lIns="0" tIns="0" rIns="0" bIns="0" rtlCol="0" anchor="ctr"/>
          <a:lstStyle/>
          <a:p>
            <a:pPr indent="0" marL="0">
              <a:buNone/>
            </a:pPr>
            <a:r>
              <a:rPr lang="en-US" sz="1100" dirty="0">
                <a:solidFill>
                  <a:srgbClr val="5F727C"/>
                </a:solidFill>
              </a:rPr>
              <a:t>Sampling instants, simulated 20 s trace</a:t>
            </a:r>
            <a:endParaRPr lang="en-US" sz="1100" dirty="0"/>
          </a:p>
        </p:txBody>
      </p:sp>
      <p:sp>
        <p:nvSpPr>
          <p:cNvPr id="11" name="Fixed-rate timeline"/>
          <p:cNvSpPr/>
          <p:nvPr/>
        </p:nvSpPr>
        <p:spPr>
          <a:xfrm>
            <a:off x="822960" y="4069080"/>
            <a:ext cx="3017520" cy="502920"/>
          </a:xfrm>
          <a:prstGeom prst="roundRect">
            <a:avLst>
              <a:gd name="adj" fmla="val 9091"/>
            </a:avLst>
          </a:prstGeom>
          <a:solidFill>
            <a:schemeClr val="bg2"/>
          </a:solidFill>
          <a:ln/>
        </p:spPr>
      </p:sp>
      <p:sp>
        <p:nvSpPr>
          <p:cNvPr id="12" name="Fixed-rate event window"/>
          <p:cNvSpPr/>
          <p:nvPr/>
        </p:nvSpPr>
        <p:spPr>
          <a:xfrm>
            <a:off x="2331720" y="4069080"/>
            <a:ext cx="452628" cy="502920"/>
          </a:xfrm>
          <a:prstGeom prst="rect">
            <a:avLst/>
          </a:prstGeom>
          <a:solidFill>
            <a:srgbClr val="F5C97B">
              <a:alpha val="55000"/>
            </a:srgbClr>
          </a:solidFill>
          <a:ln/>
        </p:spPr>
      </p:sp>
      <p:sp>
        <p:nvSpPr>
          <p:cNvPr id="13" name="Fixed-rate sample 1"/>
          <p:cNvSpPr/>
          <p:nvPr/>
        </p:nvSpPr>
        <p:spPr>
          <a:xfrm>
            <a:off x="817474" y="4142232"/>
            <a:ext cx="10973" cy="356616"/>
          </a:xfrm>
          <a:prstGeom prst="rect">
            <a:avLst/>
          </a:prstGeom>
          <a:solidFill>
            <a:schemeClr val="accent4"/>
          </a:solidFill>
          <a:ln/>
        </p:spPr>
      </p:sp>
      <p:sp>
        <p:nvSpPr>
          <p:cNvPr id="14" name="Fixed-rate sample 2"/>
          <p:cNvSpPr/>
          <p:nvPr/>
        </p:nvSpPr>
        <p:spPr>
          <a:xfrm>
            <a:off x="968350" y="4142232"/>
            <a:ext cx="10973" cy="356616"/>
          </a:xfrm>
          <a:prstGeom prst="rect">
            <a:avLst/>
          </a:prstGeom>
          <a:solidFill>
            <a:schemeClr val="accent4"/>
          </a:solidFill>
          <a:ln/>
        </p:spPr>
      </p:sp>
      <p:sp>
        <p:nvSpPr>
          <p:cNvPr id="15" name="Fixed-rate sample 3"/>
          <p:cNvSpPr/>
          <p:nvPr/>
        </p:nvSpPr>
        <p:spPr>
          <a:xfrm>
            <a:off x="1119226" y="4142232"/>
            <a:ext cx="10973" cy="356616"/>
          </a:xfrm>
          <a:prstGeom prst="rect">
            <a:avLst/>
          </a:prstGeom>
          <a:solidFill>
            <a:schemeClr val="accent4"/>
          </a:solidFill>
          <a:ln/>
        </p:spPr>
      </p:sp>
      <p:sp>
        <p:nvSpPr>
          <p:cNvPr id="16" name="Fixed-rate sample 4"/>
          <p:cNvSpPr/>
          <p:nvPr/>
        </p:nvSpPr>
        <p:spPr>
          <a:xfrm>
            <a:off x="1270102" y="4142232"/>
            <a:ext cx="10973" cy="356616"/>
          </a:xfrm>
          <a:prstGeom prst="rect">
            <a:avLst/>
          </a:prstGeom>
          <a:solidFill>
            <a:schemeClr val="accent4"/>
          </a:solidFill>
          <a:ln/>
        </p:spPr>
      </p:sp>
      <p:sp>
        <p:nvSpPr>
          <p:cNvPr id="17" name="Fixed-rate sample 5"/>
          <p:cNvSpPr/>
          <p:nvPr/>
        </p:nvSpPr>
        <p:spPr>
          <a:xfrm>
            <a:off x="1420978" y="4142232"/>
            <a:ext cx="10973" cy="356616"/>
          </a:xfrm>
          <a:prstGeom prst="rect">
            <a:avLst/>
          </a:prstGeom>
          <a:solidFill>
            <a:schemeClr val="accent4"/>
          </a:solidFill>
          <a:ln/>
        </p:spPr>
      </p:sp>
      <p:sp>
        <p:nvSpPr>
          <p:cNvPr id="18" name="Fixed-rate sample 6"/>
          <p:cNvSpPr/>
          <p:nvPr/>
        </p:nvSpPr>
        <p:spPr>
          <a:xfrm>
            <a:off x="1571854" y="4142232"/>
            <a:ext cx="10973" cy="356616"/>
          </a:xfrm>
          <a:prstGeom prst="rect">
            <a:avLst/>
          </a:prstGeom>
          <a:solidFill>
            <a:schemeClr val="accent4"/>
          </a:solidFill>
          <a:ln/>
        </p:spPr>
      </p:sp>
      <p:sp>
        <p:nvSpPr>
          <p:cNvPr id="19" name="Fixed-rate sample 7"/>
          <p:cNvSpPr/>
          <p:nvPr/>
        </p:nvSpPr>
        <p:spPr>
          <a:xfrm>
            <a:off x="1722730" y="4142232"/>
            <a:ext cx="10973" cy="356616"/>
          </a:xfrm>
          <a:prstGeom prst="rect">
            <a:avLst/>
          </a:prstGeom>
          <a:solidFill>
            <a:schemeClr val="accent4"/>
          </a:solidFill>
          <a:ln/>
        </p:spPr>
      </p:sp>
      <p:sp>
        <p:nvSpPr>
          <p:cNvPr id="20" name="Fixed-rate sample 8"/>
          <p:cNvSpPr/>
          <p:nvPr/>
        </p:nvSpPr>
        <p:spPr>
          <a:xfrm>
            <a:off x="1873606" y="4142232"/>
            <a:ext cx="10973" cy="356616"/>
          </a:xfrm>
          <a:prstGeom prst="rect">
            <a:avLst/>
          </a:prstGeom>
          <a:solidFill>
            <a:schemeClr val="accent4"/>
          </a:solidFill>
          <a:ln/>
        </p:spPr>
      </p:sp>
      <p:sp>
        <p:nvSpPr>
          <p:cNvPr id="21" name="Fixed-rate sample 9"/>
          <p:cNvSpPr/>
          <p:nvPr/>
        </p:nvSpPr>
        <p:spPr>
          <a:xfrm>
            <a:off x="2024482" y="4142232"/>
            <a:ext cx="10973" cy="356616"/>
          </a:xfrm>
          <a:prstGeom prst="rect">
            <a:avLst/>
          </a:prstGeom>
          <a:solidFill>
            <a:schemeClr val="accent4"/>
          </a:solidFill>
          <a:ln/>
        </p:spPr>
      </p:sp>
      <p:sp>
        <p:nvSpPr>
          <p:cNvPr id="22" name="Fixed-rate sample 10"/>
          <p:cNvSpPr/>
          <p:nvPr/>
        </p:nvSpPr>
        <p:spPr>
          <a:xfrm>
            <a:off x="2175358" y="4142232"/>
            <a:ext cx="10973" cy="356616"/>
          </a:xfrm>
          <a:prstGeom prst="rect">
            <a:avLst/>
          </a:prstGeom>
          <a:solidFill>
            <a:schemeClr val="accent4"/>
          </a:solidFill>
          <a:ln/>
        </p:spPr>
      </p:sp>
      <p:sp>
        <p:nvSpPr>
          <p:cNvPr id="23" name="Fixed-rate sample 11"/>
          <p:cNvSpPr/>
          <p:nvPr/>
        </p:nvSpPr>
        <p:spPr>
          <a:xfrm>
            <a:off x="2326234" y="4142232"/>
            <a:ext cx="10973" cy="356616"/>
          </a:xfrm>
          <a:prstGeom prst="rect">
            <a:avLst/>
          </a:prstGeom>
          <a:solidFill>
            <a:schemeClr val="accent4"/>
          </a:solidFill>
          <a:ln/>
        </p:spPr>
      </p:sp>
      <p:sp>
        <p:nvSpPr>
          <p:cNvPr id="24" name="Fixed-rate sample 12"/>
          <p:cNvSpPr/>
          <p:nvPr/>
        </p:nvSpPr>
        <p:spPr>
          <a:xfrm>
            <a:off x="2477110" y="4142232"/>
            <a:ext cx="10973" cy="356616"/>
          </a:xfrm>
          <a:prstGeom prst="rect">
            <a:avLst/>
          </a:prstGeom>
          <a:solidFill>
            <a:schemeClr val="accent4"/>
          </a:solidFill>
          <a:ln/>
        </p:spPr>
      </p:sp>
      <p:sp>
        <p:nvSpPr>
          <p:cNvPr id="25" name="Fixed-rate sample 13"/>
          <p:cNvSpPr/>
          <p:nvPr/>
        </p:nvSpPr>
        <p:spPr>
          <a:xfrm>
            <a:off x="2627986" y="4142232"/>
            <a:ext cx="10973" cy="356616"/>
          </a:xfrm>
          <a:prstGeom prst="rect">
            <a:avLst/>
          </a:prstGeom>
          <a:solidFill>
            <a:schemeClr val="accent4"/>
          </a:solidFill>
          <a:ln/>
        </p:spPr>
      </p:sp>
      <p:sp>
        <p:nvSpPr>
          <p:cNvPr id="26" name="Fixed-rate sample 14"/>
          <p:cNvSpPr/>
          <p:nvPr/>
        </p:nvSpPr>
        <p:spPr>
          <a:xfrm>
            <a:off x="2778862" y="4142232"/>
            <a:ext cx="10973" cy="356616"/>
          </a:xfrm>
          <a:prstGeom prst="rect">
            <a:avLst/>
          </a:prstGeom>
          <a:solidFill>
            <a:schemeClr val="accent4"/>
          </a:solidFill>
          <a:ln/>
        </p:spPr>
      </p:sp>
      <p:sp>
        <p:nvSpPr>
          <p:cNvPr id="27" name="Fixed-rate sample 15"/>
          <p:cNvSpPr/>
          <p:nvPr/>
        </p:nvSpPr>
        <p:spPr>
          <a:xfrm>
            <a:off x="2929738" y="4142232"/>
            <a:ext cx="10973" cy="356616"/>
          </a:xfrm>
          <a:prstGeom prst="rect">
            <a:avLst/>
          </a:prstGeom>
          <a:solidFill>
            <a:schemeClr val="accent4"/>
          </a:solidFill>
          <a:ln/>
        </p:spPr>
      </p:sp>
      <p:sp>
        <p:nvSpPr>
          <p:cNvPr id="28" name="Fixed-rate sample 16"/>
          <p:cNvSpPr/>
          <p:nvPr/>
        </p:nvSpPr>
        <p:spPr>
          <a:xfrm>
            <a:off x="3080614" y="4142232"/>
            <a:ext cx="10973" cy="356616"/>
          </a:xfrm>
          <a:prstGeom prst="rect">
            <a:avLst/>
          </a:prstGeom>
          <a:solidFill>
            <a:schemeClr val="accent4"/>
          </a:solidFill>
          <a:ln/>
        </p:spPr>
      </p:sp>
      <p:sp>
        <p:nvSpPr>
          <p:cNvPr id="29" name="Fixed-rate sample 17"/>
          <p:cNvSpPr/>
          <p:nvPr/>
        </p:nvSpPr>
        <p:spPr>
          <a:xfrm>
            <a:off x="3231490" y="4142232"/>
            <a:ext cx="10973" cy="356616"/>
          </a:xfrm>
          <a:prstGeom prst="rect">
            <a:avLst/>
          </a:prstGeom>
          <a:solidFill>
            <a:schemeClr val="accent4"/>
          </a:solidFill>
          <a:ln/>
        </p:spPr>
      </p:sp>
      <p:sp>
        <p:nvSpPr>
          <p:cNvPr id="30" name="Fixed-rate sample 18"/>
          <p:cNvSpPr/>
          <p:nvPr/>
        </p:nvSpPr>
        <p:spPr>
          <a:xfrm>
            <a:off x="3382366" y="4142232"/>
            <a:ext cx="10973" cy="356616"/>
          </a:xfrm>
          <a:prstGeom prst="rect">
            <a:avLst/>
          </a:prstGeom>
          <a:solidFill>
            <a:schemeClr val="accent4"/>
          </a:solidFill>
          <a:ln/>
        </p:spPr>
      </p:sp>
      <p:sp>
        <p:nvSpPr>
          <p:cNvPr id="31" name="Fixed-rate sample 19"/>
          <p:cNvSpPr/>
          <p:nvPr/>
        </p:nvSpPr>
        <p:spPr>
          <a:xfrm>
            <a:off x="3533242" y="4142232"/>
            <a:ext cx="10973" cy="356616"/>
          </a:xfrm>
          <a:prstGeom prst="rect">
            <a:avLst/>
          </a:prstGeom>
          <a:solidFill>
            <a:schemeClr val="accent4"/>
          </a:solidFill>
          <a:ln/>
        </p:spPr>
      </p:sp>
      <p:sp>
        <p:nvSpPr>
          <p:cNvPr id="32" name="Fixed-rate sample 20"/>
          <p:cNvSpPr/>
          <p:nvPr/>
        </p:nvSpPr>
        <p:spPr>
          <a:xfrm>
            <a:off x="3684118" y="4142232"/>
            <a:ext cx="10973" cy="356616"/>
          </a:xfrm>
          <a:prstGeom prst="rect">
            <a:avLst/>
          </a:prstGeom>
          <a:solidFill>
            <a:schemeClr val="accent4"/>
          </a:solidFill>
          <a:ln/>
        </p:spPr>
      </p:sp>
      <p:sp>
        <p:nvSpPr>
          <p:cNvPr id="33" name="Fixed-rate axis 0 s"/>
          <p:cNvSpPr txBox="1"/>
          <p:nvPr/>
        </p:nvSpPr>
        <p:spPr>
          <a:xfrm>
            <a:off x="822960" y="4617720"/>
            <a:ext cx="548640" cy="201168"/>
          </a:xfrm>
          <a:prstGeom prst="rect">
            <a:avLst/>
          </a:prstGeom>
          <a:noFill/>
          <a:ln/>
        </p:spPr>
        <p:txBody>
          <a:bodyPr wrap="square" lIns="0" tIns="0" rIns="0" bIns="0" rtlCol="0" anchor="ctr"/>
          <a:lstStyle/>
          <a:p>
            <a:pPr algn="l" indent="0" marL="0">
              <a:buNone/>
            </a:pPr>
            <a:r>
              <a:rPr lang="en-US" sz="1000" dirty="0">
                <a:solidFill>
                  <a:srgbClr val="5F727C"/>
                </a:solidFill>
              </a:rPr>
              <a:t>0 s</a:t>
            </a:r>
            <a:endParaRPr lang="en-US" sz="1000" dirty="0"/>
          </a:p>
        </p:txBody>
      </p:sp>
      <p:sp>
        <p:nvSpPr>
          <p:cNvPr id="34" name="Fixed-rate axis 10 s"/>
          <p:cNvSpPr txBox="1"/>
          <p:nvPr/>
        </p:nvSpPr>
        <p:spPr>
          <a:xfrm>
            <a:off x="2057400" y="4617720"/>
            <a:ext cx="548640" cy="201168"/>
          </a:xfrm>
          <a:prstGeom prst="rect">
            <a:avLst/>
          </a:prstGeom>
          <a:noFill/>
          <a:ln/>
        </p:spPr>
        <p:txBody>
          <a:bodyPr wrap="square" lIns="0" tIns="0" rIns="0" bIns="0" rtlCol="0" anchor="ctr"/>
          <a:lstStyle/>
          <a:p>
            <a:pPr algn="ctr" indent="0" marL="0">
              <a:buNone/>
            </a:pPr>
            <a:r>
              <a:rPr lang="en-US" sz="1000" dirty="0">
                <a:solidFill>
                  <a:srgbClr val="5F727C"/>
                </a:solidFill>
              </a:rPr>
              <a:t>10 s</a:t>
            </a:r>
            <a:endParaRPr lang="en-US" sz="1000" dirty="0"/>
          </a:p>
        </p:txBody>
      </p:sp>
      <p:sp>
        <p:nvSpPr>
          <p:cNvPr id="35" name="Fixed-rate axis 20 s"/>
          <p:cNvSpPr txBox="1"/>
          <p:nvPr/>
        </p:nvSpPr>
        <p:spPr>
          <a:xfrm>
            <a:off x="3291840" y="4617720"/>
            <a:ext cx="548640" cy="201168"/>
          </a:xfrm>
          <a:prstGeom prst="rect">
            <a:avLst/>
          </a:prstGeom>
          <a:noFill/>
          <a:ln/>
        </p:spPr>
        <p:txBody>
          <a:bodyPr wrap="square" lIns="0" tIns="0" rIns="0" bIns="0" rtlCol="0" anchor="ctr"/>
          <a:lstStyle/>
          <a:p>
            <a:pPr algn="r" indent="0" marL="0">
              <a:buNone/>
            </a:pPr>
            <a:r>
              <a:rPr lang="en-US" sz="1000" dirty="0">
                <a:solidFill>
                  <a:srgbClr val="5F727C"/>
                </a:solidFill>
              </a:rPr>
              <a:t>20 s</a:t>
            </a:r>
            <a:endParaRPr lang="en-US" sz="1000" dirty="0"/>
          </a:p>
        </p:txBody>
      </p:sp>
      <p:sp>
        <p:nvSpPr>
          <p:cNvPr id="36" name="Fixed-rate sample count"/>
          <p:cNvSpPr txBox="1"/>
          <p:nvPr/>
        </p:nvSpPr>
        <p:spPr>
          <a:xfrm>
            <a:off x="822960" y="493776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20 samples</a:t>
            </a:r>
            <a:endParaRPr lang="en-US" sz="2200" dirty="0"/>
          </a:p>
        </p:txBody>
      </p:sp>
      <p:sp>
        <p:nvSpPr>
          <p:cNvPr id="37" name="Fixed-rate note"/>
          <p:cNvSpPr txBox="1"/>
          <p:nvPr/>
        </p:nvSpPr>
        <p:spPr>
          <a:xfrm>
            <a:off x="822960" y="5349240"/>
            <a:ext cx="3017520" cy="548640"/>
          </a:xfrm>
          <a:prstGeom prst="rect">
            <a:avLst/>
          </a:prstGeom>
          <a:noFill/>
          <a:ln/>
        </p:spPr>
        <p:txBody>
          <a:bodyPr wrap="square" lIns="0" tIns="0" rIns="0" bIns="0" rtlCol="0" anchor="t"/>
          <a:lstStyle/>
          <a:p>
            <a:pPr indent="0" marL="0">
              <a:buNone/>
            </a:pPr>
            <a:r>
              <a:rPr lang="en-US" sz="1300" dirty="0">
                <a:solidFill>
                  <a:srgbClr val="5F727C"/>
                </a:solidFill>
              </a:rPr>
              <a:t>No adaptation: same rate all the time</a:t>
            </a:r>
            <a:endParaRPr lang="en-US" sz="1300" dirty="0"/>
          </a:p>
        </p:txBody>
      </p:sp>
      <p:sp>
        <p:nvSpPr>
          <p:cNvPr id="38" name="Threshold-adaptive card"/>
          <p:cNvSpPr/>
          <p:nvPr/>
        </p:nvSpPr>
        <p:spPr>
          <a:xfrm>
            <a:off x="4312768" y="1325880"/>
            <a:ext cx="3566160" cy="4709160"/>
          </a:xfrm>
          <a:prstGeom prst="roundRect">
            <a:avLst>
              <a:gd name="adj" fmla="val 3077"/>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39" name="Threshold-adaptive circle"/>
          <p:cNvSpPr/>
          <p:nvPr/>
        </p:nvSpPr>
        <p:spPr>
          <a:xfrm>
            <a:off x="4587088" y="1554480"/>
            <a:ext cx="566928" cy="566928"/>
          </a:xfrm>
          <a:prstGeom prst="ellipse">
            <a:avLst/>
          </a:prstGeom>
          <a:solidFill>
            <a:schemeClr val="accent5"/>
          </a:solidFill>
          <a:ln/>
        </p:spPr>
      </p:sp>
      <p:pic>
        <p:nvPicPr>
          <p:cNvPr id="40" name="Image 1" descr="Threshold-adaptive icon">    </p:cNvPr>
          <p:cNvPicPr>
            <a:picLocks noChangeAspect="1"/>
          </p:cNvPicPr>
          <p:nvPr/>
        </p:nvPicPr>
        <p:blipFill>
          <a:blip r:embed="rId2"/>
          <a:stretch>
            <a:fillRect/>
          </a:stretch>
        </p:blipFill>
        <p:spPr>
          <a:xfrm>
            <a:off x="4728820" y="1696212"/>
            <a:ext cx="283464" cy="283464"/>
          </a:xfrm>
          <a:prstGeom prst="rect">
            <a:avLst/>
          </a:prstGeom>
        </p:spPr>
      </p:pic>
      <p:sp>
        <p:nvSpPr>
          <p:cNvPr id="41" name="Threshold-adaptive tag"/>
          <p:cNvSpPr txBox="1"/>
          <p:nvPr/>
        </p:nvSpPr>
        <p:spPr>
          <a:xfrm>
            <a:off x="5318608" y="1709928"/>
            <a:ext cx="1051560" cy="310896"/>
          </a:xfrm>
          <a:prstGeom prst="roundRect">
            <a:avLst>
              <a:gd name="adj" fmla="val 50000"/>
            </a:avLst>
          </a:prstGeom>
          <a:solidFill>
            <a:srgbClr val="E6ECEF"/>
          </a:solidFill>
          <a:ln/>
        </p:spPr>
        <p:txBody>
          <a:bodyPr wrap="square" lIns="0" tIns="0" rIns="0" bIns="0" rtlCol="0" anchor="ctr"/>
          <a:lstStyle/>
          <a:p>
            <a:pPr algn="ctr" indent="0" marL="0">
              <a:buNone/>
            </a:pPr>
            <a:r>
              <a:rPr lang="en-US" sz="1200" b="1" dirty="0">
                <a:solidFill>
                  <a:schemeClr val="tx1"/>
                </a:solidFill>
              </a:rPr>
              <a:t>Baseline</a:t>
            </a:r>
            <a:endParaRPr lang="en-US" sz="1200" dirty="0"/>
          </a:p>
        </p:txBody>
      </p:sp>
      <p:sp>
        <p:nvSpPr>
          <p:cNvPr id="42" name="Threshold-adaptive title"/>
          <p:cNvSpPr txBox="1"/>
          <p:nvPr/>
        </p:nvSpPr>
        <p:spPr>
          <a:xfrm>
            <a:off x="4587088" y="228600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Threshold-adaptive</a:t>
            </a:r>
            <a:endParaRPr lang="en-US" sz="2200" dirty="0"/>
          </a:p>
        </p:txBody>
      </p:sp>
      <p:sp>
        <p:nvSpPr>
          <p:cNvPr id="43" name="Threshold-adaptive description"/>
          <p:cNvSpPr txBox="1"/>
          <p:nvPr/>
        </p:nvSpPr>
        <p:spPr>
          <a:xfrm>
            <a:off x="4587088"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Slow by default; speeds up after a threshold is crossed</a:t>
            </a:r>
            <a:endParaRPr lang="en-US" sz="1500" dirty="0"/>
          </a:p>
        </p:txBody>
      </p:sp>
      <p:sp>
        <p:nvSpPr>
          <p:cNvPr id="44" name="Threshold-adaptive timeline caption"/>
          <p:cNvSpPr txBox="1"/>
          <p:nvPr/>
        </p:nvSpPr>
        <p:spPr>
          <a:xfrm>
            <a:off x="4587088" y="3758184"/>
            <a:ext cx="3017520" cy="237744"/>
          </a:xfrm>
          <a:prstGeom prst="rect">
            <a:avLst/>
          </a:prstGeom>
          <a:noFill/>
          <a:ln/>
        </p:spPr>
        <p:txBody>
          <a:bodyPr wrap="square" lIns="0" tIns="0" rIns="0" bIns="0" rtlCol="0" anchor="ctr"/>
          <a:lstStyle/>
          <a:p>
            <a:pPr indent="0" marL="0">
              <a:buNone/>
            </a:pPr>
            <a:r>
              <a:rPr lang="en-US" sz="1100" dirty="0">
                <a:solidFill>
                  <a:srgbClr val="5F727C"/>
                </a:solidFill>
              </a:rPr>
              <a:t>Sampling instants, simulated 20 s trace</a:t>
            </a:r>
            <a:endParaRPr lang="en-US" sz="1100" dirty="0"/>
          </a:p>
        </p:txBody>
      </p:sp>
      <p:sp>
        <p:nvSpPr>
          <p:cNvPr id="45" name="Threshold-adaptive timeline"/>
          <p:cNvSpPr/>
          <p:nvPr/>
        </p:nvSpPr>
        <p:spPr>
          <a:xfrm>
            <a:off x="4587088" y="4069080"/>
            <a:ext cx="3017520" cy="502920"/>
          </a:xfrm>
          <a:prstGeom prst="roundRect">
            <a:avLst>
              <a:gd name="adj" fmla="val 9091"/>
            </a:avLst>
          </a:prstGeom>
          <a:solidFill>
            <a:schemeClr val="bg2"/>
          </a:solidFill>
          <a:ln/>
        </p:spPr>
      </p:sp>
      <p:sp>
        <p:nvSpPr>
          <p:cNvPr id="46" name="Threshold-adaptive event window"/>
          <p:cNvSpPr/>
          <p:nvPr/>
        </p:nvSpPr>
        <p:spPr>
          <a:xfrm>
            <a:off x="6095848" y="4069080"/>
            <a:ext cx="452628" cy="502920"/>
          </a:xfrm>
          <a:prstGeom prst="rect">
            <a:avLst/>
          </a:prstGeom>
          <a:solidFill>
            <a:srgbClr val="F5C97B">
              <a:alpha val="55000"/>
            </a:srgbClr>
          </a:solidFill>
          <a:ln/>
        </p:spPr>
      </p:sp>
      <p:sp>
        <p:nvSpPr>
          <p:cNvPr id="47" name="Threshold-adaptive sample 1"/>
          <p:cNvSpPr/>
          <p:nvPr/>
        </p:nvSpPr>
        <p:spPr>
          <a:xfrm>
            <a:off x="4581601" y="4142232"/>
            <a:ext cx="10973" cy="356616"/>
          </a:xfrm>
          <a:prstGeom prst="rect">
            <a:avLst/>
          </a:prstGeom>
          <a:solidFill>
            <a:schemeClr val="accent5"/>
          </a:solidFill>
          <a:ln/>
        </p:spPr>
      </p:sp>
      <p:sp>
        <p:nvSpPr>
          <p:cNvPr id="48" name="Threshold-adaptive sample 2"/>
          <p:cNvSpPr/>
          <p:nvPr/>
        </p:nvSpPr>
        <p:spPr>
          <a:xfrm>
            <a:off x="4702302" y="4142232"/>
            <a:ext cx="10973" cy="356616"/>
          </a:xfrm>
          <a:prstGeom prst="rect">
            <a:avLst/>
          </a:prstGeom>
          <a:solidFill>
            <a:schemeClr val="accent5"/>
          </a:solidFill>
          <a:ln/>
        </p:spPr>
      </p:sp>
      <p:sp>
        <p:nvSpPr>
          <p:cNvPr id="49" name="Threshold-adaptive sample 3"/>
          <p:cNvSpPr/>
          <p:nvPr/>
        </p:nvSpPr>
        <p:spPr>
          <a:xfrm>
            <a:off x="4823003" y="4142232"/>
            <a:ext cx="10973" cy="356616"/>
          </a:xfrm>
          <a:prstGeom prst="rect">
            <a:avLst/>
          </a:prstGeom>
          <a:solidFill>
            <a:schemeClr val="accent5"/>
          </a:solidFill>
          <a:ln/>
        </p:spPr>
      </p:sp>
      <p:sp>
        <p:nvSpPr>
          <p:cNvPr id="50" name="Threshold-adaptive sample 4"/>
          <p:cNvSpPr/>
          <p:nvPr/>
        </p:nvSpPr>
        <p:spPr>
          <a:xfrm>
            <a:off x="4943704" y="4142232"/>
            <a:ext cx="10973" cy="356616"/>
          </a:xfrm>
          <a:prstGeom prst="rect">
            <a:avLst/>
          </a:prstGeom>
          <a:solidFill>
            <a:schemeClr val="accent5"/>
          </a:solidFill>
          <a:ln/>
        </p:spPr>
      </p:sp>
      <p:sp>
        <p:nvSpPr>
          <p:cNvPr id="51" name="Threshold-adaptive sample 5"/>
          <p:cNvSpPr/>
          <p:nvPr/>
        </p:nvSpPr>
        <p:spPr>
          <a:xfrm>
            <a:off x="5064404" y="4142232"/>
            <a:ext cx="10973" cy="356616"/>
          </a:xfrm>
          <a:prstGeom prst="rect">
            <a:avLst/>
          </a:prstGeom>
          <a:solidFill>
            <a:schemeClr val="accent5"/>
          </a:solidFill>
          <a:ln/>
        </p:spPr>
      </p:sp>
      <p:sp>
        <p:nvSpPr>
          <p:cNvPr id="52" name="Threshold-adaptive sample 6"/>
          <p:cNvSpPr/>
          <p:nvPr/>
        </p:nvSpPr>
        <p:spPr>
          <a:xfrm>
            <a:off x="5185105" y="4142232"/>
            <a:ext cx="10973" cy="356616"/>
          </a:xfrm>
          <a:prstGeom prst="rect">
            <a:avLst/>
          </a:prstGeom>
          <a:solidFill>
            <a:schemeClr val="accent5"/>
          </a:solidFill>
          <a:ln/>
        </p:spPr>
      </p:sp>
      <p:sp>
        <p:nvSpPr>
          <p:cNvPr id="53" name="Threshold-adaptive sample 7"/>
          <p:cNvSpPr/>
          <p:nvPr/>
        </p:nvSpPr>
        <p:spPr>
          <a:xfrm>
            <a:off x="5305806" y="4142232"/>
            <a:ext cx="10973" cy="356616"/>
          </a:xfrm>
          <a:prstGeom prst="rect">
            <a:avLst/>
          </a:prstGeom>
          <a:solidFill>
            <a:schemeClr val="accent5"/>
          </a:solidFill>
          <a:ln/>
        </p:spPr>
      </p:sp>
      <p:sp>
        <p:nvSpPr>
          <p:cNvPr id="54" name="Threshold-adaptive sample 8"/>
          <p:cNvSpPr/>
          <p:nvPr/>
        </p:nvSpPr>
        <p:spPr>
          <a:xfrm>
            <a:off x="5426507" y="4142232"/>
            <a:ext cx="10973" cy="356616"/>
          </a:xfrm>
          <a:prstGeom prst="rect">
            <a:avLst/>
          </a:prstGeom>
          <a:solidFill>
            <a:schemeClr val="accent5"/>
          </a:solidFill>
          <a:ln/>
        </p:spPr>
      </p:sp>
      <p:sp>
        <p:nvSpPr>
          <p:cNvPr id="55" name="Threshold-adaptive sample 9"/>
          <p:cNvSpPr/>
          <p:nvPr/>
        </p:nvSpPr>
        <p:spPr>
          <a:xfrm>
            <a:off x="5547208" y="4142232"/>
            <a:ext cx="10973" cy="356616"/>
          </a:xfrm>
          <a:prstGeom prst="rect">
            <a:avLst/>
          </a:prstGeom>
          <a:solidFill>
            <a:schemeClr val="accent5"/>
          </a:solidFill>
          <a:ln/>
        </p:spPr>
      </p:sp>
      <p:sp>
        <p:nvSpPr>
          <p:cNvPr id="56" name="Threshold-adaptive sample 10"/>
          <p:cNvSpPr/>
          <p:nvPr/>
        </p:nvSpPr>
        <p:spPr>
          <a:xfrm>
            <a:off x="5667908" y="4142232"/>
            <a:ext cx="10973" cy="356616"/>
          </a:xfrm>
          <a:prstGeom prst="rect">
            <a:avLst/>
          </a:prstGeom>
          <a:solidFill>
            <a:schemeClr val="accent5"/>
          </a:solidFill>
          <a:ln/>
        </p:spPr>
      </p:sp>
      <p:sp>
        <p:nvSpPr>
          <p:cNvPr id="57" name="Threshold-adaptive sample 11"/>
          <p:cNvSpPr/>
          <p:nvPr/>
        </p:nvSpPr>
        <p:spPr>
          <a:xfrm>
            <a:off x="5788609" y="4142232"/>
            <a:ext cx="10973" cy="356616"/>
          </a:xfrm>
          <a:prstGeom prst="rect">
            <a:avLst/>
          </a:prstGeom>
          <a:solidFill>
            <a:schemeClr val="accent5"/>
          </a:solidFill>
          <a:ln/>
        </p:spPr>
      </p:sp>
      <p:sp>
        <p:nvSpPr>
          <p:cNvPr id="58" name="Threshold-adaptive sample 12"/>
          <p:cNvSpPr/>
          <p:nvPr/>
        </p:nvSpPr>
        <p:spPr>
          <a:xfrm>
            <a:off x="5909310" y="4142232"/>
            <a:ext cx="10973" cy="356616"/>
          </a:xfrm>
          <a:prstGeom prst="rect">
            <a:avLst/>
          </a:prstGeom>
          <a:solidFill>
            <a:schemeClr val="accent5"/>
          </a:solidFill>
          <a:ln/>
        </p:spPr>
      </p:sp>
      <p:sp>
        <p:nvSpPr>
          <p:cNvPr id="59" name="Threshold-adaptive sample 13"/>
          <p:cNvSpPr/>
          <p:nvPr/>
        </p:nvSpPr>
        <p:spPr>
          <a:xfrm>
            <a:off x="6030011" y="4142232"/>
            <a:ext cx="10973" cy="356616"/>
          </a:xfrm>
          <a:prstGeom prst="rect">
            <a:avLst/>
          </a:prstGeom>
          <a:solidFill>
            <a:schemeClr val="accent5"/>
          </a:solidFill>
          <a:ln/>
        </p:spPr>
      </p:sp>
      <p:sp>
        <p:nvSpPr>
          <p:cNvPr id="60" name="Threshold-adaptive sample 14"/>
          <p:cNvSpPr/>
          <p:nvPr/>
        </p:nvSpPr>
        <p:spPr>
          <a:xfrm>
            <a:off x="6150712" y="4142232"/>
            <a:ext cx="10973" cy="356616"/>
          </a:xfrm>
          <a:prstGeom prst="rect">
            <a:avLst/>
          </a:prstGeom>
          <a:solidFill>
            <a:schemeClr val="accent5"/>
          </a:solidFill>
          <a:ln/>
        </p:spPr>
      </p:sp>
      <p:sp>
        <p:nvSpPr>
          <p:cNvPr id="61" name="Threshold-adaptive sample 15"/>
          <p:cNvSpPr/>
          <p:nvPr/>
        </p:nvSpPr>
        <p:spPr>
          <a:xfrm>
            <a:off x="6165799" y="4142232"/>
            <a:ext cx="10973" cy="356616"/>
          </a:xfrm>
          <a:prstGeom prst="rect">
            <a:avLst/>
          </a:prstGeom>
          <a:solidFill>
            <a:schemeClr val="accent5"/>
          </a:solidFill>
          <a:ln/>
        </p:spPr>
      </p:sp>
      <p:sp>
        <p:nvSpPr>
          <p:cNvPr id="62" name="Threshold-adaptive sample 16"/>
          <p:cNvSpPr/>
          <p:nvPr/>
        </p:nvSpPr>
        <p:spPr>
          <a:xfrm>
            <a:off x="6180887" y="4142232"/>
            <a:ext cx="10973" cy="356616"/>
          </a:xfrm>
          <a:prstGeom prst="rect">
            <a:avLst/>
          </a:prstGeom>
          <a:solidFill>
            <a:schemeClr val="accent5"/>
          </a:solidFill>
          <a:ln/>
        </p:spPr>
      </p:sp>
      <p:sp>
        <p:nvSpPr>
          <p:cNvPr id="63" name="Threshold-adaptive sample 17"/>
          <p:cNvSpPr/>
          <p:nvPr/>
        </p:nvSpPr>
        <p:spPr>
          <a:xfrm>
            <a:off x="6195974" y="4142232"/>
            <a:ext cx="10973" cy="356616"/>
          </a:xfrm>
          <a:prstGeom prst="rect">
            <a:avLst/>
          </a:prstGeom>
          <a:solidFill>
            <a:schemeClr val="accent5"/>
          </a:solidFill>
          <a:ln/>
        </p:spPr>
      </p:sp>
      <p:sp>
        <p:nvSpPr>
          <p:cNvPr id="64" name="Threshold-adaptive sample 18"/>
          <p:cNvSpPr/>
          <p:nvPr/>
        </p:nvSpPr>
        <p:spPr>
          <a:xfrm>
            <a:off x="6211062" y="4142232"/>
            <a:ext cx="10973" cy="356616"/>
          </a:xfrm>
          <a:prstGeom prst="rect">
            <a:avLst/>
          </a:prstGeom>
          <a:solidFill>
            <a:schemeClr val="accent5"/>
          </a:solidFill>
          <a:ln/>
        </p:spPr>
      </p:sp>
      <p:sp>
        <p:nvSpPr>
          <p:cNvPr id="65" name="Threshold-adaptive sample 19"/>
          <p:cNvSpPr/>
          <p:nvPr/>
        </p:nvSpPr>
        <p:spPr>
          <a:xfrm>
            <a:off x="6226150" y="4142232"/>
            <a:ext cx="10973" cy="356616"/>
          </a:xfrm>
          <a:prstGeom prst="rect">
            <a:avLst/>
          </a:prstGeom>
          <a:solidFill>
            <a:schemeClr val="accent5"/>
          </a:solidFill>
          <a:ln/>
        </p:spPr>
      </p:sp>
      <p:sp>
        <p:nvSpPr>
          <p:cNvPr id="66" name="Threshold-adaptive sample 20"/>
          <p:cNvSpPr/>
          <p:nvPr/>
        </p:nvSpPr>
        <p:spPr>
          <a:xfrm>
            <a:off x="6241237" y="4142232"/>
            <a:ext cx="10973" cy="356616"/>
          </a:xfrm>
          <a:prstGeom prst="rect">
            <a:avLst/>
          </a:prstGeom>
          <a:solidFill>
            <a:schemeClr val="accent5"/>
          </a:solidFill>
          <a:ln/>
        </p:spPr>
      </p:sp>
      <p:sp>
        <p:nvSpPr>
          <p:cNvPr id="67" name="Threshold-adaptive sample 21"/>
          <p:cNvSpPr/>
          <p:nvPr/>
        </p:nvSpPr>
        <p:spPr>
          <a:xfrm>
            <a:off x="6256325" y="4142232"/>
            <a:ext cx="10973" cy="356616"/>
          </a:xfrm>
          <a:prstGeom prst="rect">
            <a:avLst/>
          </a:prstGeom>
          <a:solidFill>
            <a:schemeClr val="accent5"/>
          </a:solidFill>
          <a:ln/>
        </p:spPr>
      </p:sp>
      <p:sp>
        <p:nvSpPr>
          <p:cNvPr id="68" name="Threshold-adaptive sample 22"/>
          <p:cNvSpPr/>
          <p:nvPr/>
        </p:nvSpPr>
        <p:spPr>
          <a:xfrm>
            <a:off x="6271412" y="4142232"/>
            <a:ext cx="10973" cy="356616"/>
          </a:xfrm>
          <a:prstGeom prst="rect">
            <a:avLst/>
          </a:prstGeom>
          <a:solidFill>
            <a:schemeClr val="accent5"/>
          </a:solidFill>
          <a:ln/>
        </p:spPr>
      </p:sp>
      <p:sp>
        <p:nvSpPr>
          <p:cNvPr id="69" name="Threshold-adaptive sample 23"/>
          <p:cNvSpPr/>
          <p:nvPr/>
        </p:nvSpPr>
        <p:spPr>
          <a:xfrm>
            <a:off x="6286500" y="4142232"/>
            <a:ext cx="10973" cy="356616"/>
          </a:xfrm>
          <a:prstGeom prst="rect">
            <a:avLst/>
          </a:prstGeom>
          <a:solidFill>
            <a:schemeClr val="accent5"/>
          </a:solidFill>
          <a:ln/>
        </p:spPr>
      </p:sp>
      <p:sp>
        <p:nvSpPr>
          <p:cNvPr id="70" name="Threshold-adaptive sample 24"/>
          <p:cNvSpPr/>
          <p:nvPr/>
        </p:nvSpPr>
        <p:spPr>
          <a:xfrm>
            <a:off x="6301588" y="4142232"/>
            <a:ext cx="10973" cy="356616"/>
          </a:xfrm>
          <a:prstGeom prst="rect">
            <a:avLst/>
          </a:prstGeom>
          <a:solidFill>
            <a:schemeClr val="accent5"/>
          </a:solidFill>
          <a:ln/>
        </p:spPr>
      </p:sp>
      <p:sp>
        <p:nvSpPr>
          <p:cNvPr id="71" name="Threshold-adaptive sample 25"/>
          <p:cNvSpPr/>
          <p:nvPr/>
        </p:nvSpPr>
        <p:spPr>
          <a:xfrm>
            <a:off x="6316675" y="4142232"/>
            <a:ext cx="10973" cy="356616"/>
          </a:xfrm>
          <a:prstGeom prst="rect">
            <a:avLst/>
          </a:prstGeom>
          <a:solidFill>
            <a:schemeClr val="accent5"/>
          </a:solidFill>
          <a:ln/>
        </p:spPr>
      </p:sp>
      <p:sp>
        <p:nvSpPr>
          <p:cNvPr id="72" name="Threshold-adaptive sample 26"/>
          <p:cNvSpPr/>
          <p:nvPr/>
        </p:nvSpPr>
        <p:spPr>
          <a:xfrm>
            <a:off x="6331763" y="4142232"/>
            <a:ext cx="10973" cy="356616"/>
          </a:xfrm>
          <a:prstGeom prst="rect">
            <a:avLst/>
          </a:prstGeom>
          <a:solidFill>
            <a:schemeClr val="accent5"/>
          </a:solidFill>
          <a:ln/>
        </p:spPr>
      </p:sp>
      <p:sp>
        <p:nvSpPr>
          <p:cNvPr id="73" name="Threshold-adaptive sample 27"/>
          <p:cNvSpPr/>
          <p:nvPr/>
        </p:nvSpPr>
        <p:spPr>
          <a:xfrm>
            <a:off x="6346850" y="4142232"/>
            <a:ext cx="10973" cy="356616"/>
          </a:xfrm>
          <a:prstGeom prst="rect">
            <a:avLst/>
          </a:prstGeom>
          <a:solidFill>
            <a:schemeClr val="accent5"/>
          </a:solidFill>
          <a:ln/>
        </p:spPr>
      </p:sp>
      <p:sp>
        <p:nvSpPr>
          <p:cNvPr id="74" name="Threshold-adaptive sample 28"/>
          <p:cNvSpPr/>
          <p:nvPr/>
        </p:nvSpPr>
        <p:spPr>
          <a:xfrm>
            <a:off x="6361938" y="4142232"/>
            <a:ext cx="10973" cy="356616"/>
          </a:xfrm>
          <a:prstGeom prst="rect">
            <a:avLst/>
          </a:prstGeom>
          <a:solidFill>
            <a:schemeClr val="accent5"/>
          </a:solidFill>
          <a:ln/>
        </p:spPr>
      </p:sp>
      <p:sp>
        <p:nvSpPr>
          <p:cNvPr id="75" name="Threshold-adaptive sample 29"/>
          <p:cNvSpPr/>
          <p:nvPr/>
        </p:nvSpPr>
        <p:spPr>
          <a:xfrm>
            <a:off x="6377026" y="4142232"/>
            <a:ext cx="10973" cy="356616"/>
          </a:xfrm>
          <a:prstGeom prst="rect">
            <a:avLst/>
          </a:prstGeom>
          <a:solidFill>
            <a:schemeClr val="accent5"/>
          </a:solidFill>
          <a:ln/>
        </p:spPr>
      </p:sp>
      <p:sp>
        <p:nvSpPr>
          <p:cNvPr id="76" name="Threshold-adaptive sample 30"/>
          <p:cNvSpPr/>
          <p:nvPr/>
        </p:nvSpPr>
        <p:spPr>
          <a:xfrm>
            <a:off x="6392113" y="4142232"/>
            <a:ext cx="10973" cy="356616"/>
          </a:xfrm>
          <a:prstGeom prst="rect">
            <a:avLst/>
          </a:prstGeom>
          <a:solidFill>
            <a:schemeClr val="accent5"/>
          </a:solidFill>
          <a:ln/>
        </p:spPr>
      </p:sp>
      <p:sp>
        <p:nvSpPr>
          <p:cNvPr id="77" name="Threshold-adaptive sample 31"/>
          <p:cNvSpPr/>
          <p:nvPr/>
        </p:nvSpPr>
        <p:spPr>
          <a:xfrm>
            <a:off x="6407201" y="4142232"/>
            <a:ext cx="10973" cy="356616"/>
          </a:xfrm>
          <a:prstGeom prst="rect">
            <a:avLst/>
          </a:prstGeom>
          <a:solidFill>
            <a:schemeClr val="accent5"/>
          </a:solidFill>
          <a:ln/>
        </p:spPr>
      </p:sp>
      <p:sp>
        <p:nvSpPr>
          <p:cNvPr id="78" name="Threshold-adaptive sample 32"/>
          <p:cNvSpPr/>
          <p:nvPr/>
        </p:nvSpPr>
        <p:spPr>
          <a:xfrm>
            <a:off x="6422288" y="4142232"/>
            <a:ext cx="10973" cy="356616"/>
          </a:xfrm>
          <a:prstGeom prst="rect">
            <a:avLst/>
          </a:prstGeom>
          <a:solidFill>
            <a:schemeClr val="accent5"/>
          </a:solidFill>
          <a:ln/>
        </p:spPr>
      </p:sp>
      <p:sp>
        <p:nvSpPr>
          <p:cNvPr id="79" name="Threshold-adaptive sample 33"/>
          <p:cNvSpPr/>
          <p:nvPr/>
        </p:nvSpPr>
        <p:spPr>
          <a:xfrm>
            <a:off x="6437376" y="4142232"/>
            <a:ext cx="10973" cy="356616"/>
          </a:xfrm>
          <a:prstGeom prst="rect">
            <a:avLst/>
          </a:prstGeom>
          <a:solidFill>
            <a:schemeClr val="accent5"/>
          </a:solidFill>
          <a:ln/>
        </p:spPr>
      </p:sp>
      <p:sp>
        <p:nvSpPr>
          <p:cNvPr id="80" name="Threshold-adaptive sample 34"/>
          <p:cNvSpPr/>
          <p:nvPr/>
        </p:nvSpPr>
        <p:spPr>
          <a:xfrm>
            <a:off x="6452464" y="4142232"/>
            <a:ext cx="10973" cy="356616"/>
          </a:xfrm>
          <a:prstGeom prst="rect">
            <a:avLst/>
          </a:prstGeom>
          <a:solidFill>
            <a:schemeClr val="accent5"/>
          </a:solidFill>
          <a:ln/>
        </p:spPr>
      </p:sp>
      <p:sp>
        <p:nvSpPr>
          <p:cNvPr id="81" name="Threshold-adaptive sample 35"/>
          <p:cNvSpPr/>
          <p:nvPr/>
        </p:nvSpPr>
        <p:spPr>
          <a:xfrm>
            <a:off x="6467551" y="4142232"/>
            <a:ext cx="10973" cy="356616"/>
          </a:xfrm>
          <a:prstGeom prst="rect">
            <a:avLst/>
          </a:prstGeom>
          <a:solidFill>
            <a:schemeClr val="accent5"/>
          </a:solidFill>
          <a:ln/>
        </p:spPr>
      </p:sp>
      <p:sp>
        <p:nvSpPr>
          <p:cNvPr id="82" name="Threshold-adaptive sample 36"/>
          <p:cNvSpPr/>
          <p:nvPr/>
        </p:nvSpPr>
        <p:spPr>
          <a:xfrm>
            <a:off x="6482639" y="4142232"/>
            <a:ext cx="10973" cy="356616"/>
          </a:xfrm>
          <a:prstGeom prst="rect">
            <a:avLst/>
          </a:prstGeom>
          <a:solidFill>
            <a:schemeClr val="accent5"/>
          </a:solidFill>
          <a:ln/>
        </p:spPr>
      </p:sp>
      <p:sp>
        <p:nvSpPr>
          <p:cNvPr id="83" name="Threshold-adaptive sample 37"/>
          <p:cNvSpPr/>
          <p:nvPr/>
        </p:nvSpPr>
        <p:spPr>
          <a:xfrm>
            <a:off x="6497726" y="4142232"/>
            <a:ext cx="10973" cy="356616"/>
          </a:xfrm>
          <a:prstGeom prst="rect">
            <a:avLst/>
          </a:prstGeom>
          <a:solidFill>
            <a:schemeClr val="accent5"/>
          </a:solidFill>
          <a:ln/>
        </p:spPr>
      </p:sp>
      <p:sp>
        <p:nvSpPr>
          <p:cNvPr id="84" name="Threshold-adaptive sample 38"/>
          <p:cNvSpPr/>
          <p:nvPr/>
        </p:nvSpPr>
        <p:spPr>
          <a:xfrm>
            <a:off x="6512814" y="4142232"/>
            <a:ext cx="10973" cy="356616"/>
          </a:xfrm>
          <a:prstGeom prst="rect">
            <a:avLst/>
          </a:prstGeom>
          <a:solidFill>
            <a:schemeClr val="accent5"/>
          </a:solidFill>
          <a:ln/>
        </p:spPr>
      </p:sp>
      <p:sp>
        <p:nvSpPr>
          <p:cNvPr id="85" name="Threshold-adaptive sample 39"/>
          <p:cNvSpPr/>
          <p:nvPr/>
        </p:nvSpPr>
        <p:spPr>
          <a:xfrm>
            <a:off x="6527902" y="4142232"/>
            <a:ext cx="10973" cy="356616"/>
          </a:xfrm>
          <a:prstGeom prst="rect">
            <a:avLst/>
          </a:prstGeom>
          <a:solidFill>
            <a:schemeClr val="accent5"/>
          </a:solidFill>
          <a:ln/>
        </p:spPr>
      </p:sp>
      <p:sp>
        <p:nvSpPr>
          <p:cNvPr id="86" name="Threshold-adaptive sample 40"/>
          <p:cNvSpPr/>
          <p:nvPr/>
        </p:nvSpPr>
        <p:spPr>
          <a:xfrm>
            <a:off x="6542989" y="4142232"/>
            <a:ext cx="10973" cy="356616"/>
          </a:xfrm>
          <a:prstGeom prst="rect">
            <a:avLst/>
          </a:prstGeom>
          <a:solidFill>
            <a:schemeClr val="accent5"/>
          </a:solidFill>
          <a:ln/>
        </p:spPr>
      </p:sp>
      <p:sp>
        <p:nvSpPr>
          <p:cNvPr id="87" name="Threshold-adaptive sample 41"/>
          <p:cNvSpPr/>
          <p:nvPr/>
        </p:nvSpPr>
        <p:spPr>
          <a:xfrm>
            <a:off x="6558077" y="4142232"/>
            <a:ext cx="10973" cy="356616"/>
          </a:xfrm>
          <a:prstGeom prst="rect">
            <a:avLst/>
          </a:prstGeom>
          <a:solidFill>
            <a:schemeClr val="accent5"/>
          </a:solidFill>
          <a:ln/>
        </p:spPr>
      </p:sp>
      <p:sp>
        <p:nvSpPr>
          <p:cNvPr id="88" name="Threshold-adaptive sample 42"/>
          <p:cNvSpPr/>
          <p:nvPr/>
        </p:nvSpPr>
        <p:spPr>
          <a:xfrm>
            <a:off x="6573164" y="4142232"/>
            <a:ext cx="10973" cy="356616"/>
          </a:xfrm>
          <a:prstGeom prst="rect">
            <a:avLst/>
          </a:prstGeom>
          <a:solidFill>
            <a:schemeClr val="accent5"/>
          </a:solidFill>
          <a:ln/>
        </p:spPr>
      </p:sp>
      <p:sp>
        <p:nvSpPr>
          <p:cNvPr id="89" name="Threshold-adaptive sample 43"/>
          <p:cNvSpPr/>
          <p:nvPr/>
        </p:nvSpPr>
        <p:spPr>
          <a:xfrm>
            <a:off x="6588252" y="4142232"/>
            <a:ext cx="10973" cy="356616"/>
          </a:xfrm>
          <a:prstGeom prst="rect">
            <a:avLst/>
          </a:prstGeom>
          <a:solidFill>
            <a:schemeClr val="accent5"/>
          </a:solidFill>
          <a:ln/>
        </p:spPr>
      </p:sp>
      <p:sp>
        <p:nvSpPr>
          <p:cNvPr id="90" name="Threshold-adaptive sample 44"/>
          <p:cNvSpPr/>
          <p:nvPr/>
        </p:nvSpPr>
        <p:spPr>
          <a:xfrm>
            <a:off x="6603340" y="4142232"/>
            <a:ext cx="10973" cy="356616"/>
          </a:xfrm>
          <a:prstGeom prst="rect">
            <a:avLst/>
          </a:prstGeom>
          <a:solidFill>
            <a:schemeClr val="accent5"/>
          </a:solidFill>
          <a:ln/>
        </p:spPr>
      </p:sp>
      <p:sp>
        <p:nvSpPr>
          <p:cNvPr id="91" name="Threshold-adaptive sample 45"/>
          <p:cNvSpPr/>
          <p:nvPr/>
        </p:nvSpPr>
        <p:spPr>
          <a:xfrm>
            <a:off x="6724040" y="4142232"/>
            <a:ext cx="10973" cy="356616"/>
          </a:xfrm>
          <a:prstGeom prst="rect">
            <a:avLst/>
          </a:prstGeom>
          <a:solidFill>
            <a:schemeClr val="accent5"/>
          </a:solidFill>
          <a:ln/>
        </p:spPr>
      </p:sp>
      <p:sp>
        <p:nvSpPr>
          <p:cNvPr id="92" name="Threshold-adaptive sample 46"/>
          <p:cNvSpPr/>
          <p:nvPr/>
        </p:nvSpPr>
        <p:spPr>
          <a:xfrm>
            <a:off x="6844741" y="4142232"/>
            <a:ext cx="10973" cy="356616"/>
          </a:xfrm>
          <a:prstGeom prst="rect">
            <a:avLst/>
          </a:prstGeom>
          <a:solidFill>
            <a:schemeClr val="accent5"/>
          </a:solidFill>
          <a:ln/>
        </p:spPr>
      </p:sp>
      <p:sp>
        <p:nvSpPr>
          <p:cNvPr id="93" name="Threshold-adaptive sample 47"/>
          <p:cNvSpPr/>
          <p:nvPr/>
        </p:nvSpPr>
        <p:spPr>
          <a:xfrm>
            <a:off x="6965442" y="4142232"/>
            <a:ext cx="10973" cy="356616"/>
          </a:xfrm>
          <a:prstGeom prst="rect">
            <a:avLst/>
          </a:prstGeom>
          <a:solidFill>
            <a:schemeClr val="accent5"/>
          </a:solidFill>
          <a:ln/>
        </p:spPr>
      </p:sp>
      <p:sp>
        <p:nvSpPr>
          <p:cNvPr id="94" name="Threshold-adaptive sample 48"/>
          <p:cNvSpPr/>
          <p:nvPr/>
        </p:nvSpPr>
        <p:spPr>
          <a:xfrm>
            <a:off x="7086143" y="4142232"/>
            <a:ext cx="10973" cy="356616"/>
          </a:xfrm>
          <a:prstGeom prst="rect">
            <a:avLst/>
          </a:prstGeom>
          <a:solidFill>
            <a:schemeClr val="accent5"/>
          </a:solidFill>
          <a:ln/>
        </p:spPr>
      </p:sp>
      <p:sp>
        <p:nvSpPr>
          <p:cNvPr id="95" name="Threshold-adaptive sample 49"/>
          <p:cNvSpPr/>
          <p:nvPr/>
        </p:nvSpPr>
        <p:spPr>
          <a:xfrm>
            <a:off x="7206844" y="4142232"/>
            <a:ext cx="10973" cy="356616"/>
          </a:xfrm>
          <a:prstGeom prst="rect">
            <a:avLst/>
          </a:prstGeom>
          <a:solidFill>
            <a:schemeClr val="accent5"/>
          </a:solidFill>
          <a:ln/>
        </p:spPr>
      </p:sp>
      <p:sp>
        <p:nvSpPr>
          <p:cNvPr id="96" name="Threshold-adaptive sample 50"/>
          <p:cNvSpPr/>
          <p:nvPr/>
        </p:nvSpPr>
        <p:spPr>
          <a:xfrm>
            <a:off x="7327544" y="4142232"/>
            <a:ext cx="10973" cy="356616"/>
          </a:xfrm>
          <a:prstGeom prst="rect">
            <a:avLst/>
          </a:prstGeom>
          <a:solidFill>
            <a:schemeClr val="accent5"/>
          </a:solidFill>
          <a:ln/>
        </p:spPr>
      </p:sp>
      <p:sp>
        <p:nvSpPr>
          <p:cNvPr id="97" name="Threshold-adaptive sample 51"/>
          <p:cNvSpPr/>
          <p:nvPr/>
        </p:nvSpPr>
        <p:spPr>
          <a:xfrm>
            <a:off x="7448245" y="4142232"/>
            <a:ext cx="10973" cy="356616"/>
          </a:xfrm>
          <a:prstGeom prst="rect">
            <a:avLst/>
          </a:prstGeom>
          <a:solidFill>
            <a:schemeClr val="accent5"/>
          </a:solidFill>
          <a:ln/>
        </p:spPr>
      </p:sp>
      <p:sp>
        <p:nvSpPr>
          <p:cNvPr id="98" name="Threshold-adaptive sample 52"/>
          <p:cNvSpPr/>
          <p:nvPr/>
        </p:nvSpPr>
        <p:spPr>
          <a:xfrm>
            <a:off x="7568946" y="4142232"/>
            <a:ext cx="10973" cy="356616"/>
          </a:xfrm>
          <a:prstGeom prst="rect">
            <a:avLst/>
          </a:prstGeom>
          <a:solidFill>
            <a:schemeClr val="accent5"/>
          </a:solidFill>
          <a:ln/>
        </p:spPr>
      </p:sp>
      <p:sp>
        <p:nvSpPr>
          <p:cNvPr id="99" name="Threshold-adaptive axis 0 s"/>
          <p:cNvSpPr txBox="1"/>
          <p:nvPr/>
        </p:nvSpPr>
        <p:spPr>
          <a:xfrm>
            <a:off x="4587088" y="4617720"/>
            <a:ext cx="548640" cy="201168"/>
          </a:xfrm>
          <a:prstGeom prst="rect">
            <a:avLst/>
          </a:prstGeom>
          <a:noFill/>
          <a:ln/>
        </p:spPr>
        <p:txBody>
          <a:bodyPr wrap="square" lIns="0" tIns="0" rIns="0" bIns="0" rtlCol="0" anchor="ctr"/>
          <a:lstStyle/>
          <a:p>
            <a:pPr algn="l" indent="0" marL="0">
              <a:buNone/>
            </a:pPr>
            <a:r>
              <a:rPr lang="en-US" sz="1000" dirty="0">
                <a:solidFill>
                  <a:srgbClr val="5F727C"/>
                </a:solidFill>
              </a:rPr>
              <a:t>0 s</a:t>
            </a:r>
            <a:endParaRPr lang="en-US" sz="1000" dirty="0"/>
          </a:p>
        </p:txBody>
      </p:sp>
      <p:sp>
        <p:nvSpPr>
          <p:cNvPr id="100" name="Threshold-adaptive axis 10 s"/>
          <p:cNvSpPr txBox="1"/>
          <p:nvPr/>
        </p:nvSpPr>
        <p:spPr>
          <a:xfrm>
            <a:off x="5821528" y="4617720"/>
            <a:ext cx="548640" cy="201168"/>
          </a:xfrm>
          <a:prstGeom prst="rect">
            <a:avLst/>
          </a:prstGeom>
          <a:noFill/>
          <a:ln/>
        </p:spPr>
        <p:txBody>
          <a:bodyPr wrap="square" lIns="0" tIns="0" rIns="0" bIns="0" rtlCol="0" anchor="ctr"/>
          <a:lstStyle/>
          <a:p>
            <a:pPr algn="ctr" indent="0" marL="0">
              <a:buNone/>
            </a:pPr>
            <a:r>
              <a:rPr lang="en-US" sz="1000" dirty="0">
                <a:solidFill>
                  <a:srgbClr val="5F727C"/>
                </a:solidFill>
              </a:rPr>
              <a:t>10 s</a:t>
            </a:r>
            <a:endParaRPr lang="en-US" sz="1000" dirty="0"/>
          </a:p>
        </p:txBody>
      </p:sp>
      <p:sp>
        <p:nvSpPr>
          <p:cNvPr id="101" name="Threshold-adaptive axis 20 s"/>
          <p:cNvSpPr txBox="1"/>
          <p:nvPr/>
        </p:nvSpPr>
        <p:spPr>
          <a:xfrm>
            <a:off x="7055968" y="4617720"/>
            <a:ext cx="548640" cy="201168"/>
          </a:xfrm>
          <a:prstGeom prst="rect">
            <a:avLst/>
          </a:prstGeom>
          <a:noFill/>
          <a:ln/>
        </p:spPr>
        <p:txBody>
          <a:bodyPr wrap="square" lIns="0" tIns="0" rIns="0" bIns="0" rtlCol="0" anchor="ctr"/>
          <a:lstStyle/>
          <a:p>
            <a:pPr algn="r" indent="0" marL="0">
              <a:buNone/>
            </a:pPr>
            <a:r>
              <a:rPr lang="en-US" sz="1000" dirty="0">
                <a:solidFill>
                  <a:srgbClr val="5F727C"/>
                </a:solidFill>
              </a:rPr>
              <a:t>20 s</a:t>
            </a:r>
            <a:endParaRPr lang="en-US" sz="1000" dirty="0"/>
          </a:p>
        </p:txBody>
      </p:sp>
      <p:sp>
        <p:nvSpPr>
          <p:cNvPr id="102" name="Threshold-adaptive sample count"/>
          <p:cNvSpPr txBox="1"/>
          <p:nvPr/>
        </p:nvSpPr>
        <p:spPr>
          <a:xfrm>
            <a:off x="4587088" y="493776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52 samples</a:t>
            </a:r>
            <a:endParaRPr lang="en-US" sz="2200" dirty="0"/>
          </a:p>
        </p:txBody>
      </p:sp>
      <p:sp>
        <p:nvSpPr>
          <p:cNvPr id="103" name="Threshold-adaptive note"/>
          <p:cNvSpPr txBox="1"/>
          <p:nvPr/>
        </p:nvSpPr>
        <p:spPr>
          <a:xfrm>
            <a:off x="4587088" y="5349240"/>
            <a:ext cx="3017520" cy="548640"/>
          </a:xfrm>
          <a:prstGeom prst="rect">
            <a:avLst/>
          </a:prstGeom>
          <a:noFill/>
          <a:ln/>
        </p:spPr>
        <p:txBody>
          <a:bodyPr wrap="square" lIns="0" tIns="0" rIns="0" bIns="0" rtlCol="0" anchor="t"/>
          <a:lstStyle/>
          <a:p>
            <a:pPr indent="0" marL="0">
              <a:buNone/>
            </a:pPr>
            <a:r>
              <a:rPr lang="en-US" sz="1300" dirty="0">
                <a:solidFill>
                  <a:srgbClr val="5F727C"/>
                </a:solidFill>
              </a:rPr>
              <a:t>High rate starts 400 ms after the event starts</a:t>
            </a:r>
            <a:endParaRPr lang="en-US" sz="1300" dirty="0"/>
          </a:p>
        </p:txBody>
      </p:sp>
      <p:sp>
        <p:nvSpPr>
          <p:cNvPr id="104" name="Predictive-adaptive card"/>
          <p:cNvSpPr/>
          <p:nvPr/>
        </p:nvSpPr>
        <p:spPr>
          <a:xfrm>
            <a:off x="8076895" y="1325880"/>
            <a:ext cx="3566160" cy="4709160"/>
          </a:xfrm>
          <a:prstGeom prst="roundRect">
            <a:avLst>
              <a:gd name="adj" fmla="val 3077"/>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05" name="Predictive-adaptive circle"/>
          <p:cNvSpPr/>
          <p:nvPr/>
        </p:nvSpPr>
        <p:spPr>
          <a:xfrm>
            <a:off x="8351215" y="1554480"/>
            <a:ext cx="566928" cy="566928"/>
          </a:xfrm>
          <a:prstGeom prst="ellipse">
            <a:avLst/>
          </a:prstGeom>
          <a:solidFill>
            <a:schemeClr val="accent3"/>
          </a:solidFill>
          <a:ln/>
        </p:spPr>
      </p:sp>
      <p:pic>
        <p:nvPicPr>
          <p:cNvPr id="106" name="Image 2" descr="Predictive-adaptive icon">    </p:cNvPr>
          <p:cNvPicPr>
            <a:picLocks noChangeAspect="1"/>
          </p:cNvPicPr>
          <p:nvPr/>
        </p:nvPicPr>
        <p:blipFill>
          <a:blip r:embed="rId3"/>
          <a:stretch>
            <a:fillRect/>
          </a:stretch>
        </p:blipFill>
        <p:spPr>
          <a:xfrm>
            <a:off x="8492947" y="1696212"/>
            <a:ext cx="283464" cy="283464"/>
          </a:xfrm>
          <a:prstGeom prst="rect">
            <a:avLst/>
          </a:prstGeom>
        </p:spPr>
      </p:pic>
      <p:sp>
        <p:nvSpPr>
          <p:cNvPr id="107" name="Predictive-adaptive tag"/>
          <p:cNvSpPr txBox="1"/>
          <p:nvPr/>
        </p:nvSpPr>
        <p:spPr>
          <a:xfrm>
            <a:off x="9082735" y="1709928"/>
            <a:ext cx="1051560" cy="31089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Proposed</a:t>
            </a:r>
            <a:endParaRPr lang="en-US" sz="1200" dirty="0"/>
          </a:p>
        </p:txBody>
      </p:sp>
      <p:sp>
        <p:nvSpPr>
          <p:cNvPr id="108" name="Predictive-adaptive title"/>
          <p:cNvSpPr txBox="1"/>
          <p:nvPr/>
        </p:nvSpPr>
        <p:spPr>
          <a:xfrm>
            <a:off x="8351215" y="228600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Predictive-adaptive</a:t>
            </a:r>
            <a:endParaRPr lang="en-US" sz="2200" dirty="0"/>
          </a:p>
        </p:txBody>
      </p:sp>
      <p:sp>
        <p:nvSpPr>
          <p:cNvPr id="109" name="Predictive-adaptive description"/>
          <p:cNvSpPr txBox="1"/>
          <p:nvPr/>
        </p:nvSpPr>
        <p:spPr>
          <a:xfrm>
            <a:off x="8351215"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Trend estimator speeds up sampling before the threshold is crossed</a:t>
            </a:r>
            <a:endParaRPr lang="en-US" sz="1500" dirty="0"/>
          </a:p>
        </p:txBody>
      </p:sp>
      <p:sp>
        <p:nvSpPr>
          <p:cNvPr id="110" name="Predictive-adaptive timeline caption"/>
          <p:cNvSpPr txBox="1"/>
          <p:nvPr/>
        </p:nvSpPr>
        <p:spPr>
          <a:xfrm>
            <a:off x="8351215" y="3758184"/>
            <a:ext cx="3017520" cy="237744"/>
          </a:xfrm>
          <a:prstGeom prst="rect">
            <a:avLst/>
          </a:prstGeom>
          <a:noFill/>
          <a:ln/>
        </p:spPr>
        <p:txBody>
          <a:bodyPr wrap="square" lIns="0" tIns="0" rIns="0" bIns="0" rtlCol="0" anchor="ctr"/>
          <a:lstStyle/>
          <a:p>
            <a:pPr indent="0" marL="0">
              <a:buNone/>
            </a:pPr>
            <a:r>
              <a:rPr lang="en-US" sz="1100" dirty="0">
                <a:solidFill>
                  <a:srgbClr val="5F727C"/>
                </a:solidFill>
              </a:rPr>
              <a:t>Sampling instants, simulated 20 s trace</a:t>
            </a:r>
            <a:endParaRPr lang="en-US" sz="1100" dirty="0"/>
          </a:p>
        </p:txBody>
      </p:sp>
      <p:sp>
        <p:nvSpPr>
          <p:cNvPr id="111" name="Predictive-adaptive timeline"/>
          <p:cNvSpPr/>
          <p:nvPr/>
        </p:nvSpPr>
        <p:spPr>
          <a:xfrm>
            <a:off x="8351215" y="4069080"/>
            <a:ext cx="3017520" cy="502920"/>
          </a:xfrm>
          <a:prstGeom prst="roundRect">
            <a:avLst>
              <a:gd name="adj" fmla="val 9091"/>
            </a:avLst>
          </a:prstGeom>
          <a:solidFill>
            <a:schemeClr val="bg2"/>
          </a:solidFill>
          <a:ln/>
        </p:spPr>
      </p:sp>
      <p:sp>
        <p:nvSpPr>
          <p:cNvPr id="112" name="Predictive-adaptive event window"/>
          <p:cNvSpPr/>
          <p:nvPr/>
        </p:nvSpPr>
        <p:spPr>
          <a:xfrm>
            <a:off x="9859975" y="4069080"/>
            <a:ext cx="452628" cy="502920"/>
          </a:xfrm>
          <a:prstGeom prst="rect">
            <a:avLst/>
          </a:prstGeom>
          <a:solidFill>
            <a:srgbClr val="F5C97B">
              <a:alpha val="55000"/>
            </a:srgbClr>
          </a:solidFill>
          <a:ln/>
        </p:spPr>
      </p:sp>
      <p:sp>
        <p:nvSpPr>
          <p:cNvPr id="113" name="Predictive-adaptive sample 1"/>
          <p:cNvSpPr/>
          <p:nvPr/>
        </p:nvSpPr>
        <p:spPr>
          <a:xfrm>
            <a:off x="8345729" y="4142232"/>
            <a:ext cx="10973" cy="356616"/>
          </a:xfrm>
          <a:prstGeom prst="rect">
            <a:avLst/>
          </a:prstGeom>
          <a:solidFill>
            <a:schemeClr val="accent3"/>
          </a:solidFill>
          <a:ln/>
        </p:spPr>
      </p:sp>
      <p:sp>
        <p:nvSpPr>
          <p:cNvPr id="114" name="Predictive-adaptive sample 2"/>
          <p:cNvSpPr/>
          <p:nvPr/>
        </p:nvSpPr>
        <p:spPr>
          <a:xfrm>
            <a:off x="8466430" y="4142232"/>
            <a:ext cx="10973" cy="356616"/>
          </a:xfrm>
          <a:prstGeom prst="rect">
            <a:avLst/>
          </a:prstGeom>
          <a:solidFill>
            <a:schemeClr val="accent3"/>
          </a:solidFill>
          <a:ln/>
        </p:spPr>
      </p:sp>
      <p:sp>
        <p:nvSpPr>
          <p:cNvPr id="115" name="Predictive-adaptive sample 3"/>
          <p:cNvSpPr/>
          <p:nvPr/>
        </p:nvSpPr>
        <p:spPr>
          <a:xfrm>
            <a:off x="8587130" y="4142232"/>
            <a:ext cx="10973" cy="356616"/>
          </a:xfrm>
          <a:prstGeom prst="rect">
            <a:avLst/>
          </a:prstGeom>
          <a:solidFill>
            <a:schemeClr val="accent3"/>
          </a:solidFill>
          <a:ln/>
        </p:spPr>
      </p:sp>
      <p:sp>
        <p:nvSpPr>
          <p:cNvPr id="116" name="Predictive-adaptive sample 4"/>
          <p:cNvSpPr/>
          <p:nvPr/>
        </p:nvSpPr>
        <p:spPr>
          <a:xfrm>
            <a:off x="8707831" y="4142232"/>
            <a:ext cx="10973" cy="356616"/>
          </a:xfrm>
          <a:prstGeom prst="rect">
            <a:avLst/>
          </a:prstGeom>
          <a:solidFill>
            <a:schemeClr val="accent3"/>
          </a:solidFill>
          <a:ln/>
        </p:spPr>
      </p:sp>
      <p:sp>
        <p:nvSpPr>
          <p:cNvPr id="117" name="Predictive-adaptive sample 5"/>
          <p:cNvSpPr/>
          <p:nvPr/>
        </p:nvSpPr>
        <p:spPr>
          <a:xfrm>
            <a:off x="8828532" y="4142232"/>
            <a:ext cx="10973" cy="356616"/>
          </a:xfrm>
          <a:prstGeom prst="rect">
            <a:avLst/>
          </a:prstGeom>
          <a:solidFill>
            <a:schemeClr val="accent3"/>
          </a:solidFill>
          <a:ln/>
        </p:spPr>
      </p:sp>
      <p:sp>
        <p:nvSpPr>
          <p:cNvPr id="118" name="Predictive-adaptive sample 6"/>
          <p:cNvSpPr/>
          <p:nvPr/>
        </p:nvSpPr>
        <p:spPr>
          <a:xfrm>
            <a:off x="8949233" y="4142232"/>
            <a:ext cx="10973" cy="356616"/>
          </a:xfrm>
          <a:prstGeom prst="rect">
            <a:avLst/>
          </a:prstGeom>
          <a:solidFill>
            <a:schemeClr val="accent3"/>
          </a:solidFill>
          <a:ln/>
        </p:spPr>
      </p:sp>
      <p:sp>
        <p:nvSpPr>
          <p:cNvPr id="119" name="Predictive-adaptive sample 7"/>
          <p:cNvSpPr/>
          <p:nvPr/>
        </p:nvSpPr>
        <p:spPr>
          <a:xfrm>
            <a:off x="9069934" y="4142232"/>
            <a:ext cx="10973" cy="356616"/>
          </a:xfrm>
          <a:prstGeom prst="rect">
            <a:avLst/>
          </a:prstGeom>
          <a:solidFill>
            <a:schemeClr val="accent3"/>
          </a:solidFill>
          <a:ln/>
        </p:spPr>
      </p:sp>
      <p:sp>
        <p:nvSpPr>
          <p:cNvPr id="120" name="Predictive-adaptive sample 8"/>
          <p:cNvSpPr/>
          <p:nvPr/>
        </p:nvSpPr>
        <p:spPr>
          <a:xfrm>
            <a:off x="9190634" y="4142232"/>
            <a:ext cx="10973" cy="356616"/>
          </a:xfrm>
          <a:prstGeom prst="rect">
            <a:avLst/>
          </a:prstGeom>
          <a:solidFill>
            <a:schemeClr val="accent3"/>
          </a:solidFill>
          <a:ln/>
        </p:spPr>
      </p:sp>
      <p:sp>
        <p:nvSpPr>
          <p:cNvPr id="121" name="Predictive-adaptive sample 9"/>
          <p:cNvSpPr/>
          <p:nvPr/>
        </p:nvSpPr>
        <p:spPr>
          <a:xfrm>
            <a:off x="9311335" y="4142232"/>
            <a:ext cx="10973" cy="356616"/>
          </a:xfrm>
          <a:prstGeom prst="rect">
            <a:avLst/>
          </a:prstGeom>
          <a:solidFill>
            <a:schemeClr val="accent3"/>
          </a:solidFill>
          <a:ln/>
        </p:spPr>
      </p:sp>
      <p:sp>
        <p:nvSpPr>
          <p:cNvPr id="122" name="Predictive-adaptive sample 10"/>
          <p:cNvSpPr/>
          <p:nvPr/>
        </p:nvSpPr>
        <p:spPr>
          <a:xfrm>
            <a:off x="9432036" y="4142232"/>
            <a:ext cx="10973" cy="356616"/>
          </a:xfrm>
          <a:prstGeom prst="rect">
            <a:avLst/>
          </a:prstGeom>
          <a:solidFill>
            <a:schemeClr val="accent3"/>
          </a:solidFill>
          <a:ln/>
        </p:spPr>
      </p:sp>
      <p:sp>
        <p:nvSpPr>
          <p:cNvPr id="123" name="Predictive-adaptive sample 11"/>
          <p:cNvSpPr/>
          <p:nvPr/>
        </p:nvSpPr>
        <p:spPr>
          <a:xfrm>
            <a:off x="9552737" y="4142232"/>
            <a:ext cx="10973" cy="356616"/>
          </a:xfrm>
          <a:prstGeom prst="rect">
            <a:avLst/>
          </a:prstGeom>
          <a:solidFill>
            <a:schemeClr val="accent3"/>
          </a:solidFill>
          <a:ln/>
        </p:spPr>
      </p:sp>
      <p:sp>
        <p:nvSpPr>
          <p:cNvPr id="124" name="Predictive-adaptive sample 12"/>
          <p:cNvSpPr/>
          <p:nvPr/>
        </p:nvSpPr>
        <p:spPr>
          <a:xfrm>
            <a:off x="9673438" y="4142232"/>
            <a:ext cx="10973" cy="356616"/>
          </a:xfrm>
          <a:prstGeom prst="rect">
            <a:avLst/>
          </a:prstGeom>
          <a:solidFill>
            <a:schemeClr val="accent3"/>
          </a:solidFill>
          <a:ln/>
        </p:spPr>
      </p:sp>
      <p:sp>
        <p:nvSpPr>
          <p:cNvPr id="125" name="Predictive-adaptive sample 13"/>
          <p:cNvSpPr/>
          <p:nvPr/>
        </p:nvSpPr>
        <p:spPr>
          <a:xfrm>
            <a:off x="9794138" y="4142232"/>
            <a:ext cx="10973" cy="356616"/>
          </a:xfrm>
          <a:prstGeom prst="rect">
            <a:avLst/>
          </a:prstGeom>
          <a:solidFill>
            <a:schemeClr val="accent3"/>
          </a:solidFill>
          <a:ln/>
        </p:spPr>
      </p:sp>
      <p:sp>
        <p:nvSpPr>
          <p:cNvPr id="126" name="Predictive-adaptive sample 14"/>
          <p:cNvSpPr/>
          <p:nvPr/>
        </p:nvSpPr>
        <p:spPr>
          <a:xfrm>
            <a:off x="9809226" y="4142232"/>
            <a:ext cx="10973" cy="356616"/>
          </a:xfrm>
          <a:prstGeom prst="rect">
            <a:avLst/>
          </a:prstGeom>
          <a:solidFill>
            <a:schemeClr val="accent3"/>
          </a:solidFill>
          <a:ln/>
        </p:spPr>
      </p:sp>
      <p:sp>
        <p:nvSpPr>
          <p:cNvPr id="127" name="Predictive-adaptive sample 15"/>
          <p:cNvSpPr/>
          <p:nvPr/>
        </p:nvSpPr>
        <p:spPr>
          <a:xfrm>
            <a:off x="9824314" y="4142232"/>
            <a:ext cx="10973" cy="356616"/>
          </a:xfrm>
          <a:prstGeom prst="rect">
            <a:avLst/>
          </a:prstGeom>
          <a:solidFill>
            <a:schemeClr val="accent3"/>
          </a:solidFill>
          <a:ln/>
        </p:spPr>
      </p:sp>
      <p:sp>
        <p:nvSpPr>
          <p:cNvPr id="128" name="Predictive-adaptive sample 16"/>
          <p:cNvSpPr/>
          <p:nvPr/>
        </p:nvSpPr>
        <p:spPr>
          <a:xfrm>
            <a:off x="9839401" y="4142232"/>
            <a:ext cx="10973" cy="356616"/>
          </a:xfrm>
          <a:prstGeom prst="rect">
            <a:avLst/>
          </a:prstGeom>
          <a:solidFill>
            <a:schemeClr val="accent3"/>
          </a:solidFill>
          <a:ln/>
        </p:spPr>
      </p:sp>
      <p:sp>
        <p:nvSpPr>
          <p:cNvPr id="129" name="Predictive-adaptive sample 17"/>
          <p:cNvSpPr/>
          <p:nvPr/>
        </p:nvSpPr>
        <p:spPr>
          <a:xfrm>
            <a:off x="9854489" y="4142232"/>
            <a:ext cx="10973" cy="356616"/>
          </a:xfrm>
          <a:prstGeom prst="rect">
            <a:avLst/>
          </a:prstGeom>
          <a:solidFill>
            <a:schemeClr val="accent3"/>
          </a:solidFill>
          <a:ln/>
        </p:spPr>
      </p:sp>
      <p:sp>
        <p:nvSpPr>
          <p:cNvPr id="130" name="Predictive-adaptive sample 18"/>
          <p:cNvSpPr/>
          <p:nvPr/>
        </p:nvSpPr>
        <p:spPr>
          <a:xfrm>
            <a:off x="9869576" y="4142232"/>
            <a:ext cx="10973" cy="356616"/>
          </a:xfrm>
          <a:prstGeom prst="rect">
            <a:avLst/>
          </a:prstGeom>
          <a:solidFill>
            <a:schemeClr val="accent3"/>
          </a:solidFill>
          <a:ln/>
        </p:spPr>
      </p:sp>
      <p:sp>
        <p:nvSpPr>
          <p:cNvPr id="131" name="Predictive-adaptive sample 19"/>
          <p:cNvSpPr/>
          <p:nvPr/>
        </p:nvSpPr>
        <p:spPr>
          <a:xfrm>
            <a:off x="9884664" y="4142232"/>
            <a:ext cx="10973" cy="356616"/>
          </a:xfrm>
          <a:prstGeom prst="rect">
            <a:avLst/>
          </a:prstGeom>
          <a:solidFill>
            <a:schemeClr val="accent3"/>
          </a:solidFill>
          <a:ln/>
        </p:spPr>
      </p:sp>
      <p:sp>
        <p:nvSpPr>
          <p:cNvPr id="132" name="Predictive-adaptive sample 20"/>
          <p:cNvSpPr/>
          <p:nvPr/>
        </p:nvSpPr>
        <p:spPr>
          <a:xfrm>
            <a:off x="9899752" y="4142232"/>
            <a:ext cx="10973" cy="356616"/>
          </a:xfrm>
          <a:prstGeom prst="rect">
            <a:avLst/>
          </a:prstGeom>
          <a:solidFill>
            <a:schemeClr val="accent3"/>
          </a:solidFill>
          <a:ln/>
        </p:spPr>
      </p:sp>
      <p:sp>
        <p:nvSpPr>
          <p:cNvPr id="133" name="Predictive-adaptive sample 21"/>
          <p:cNvSpPr/>
          <p:nvPr/>
        </p:nvSpPr>
        <p:spPr>
          <a:xfrm>
            <a:off x="9914839" y="4142232"/>
            <a:ext cx="10973" cy="356616"/>
          </a:xfrm>
          <a:prstGeom prst="rect">
            <a:avLst/>
          </a:prstGeom>
          <a:solidFill>
            <a:schemeClr val="accent3"/>
          </a:solidFill>
          <a:ln/>
        </p:spPr>
      </p:sp>
      <p:sp>
        <p:nvSpPr>
          <p:cNvPr id="134" name="Predictive-adaptive sample 22"/>
          <p:cNvSpPr/>
          <p:nvPr/>
        </p:nvSpPr>
        <p:spPr>
          <a:xfrm>
            <a:off x="9929927" y="4142232"/>
            <a:ext cx="10973" cy="356616"/>
          </a:xfrm>
          <a:prstGeom prst="rect">
            <a:avLst/>
          </a:prstGeom>
          <a:solidFill>
            <a:schemeClr val="accent3"/>
          </a:solidFill>
          <a:ln/>
        </p:spPr>
      </p:sp>
      <p:sp>
        <p:nvSpPr>
          <p:cNvPr id="135" name="Predictive-adaptive sample 23"/>
          <p:cNvSpPr/>
          <p:nvPr/>
        </p:nvSpPr>
        <p:spPr>
          <a:xfrm>
            <a:off x="9945014" y="4142232"/>
            <a:ext cx="10973" cy="356616"/>
          </a:xfrm>
          <a:prstGeom prst="rect">
            <a:avLst/>
          </a:prstGeom>
          <a:solidFill>
            <a:schemeClr val="accent3"/>
          </a:solidFill>
          <a:ln/>
        </p:spPr>
      </p:sp>
      <p:sp>
        <p:nvSpPr>
          <p:cNvPr id="136" name="Predictive-adaptive sample 24"/>
          <p:cNvSpPr/>
          <p:nvPr/>
        </p:nvSpPr>
        <p:spPr>
          <a:xfrm>
            <a:off x="9960102" y="4142232"/>
            <a:ext cx="10973" cy="356616"/>
          </a:xfrm>
          <a:prstGeom prst="rect">
            <a:avLst/>
          </a:prstGeom>
          <a:solidFill>
            <a:schemeClr val="accent3"/>
          </a:solidFill>
          <a:ln/>
        </p:spPr>
      </p:sp>
      <p:sp>
        <p:nvSpPr>
          <p:cNvPr id="137" name="Predictive-adaptive sample 25"/>
          <p:cNvSpPr/>
          <p:nvPr/>
        </p:nvSpPr>
        <p:spPr>
          <a:xfrm>
            <a:off x="9975190" y="4142232"/>
            <a:ext cx="10973" cy="356616"/>
          </a:xfrm>
          <a:prstGeom prst="rect">
            <a:avLst/>
          </a:prstGeom>
          <a:solidFill>
            <a:schemeClr val="accent3"/>
          </a:solidFill>
          <a:ln/>
        </p:spPr>
      </p:sp>
      <p:sp>
        <p:nvSpPr>
          <p:cNvPr id="138" name="Predictive-adaptive sample 26"/>
          <p:cNvSpPr/>
          <p:nvPr/>
        </p:nvSpPr>
        <p:spPr>
          <a:xfrm>
            <a:off x="9990277" y="4142232"/>
            <a:ext cx="10973" cy="356616"/>
          </a:xfrm>
          <a:prstGeom prst="rect">
            <a:avLst/>
          </a:prstGeom>
          <a:solidFill>
            <a:schemeClr val="accent3"/>
          </a:solidFill>
          <a:ln/>
        </p:spPr>
      </p:sp>
      <p:sp>
        <p:nvSpPr>
          <p:cNvPr id="139" name="Predictive-adaptive sample 27"/>
          <p:cNvSpPr/>
          <p:nvPr/>
        </p:nvSpPr>
        <p:spPr>
          <a:xfrm>
            <a:off x="10005365" y="4142232"/>
            <a:ext cx="10973" cy="356616"/>
          </a:xfrm>
          <a:prstGeom prst="rect">
            <a:avLst/>
          </a:prstGeom>
          <a:solidFill>
            <a:schemeClr val="accent3"/>
          </a:solidFill>
          <a:ln/>
        </p:spPr>
      </p:sp>
      <p:sp>
        <p:nvSpPr>
          <p:cNvPr id="140" name="Predictive-adaptive sample 28"/>
          <p:cNvSpPr/>
          <p:nvPr/>
        </p:nvSpPr>
        <p:spPr>
          <a:xfrm>
            <a:off x="10020452" y="4142232"/>
            <a:ext cx="10973" cy="356616"/>
          </a:xfrm>
          <a:prstGeom prst="rect">
            <a:avLst/>
          </a:prstGeom>
          <a:solidFill>
            <a:schemeClr val="accent3"/>
          </a:solidFill>
          <a:ln/>
        </p:spPr>
      </p:sp>
      <p:sp>
        <p:nvSpPr>
          <p:cNvPr id="141" name="Predictive-adaptive sample 29"/>
          <p:cNvSpPr/>
          <p:nvPr/>
        </p:nvSpPr>
        <p:spPr>
          <a:xfrm>
            <a:off x="10035540" y="4142232"/>
            <a:ext cx="10973" cy="356616"/>
          </a:xfrm>
          <a:prstGeom prst="rect">
            <a:avLst/>
          </a:prstGeom>
          <a:solidFill>
            <a:schemeClr val="accent3"/>
          </a:solidFill>
          <a:ln/>
        </p:spPr>
      </p:sp>
      <p:sp>
        <p:nvSpPr>
          <p:cNvPr id="142" name="Predictive-adaptive sample 30"/>
          <p:cNvSpPr/>
          <p:nvPr/>
        </p:nvSpPr>
        <p:spPr>
          <a:xfrm>
            <a:off x="10050628" y="4142232"/>
            <a:ext cx="10973" cy="356616"/>
          </a:xfrm>
          <a:prstGeom prst="rect">
            <a:avLst/>
          </a:prstGeom>
          <a:solidFill>
            <a:schemeClr val="accent3"/>
          </a:solidFill>
          <a:ln/>
        </p:spPr>
      </p:sp>
      <p:sp>
        <p:nvSpPr>
          <p:cNvPr id="143" name="Predictive-adaptive sample 31"/>
          <p:cNvSpPr/>
          <p:nvPr/>
        </p:nvSpPr>
        <p:spPr>
          <a:xfrm>
            <a:off x="10065715" y="4142232"/>
            <a:ext cx="10973" cy="356616"/>
          </a:xfrm>
          <a:prstGeom prst="rect">
            <a:avLst/>
          </a:prstGeom>
          <a:solidFill>
            <a:schemeClr val="accent3"/>
          </a:solidFill>
          <a:ln/>
        </p:spPr>
      </p:sp>
      <p:sp>
        <p:nvSpPr>
          <p:cNvPr id="144" name="Predictive-adaptive sample 32"/>
          <p:cNvSpPr/>
          <p:nvPr/>
        </p:nvSpPr>
        <p:spPr>
          <a:xfrm>
            <a:off x="10080803" y="4142232"/>
            <a:ext cx="10973" cy="356616"/>
          </a:xfrm>
          <a:prstGeom prst="rect">
            <a:avLst/>
          </a:prstGeom>
          <a:solidFill>
            <a:schemeClr val="accent3"/>
          </a:solidFill>
          <a:ln/>
        </p:spPr>
      </p:sp>
      <p:sp>
        <p:nvSpPr>
          <p:cNvPr id="145" name="Predictive-adaptive sample 33"/>
          <p:cNvSpPr/>
          <p:nvPr/>
        </p:nvSpPr>
        <p:spPr>
          <a:xfrm>
            <a:off x="10095890" y="4142232"/>
            <a:ext cx="10973" cy="356616"/>
          </a:xfrm>
          <a:prstGeom prst="rect">
            <a:avLst/>
          </a:prstGeom>
          <a:solidFill>
            <a:schemeClr val="accent3"/>
          </a:solidFill>
          <a:ln/>
        </p:spPr>
      </p:sp>
      <p:sp>
        <p:nvSpPr>
          <p:cNvPr id="146" name="Predictive-adaptive sample 34"/>
          <p:cNvSpPr/>
          <p:nvPr/>
        </p:nvSpPr>
        <p:spPr>
          <a:xfrm>
            <a:off x="10110978" y="4142232"/>
            <a:ext cx="10973" cy="356616"/>
          </a:xfrm>
          <a:prstGeom prst="rect">
            <a:avLst/>
          </a:prstGeom>
          <a:solidFill>
            <a:schemeClr val="accent3"/>
          </a:solidFill>
          <a:ln/>
        </p:spPr>
      </p:sp>
      <p:sp>
        <p:nvSpPr>
          <p:cNvPr id="147" name="Predictive-adaptive sample 35"/>
          <p:cNvSpPr/>
          <p:nvPr/>
        </p:nvSpPr>
        <p:spPr>
          <a:xfrm>
            <a:off x="10126066" y="4142232"/>
            <a:ext cx="10973" cy="356616"/>
          </a:xfrm>
          <a:prstGeom prst="rect">
            <a:avLst/>
          </a:prstGeom>
          <a:solidFill>
            <a:schemeClr val="accent3"/>
          </a:solidFill>
          <a:ln/>
        </p:spPr>
      </p:sp>
      <p:sp>
        <p:nvSpPr>
          <p:cNvPr id="148" name="Predictive-adaptive sample 36"/>
          <p:cNvSpPr/>
          <p:nvPr/>
        </p:nvSpPr>
        <p:spPr>
          <a:xfrm>
            <a:off x="10141153" y="4142232"/>
            <a:ext cx="10973" cy="356616"/>
          </a:xfrm>
          <a:prstGeom prst="rect">
            <a:avLst/>
          </a:prstGeom>
          <a:solidFill>
            <a:schemeClr val="accent3"/>
          </a:solidFill>
          <a:ln/>
        </p:spPr>
      </p:sp>
      <p:sp>
        <p:nvSpPr>
          <p:cNvPr id="149" name="Predictive-adaptive sample 37"/>
          <p:cNvSpPr/>
          <p:nvPr/>
        </p:nvSpPr>
        <p:spPr>
          <a:xfrm>
            <a:off x="10156241" y="4142232"/>
            <a:ext cx="10973" cy="356616"/>
          </a:xfrm>
          <a:prstGeom prst="rect">
            <a:avLst/>
          </a:prstGeom>
          <a:solidFill>
            <a:schemeClr val="accent3"/>
          </a:solidFill>
          <a:ln/>
        </p:spPr>
      </p:sp>
      <p:sp>
        <p:nvSpPr>
          <p:cNvPr id="150" name="Predictive-adaptive sample 38"/>
          <p:cNvSpPr/>
          <p:nvPr/>
        </p:nvSpPr>
        <p:spPr>
          <a:xfrm>
            <a:off x="10171328" y="4142232"/>
            <a:ext cx="10973" cy="356616"/>
          </a:xfrm>
          <a:prstGeom prst="rect">
            <a:avLst/>
          </a:prstGeom>
          <a:solidFill>
            <a:schemeClr val="accent3"/>
          </a:solidFill>
          <a:ln/>
        </p:spPr>
      </p:sp>
      <p:sp>
        <p:nvSpPr>
          <p:cNvPr id="151" name="Predictive-adaptive sample 39"/>
          <p:cNvSpPr/>
          <p:nvPr/>
        </p:nvSpPr>
        <p:spPr>
          <a:xfrm>
            <a:off x="10186416" y="4142232"/>
            <a:ext cx="10973" cy="356616"/>
          </a:xfrm>
          <a:prstGeom prst="rect">
            <a:avLst/>
          </a:prstGeom>
          <a:solidFill>
            <a:schemeClr val="accent3"/>
          </a:solidFill>
          <a:ln/>
        </p:spPr>
      </p:sp>
      <p:sp>
        <p:nvSpPr>
          <p:cNvPr id="152" name="Predictive-adaptive sample 40"/>
          <p:cNvSpPr/>
          <p:nvPr/>
        </p:nvSpPr>
        <p:spPr>
          <a:xfrm>
            <a:off x="10201504" y="4142232"/>
            <a:ext cx="10973" cy="356616"/>
          </a:xfrm>
          <a:prstGeom prst="rect">
            <a:avLst/>
          </a:prstGeom>
          <a:solidFill>
            <a:schemeClr val="accent3"/>
          </a:solidFill>
          <a:ln/>
        </p:spPr>
      </p:sp>
      <p:sp>
        <p:nvSpPr>
          <p:cNvPr id="153" name="Predictive-adaptive sample 41"/>
          <p:cNvSpPr/>
          <p:nvPr/>
        </p:nvSpPr>
        <p:spPr>
          <a:xfrm>
            <a:off x="10216591" y="4142232"/>
            <a:ext cx="10973" cy="356616"/>
          </a:xfrm>
          <a:prstGeom prst="rect">
            <a:avLst/>
          </a:prstGeom>
          <a:solidFill>
            <a:schemeClr val="accent3"/>
          </a:solidFill>
          <a:ln/>
        </p:spPr>
      </p:sp>
      <p:sp>
        <p:nvSpPr>
          <p:cNvPr id="154" name="Predictive-adaptive sample 42"/>
          <p:cNvSpPr/>
          <p:nvPr/>
        </p:nvSpPr>
        <p:spPr>
          <a:xfrm>
            <a:off x="10231679" y="4142232"/>
            <a:ext cx="10973" cy="356616"/>
          </a:xfrm>
          <a:prstGeom prst="rect">
            <a:avLst/>
          </a:prstGeom>
          <a:solidFill>
            <a:schemeClr val="accent3"/>
          </a:solidFill>
          <a:ln/>
        </p:spPr>
      </p:sp>
      <p:sp>
        <p:nvSpPr>
          <p:cNvPr id="155" name="Predictive-adaptive sample 43"/>
          <p:cNvSpPr/>
          <p:nvPr/>
        </p:nvSpPr>
        <p:spPr>
          <a:xfrm>
            <a:off x="10246766" y="4142232"/>
            <a:ext cx="10973" cy="356616"/>
          </a:xfrm>
          <a:prstGeom prst="rect">
            <a:avLst/>
          </a:prstGeom>
          <a:solidFill>
            <a:schemeClr val="accent3"/>
          </a:solidFill>
          <a:ln/>
        </p:spPr>
      </p:sp>
      <p:sp>
        <p:nvSpPr>
          <p:cNvPr id="156" name="Predictive-adaptive sample 44"/>
          <p:cNvSpPr/>
          <p:nvPr/>
        </p:nvSpPr>
        <p:spPr>
          <a:xfrm>
            <a:off x="10261854" y="4142232"/>
            <a:ext cx="10973" cy="356616"/>
          </a:xfrm>
          <a:prstGeom prst="rect">
            <a:avLst/>
          </a:prstGeom>
          <a:solidFill>
            <a:schemeClr val="accent3"/>
          </a:solidFill>
          <a:ln/>
        </p:spPr>
      </p:sp>
      <p:sp>
        <p:nvSpPr>
          <p:cNvPr id="157" name="Predictive-adaptive sample 45"/>
          <p:cNvSpPr/>
          <p:nvPr/>
        </p:nvSpPr>
        <p:spPr>
          <a:xfrm>
            <a:off x="10276942" y="4142232"/>
            <a:ext cx="10973" cy="356616"/>
          </a:xfrm>
          <a:prstGeom prst="rect">
            <a:avLst/>
          </a:prstGeom>
          <a:solidFill>
            <a:schemeClr val="accent3"/>
          </a:solidFill>
          <a:ln/>
        </p:spPr>
      </p:sp>
      <p:sp>
        <p:nvSpPr>
          <p:cNvPr id="158" name="Predictive-adaptive sample 46"/>
          <p:cNvSpPr/>
          <p:nvPr/>
        </p:nvSpPr>
        <p:spPr>
          <a:xfrm>
            <a:off x="10292029" y="4142232"/>
            <a:ext cx="10973" cy="356616"/>
          </a:xfrm>
          <a:prstGeom prst="rect">
            <a:avLst/>
          </a:prstGeom>
          <a:solidFill>
            <a:schemeClr val="accent3"/>
          </a:solidFill>
          <a:ln/>
        </p:spPr>
      </p:sp>
      <p:sp>
        <p:nvSpPr>
          <p:cNvPr id="159" name="Predictive-adaptive sample 47"/>
          <p:cNvSpPr/>
          <p:nvPr/>
        </p:nvSpPr>
        <p:spPr>
          <a:xfrm>
            <a:off x="10307117" y="4142232"/>
            <a:ext cx="10973" cy="356616"/>
          </a:xfrm>
          <a:prstGeom prst="rect">
            <a:avLst/>
          </a:prstGeom>
          <a:solidFill>
            <a:schemeClr val="accent3"/>
          </a:solidFill>
          <a:ln/>
        </p:spPr>
      </p:sp>
      <p:sp>
        <p:nvSpPr>
          <p:cNvPr id="160" name="Predictive-adaptive sample 48"/>
          <p:cNvSpPr/>
          <p:nvPr/>
        </p:nvSpPr>
        <p:spPr>
          <a:xfrm>
            <a:off x="10322204" y="4142232"/>
            <a:ext cx="10973" cy="356616"/>
          </a:xfrm>
          <a:prstGeom prst="rect">
            <a:avLst/>
          </a:prstGeom>
          <a:solidFill>
            <a:schemeClr val="accent3"/>
          </a:solidFill>
          <a:ln/>
        </p:spPr>
      </p:sp>
      <p:sp>
        <p:nvSpPr>
          <p:cNvPr id="161" name="Predictive-adaptive sample 49"/>
          <p:cNvSpPr/>
          <p:nvPr/>
        </p:nvSpPr>
        <p:spPr>
          <a:xfrm>
            <a:off x="10337292" y="4142232"/>
            <a:ext cx="10973" cy="356616"/>
          </a:xfrm>
          <a:prstGeom prst="rect">
            <a:avLst/>
          </a:prstGeom>
          <a:solidFill>
            <a:schemeClr val="accent3"/>
          </a:solidFill>
          <a:ln/>
        </p:spPr>
      </p:sp>
      <p:sp>
        <p:nvSpPr>
          <p:cNvPr id="162" name="Predictive-adaptive sample 50"/>
          <p:cNvSpPr/>
          <p:nvPr/>
        </p:nvSpPr>
        <p:spPr>
          <a:xfrm>
            <a:off x="10352380" y="4142232"/>
            <a:ext cx="10973" cy="356616"/>
          </a:xfrm>
          <a:prstGeom prst="rect">
            <a:avLst/>
          </a:prstGeom>
          <a:solidFill>
            <a:schemeClr val="accent3"/>
          </a:solidFill>
          <a:ln/>
        </p:spPr>
      </p:sp>
      <p:sp>
        <p:nvSpPr>
          <p:cNvPr id="163" name="Predictive-adaptive sample 51"/>
          <p:cNvSpPr/>
          <p:nvPr/>
        </p:nvSpPr>
        <p:spPr>
          <a:xfrm>
            <a:off x="10367467" y="4142232"/>
            <a:ext cx="10973" cy="356616"/>
          </a:xfrm>
          <a:prstGeom prst="rect">
            <a:avLst/>
          </a:prstGeom>
          <a:solidFill>
            <a:schemeClr val="accent3"/>
          </a:solidFill>
          <a:ln/>
        </p:spPr>
      </p:sp>
      <p:sp>
        <p:nvSpPr>
          <p:cNvPr id="164" name="Predictive-adaptive sample 52"/>
          <p:cNvSpPr/>
          <p:nvPr/>
        </p:nvSpPr>
        <p:spPr>
          <a:xfrm>
            <a:off x="10382555" y="4142232"/>
            <a:ext cx="10973" cy="356616"/>
          </a:xfrm>
          <a:prstGeom prst="rect">
            <a:avLst/>
          </a:prstGeom>
          <a:solidFill>
            <a:schemeClr val="accent3"/>
          </a:solidFill>
          <a:ln/>
        </p:spPr>
      </p:sp>
      <p:sp>
        <p:nvSpPr>
          <p:cNvPr id="165" name="Predictive-adaptive sample 53"/>
          <p:cNvSpPr/>
          <p:nvPr/>
        </p:nvSpPr>
        <p:spPr>
          <a:xfrm>
            <a:off x="10397642" y="4142232"/>
            <a:ext cx="10973" cy="356616"/>
          </a:xfrm>
          <a:prstGeom prst="rect">
            <a:avLst/>
          </a:prstGeom>
          <a:solidFill>
            <a:schemeClr val="accent3"/>
          </a:solidFill>
          <a:ln/>
        </p:spPr>
      </p:sp>
      <p:sp>
        <p:nvSpPr>
          <p:cNvPr id="166" name="Predictive-adaptive sample 54"/>
          <p:cNvSpPr/>
          <p:nvPr/>
        </p:nvSpPr>
        <p:spPr>
          <a:xfrm>
            <a:off x="10412730" y="4142232"/>
            <a:ext cx="10973" cy="356616"/>
          </a:xfrm>
          <a:prstGeom prst="rect">
            <a:avLst/>
          </a:prstGeom>
          <a:solidFill>
            <a:schemeClr val="accent3"/>
          </a:solidFill>
          <a:ln/>
        </p:spPr>
      </p:sp>
      <p:sp>
        <p:nvSpPr>
          <p:cNvPr id="167" name="Predictive-adaptive sample 55"/>
          <p:cNvSpPr/>
          <p:nvPr/>
        </p:nvSpPr>
        <p:spPr>
          <a:xfrm>
            <a:off x="10427818" y="4142232"/>
            <a:ext cx="10973" cy="356616"/>
          </a:xfrm>
          <a:prstGeom prst="rect">
            <a:avLst/>
          </a:prstGeom>
          <a:solidFill>
            <a:schemeClr val="accent3"/>
          </a:solidFill>
          <a:ln/>
        </p:spPr>
      </p:sp>
      <p:sp>
        <p:nvSpPr>
          <p:cNvPr id="168" name="Predictive-adaptive sample 56"/>
          <p:cNvSpPr/>
          <p:nvPr/>
        </p:nvSpPr>
        <p:spPr>
          <a:xfrm>
            <a:off x="10442905" y="4142232"/>
            <a:ext cx="10973" cy="356616"/>
          </a:xfrm>
          <a:prstGeom prst="rect">
            <a:avLst/>
          </a:prstGeom>
          <a:solidFill>
            <a:schemeClr val="accent3"/>
          </a:solidFill>
          <a:ln/>
        </p:spPr>
      </p:sp>
      <p:sp>
        <p:nvSpPr>
          <p:cNvPr id="169" name="Predictive-adaptive sample 57"/>
          <p:cNvSpPr/>
          <p:nvPr/>
        </p:nvSpPr>
        <p:spPr>
          <a:xfrm>
            <a:off x="10457993" y="4142232"/>
            <a:ext cx="10973" cy="356616"/>
          </a:xfrm>
          <a:prstGeom prst="rect">
            <a:avLst/>
          </a:prstGeom>
          <a:solidFill>
            <a:schemeClr val="accent3"/>
          </a:solidFill>
          <a:ln/>
        </p:spPr>
      </p:sp>
      <p:sp>
        <p:nvSpPr>
          <p:cNvPr id="170" name="Predictive-adaptive sample 58"/>
          <p:cNvSpPr/>
          <p:nvPr/>
        </p:nvSpPr>
        <p:spPr>
          <a:xfrm>
            <a:off x="10473080" y="4142232"/>
            <a:ext cx="10973" cy="356616"/>
          </a:xfrm>
          <a:prstGeom prst="rect">
            <a:avLst/>
          </a:prstGeom>
          <a:solidFill>
            <a:schemeClr val="accent3"/>
          </a:solidFill>
          <a:ln/>
        </p:spPr>
      </p:sp>
      <p:sp>
        <p:nvSpPr>
          <p:cNvPr id="171" name="Predictive-adaptive sample 59"/>
          <p:cNvSpPr/>
          <p:nvPr/>
        </p:nvSpPr>
        <p:spPr>
          <a:xfrm>
            <a:off x="10593781" y="4142232"/>
            <a:ext cx="10973" cy="356616"/>
          </a:xfrm>
          <a:prstGeom prst="rect">
            <a:avLst/>
          </a:prstGeom>
          <a:solidFill>
            <a:schemeClr val="accent3"/>
          </a:solidFill>
          <a:ln/>
        </p:spPr>
      </p:sp>
      <p:sp>
        <p:nvSpPr>
          <p:cNvPr id="172" name="Predictive-adaptive sample 60"/>
          <p:cNvSpPr/>
          <p:nvPr/>
        </p:nvSpPr>
        <p:spPr>
          <a:xfrm>
            <a:off x="10714482" y="4142232"/>
            <a:ext cx="10973" cy="356616"/>
          </a:xfrm>
          <a:prstGeom prst="rect">
            <a:avLst/>
          </a:prstGeom>
          <a:solidFill>
            <a:schemeClr val="accent3"/>
          </a:solidFill>
          <a:ln/>
        </p:spPr>
      </p:sp>
      <p:sp>
        <p:nvSpPr>
          <p:cNvPr id="173" name="Predictive-adaptive sample 61"/>
          <p:cNvSpPr/>
          <p:nvPr/>
        </p:nvSpPr>
        <p:spPr>
          <a:xfrm>
            <a:off x="10835183" y="4142232"/>
            <a:ext cx="10973" cy="356616"/>
          </a:xfrm>
          <a:prstGeom prst="rect">
            <a:avLst/>
          </a:prstGeom>
          <a:solidFill>
            <a:schemeClr val="accent3"/>
          </a:solidFill>
          <a:ln/>
        </p:spPr>
      </p:sp>
      <p:sp>
        <p:nvSpPr>
          <p:cNvPr id="174" name="Predictive-adaptive sample 62"/>
          <p:cNvSpPr/>
          <p:nvPr/>
        </p:nvSpPr>
        <p:spPr>
          <a:xfrm>
            <a:off x="10955884" y="4142232"/>
            <a:ext cx="10973" cy="356616"/>
          </a:xfrm>
          <a:prstGeom prst="rect">
            <a:avLst/>
          </a:prstGeom>
          <a:solidFill>
            <a:schemeClr val="accent3"/>
          </a:solidFill>
          <a:ln/>
        </p:spPr>
      </p:sp>
      <p:sp>
        <p:nvSpPr>
          <p:cNvPr id="175" name="Predictive-adaptive sample 63"/>
          <p:cNvSpPr/>
          <p:nvPr/>
        </p:nvSpPr>
        <p:spPr>
          <a:xfrm>
            <a:off x="11076584" y="4142232"/>
            <a:ext cx="10973" cy="356616"/>
          </a:xfrm>
          <a:prstGeom prst="rect">
            <a:avLst/>
          </a:prstGeom>
          <a:solidFill>
            <a:schemeClr val="accent3"/>
          </a:solidFill>
          <a:ln/>
        </p:spPr>
      </p:sp>
      <p:sp>
        <p:nvSpPr>
          <p:cNvPr id="176" name="Predictive-adaptive sample 64"/>
          <p:cNvSpPr/>
          <p:nvPr/>
        </p:nvSpPr>
        <p:spPr>
          <a:xfrm>
            <a:off x="11197285" y="4142232"/>
            <a:ext cx="10973" cy="356616"/>
          </a:xfrm>
          <a:prstGeom prst="rect">
            <a:avLst/>
          </a:prstGeom>
          <a:solidFill>
            <a:schemeClr val="accent3"/>
          </a:solidFill>
          <a:ln/>
        </p:spPr>
      </p:sp>
      <p:sp>
        <p:nvSpPr>
          <p:cNvPr id="177" name="Predictive-adaptive sample 65"/>
          <p:cNvSpPr/>
          <p:nvPr/>
        </p:nvSpPr>
        <p:spPr>
          <a:xfrm>
            <a:off x="11317986" y="4142232"/>
            <a:ext cx="10973" cy="356616"/>
          </a:xfrm>
          <a:prstGeom prst="rect">
            <a:avLst/>
          </a:prstGeom>
          <a:solidFill>
            <a:schemeClr val="accent3"/>
          </a:solidFill>
          <a:ln/>
        </p:spPr>
      </p:sp>
      <p:sp>
        <p:nvSpPr>
          <p:cNvPr id="178" name="Predictive-adaptive axis 0 s"/>
          <p:cNvSpPr txBox="1"/>
          <p:nvPr/>
        </p:nvSpPr>
        <p:spPr>
          <a:xfrm>
            <a:off x="8351215" y="4617720"/>
            <a:ext cx="548640" cy="201168"/>
          </a:xfrm>
          <a:prstGeom prst="rect">
            <a:avLst/>
          </a:prstGeom>
          <a:noFill/>
          <a:ln/>
        </p:spPr>
        <p:txBody>
          <a:bodyPr wrap="square" lIns="0" tIns="0" rIns="0" bIns="0" rtlCol="0" anchor="ctr"/>
          <a:lstStyle/>
          <a:p>
            <a:pPr algn="l" indent="0" marL="0">
              <a:buNone/>
            </a:pPr>
            <a:r>
              <a:rPr lang="en-US" sz="1000" dirty="0">
                <a:solidFill>
                  <a:srgbClr val="5F727C"/>
                </a:solidFill>
              </a:rPr>
              <a:t>0 s</a:t>
            </a:r>
            <a:endParaRPr lang="en-US" sz="1000" dirty="0"/>
          </a:p>
        </p:txBody>
      </p:sp>
      <p:sp>
        <p:nvSpPr>
          <p:cNvPr id="179" name="Predictive-adaptive axis 10 s"/>
          <p:cNvSpPr txBox="1"/>
          <p:nvPr/>
        </p:nvSpPr>
        <p:spPr>
          <a:xfrm>
            <a:off x="9585655" y="4617720"/>
            <a:ext cx="548640" cy="201168"/>
          </a:xfrm>
          <a:prstGeom prst="rect">
            <a:avLst/>
          </a:prstGeom>
          <a:noFill/>
          <a:ln/>
        </p:spPr>
        <p:txBody>
          <a:bodyPr wrap="square" lIns="0" tIns="0" rIns="0" bIns="0" rtlCol="0" anchor="ctr"/>
          <a:lstStyle/>
          <a:p>
            <a:pPr algn="ctr" indent="0" marL="0">
              <a:buNone/>
            </a:pPr>
            <a:r>
              <a:rPr lang="en-US" sz="1000" dirty="0">
                <a:solidFill>
                  <a:srgbClr val="5F727C"/>
                </a:solidFill>
              </a:rPr>
              <a:t>10 s</a:t>
            </a:r>
            <a:endParaRPr lang="en-US" sz="1000" dirty="0"/>
          </a:p>
        </p:txBody>
      </p:sp>
      <p:sp>
        <p:nvSpPr>
          <p:cNvPr id="180" name="Predictive-adaptive axis 20 s"/>
          <p:cNvSpPr txBox="1"/>
          <p:nvPr/>
        </p:nvSpPr>
        <p:spPr>
          <a:xfrm>
            <a:off x="10820095" y="4617720"/>
            <a:ext cx="548640" cy="201168"/>
          </a:xfrm>
          <a:prstGeom prst="rect">
            <a:avLst/>
          </a:prstGeom>
          <a:noFill/>
          <a:ln/>
        </p:spPr>
        <p:txBody>
          <a:bodyPr wrap="square" lIns="0" tIns="0" rIns="0" bIns="0" rtlCol="0" anchor="ctr"/>
          <a:lstStyle/>
          <a:p>
            <a:pPr algn="r" indent="0" marL="0">
              <a:buNone/>
            </a:pPr>
            <a:r>
              <a:rPr lang="en-US" sz="1000" dirty="0">
                <a:solidFill>
                  <a:srgbClr val="5F727C"/>
                </a:solidFill>
              </a:rPr>
              <a:t>20 s</a:t>
            </a:r>
            <a:endParaRPr lang="en-US" sz="1000" dirty="0"/>
          </a:p>
        </p:txBody>
      </p:sp>
      <p:sp>
        <p:nvSpPr>
          <p:cNvPr id="181" name="Predictive-adaptive sample count"/>
          <p:cNvSpPr txBox="1"/>
          <p:nvPr/>
        </p:nvSpPr>
        <p:spPr>
          <a:xfrm>
            <a:off x="8351215" y="4937760"/>
            <a:ext cx="3017520" cy="411480"/>
          </a:xfrm>
          <a:prstGeom prst="rect">
            <a:avLst/>
          </a:prstGeom>
          <a:noFill/>
          <a:ln/>
        </p:spPr>
        <p:txBody>
          <a:bodyPr wrap="square" lIns="0" tIns="0" rIns="0" bIns="0" rtlCol="0" anchor="ctr"/>
          <a:lstStyle/>
          <a:p>
            <a:pPr indent="0" marL="0">
              <a:buNone/>
            </a:pPr>
            <a:r>
              <a:rPr lang="en-US" sz="2200" b="1" dirty="0">
                <a:solidFill>
                  <a:schemeClr val="tx1"/>
                </a:solidFill>
              </a:rPr>
              <a:t>65 samples</a:t>
            </a:r>
            <a:endParaRPr lang="en-US" sz="2200" dirty="0"/>
          </a:p>
        </p:txBody>
      </p:sp>
      <p:sp>
        <p:nvSpPr>
          <p:cNvPr id="182" name="Predictive-adaptive note"/>
          <p:cNvSpPr txBox="1"/>
          <p:nvPr/>
        </p:nvSpPr>
        <p:spPr>
          <a:xfrm>
            <a:off x="8351215" y="5349240"/>
            <a:ext cx="3017520" cy="548640"/>
          </a:xfrm>
          <a:prstGeom prst="rect">
            <a:avLst/>
          </a:prstGeom>
          <a:noFill/>
          <a:ln/>
        </p:spPr>
        <p:txBody>
          <a:bodyPr wrap="square" lIns="0" tIns="0" rIns="0" bIns="0" rtlCol="0" anchor="t"/>
          <a:lstStyle/>
          <a:p>
            <a:pPr indent="0" marL="0">
              <a:buNone/>
            </a:pPr>
            <a:r>
              <a:rPr lang="en-US" sz="1300" dirty="0">
                <a:solidFill>
                  <a:srgbClr val="5F727C"/>
                </a:solidFill>
              </a:rPr>
              <a:t>High rate starts 400 ms before the event starts</a:t>
            </a:r>
            <a:endParaRPr lang="en-US" sz="13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System Architecture</a:t>
            </a:r>
            <a:endParaRPr lang="en-US" sz="3600" dirty="0"/>
          </a:p>
        </p:txBody>
      </p:sp>
      <p:sp>
        <p:nvSpPr>
          <p:cNvPr id="4" name="Architecture flow card"/>
          <p:cNvSpPr/>
          <p:nvPr/>
        </p:nvSpPr>
        <p:spPr>
          <a:xfrm>
            <a:off x="548640" y="1371600"/>
            <a:ext cx="11094415" cy="2286000"/>
          </a:xfrm>
          <a:prstGeom prst="roundRect">
            <a:avLst>
              <a:gd name="adj" fmla="val 48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Flow box ESP32 node"/>
          <p:cNvSpPr/>
          <p:nvPr/>
        </p:nvSpPr>
        <p:spPr>
          <a:xfrm>
            <a:off x="868680" y="1737360"/>
            <a:ext cx="1417320" cy="1554480"/>
          </a:xfrm>
          <a:prstGeom prst="roundRect">
            <a:avLst>
              <a:gd name="adj" fmla="val 6452"/>
            </a:avLst>
          </a:prstGeom>
          <a:solidFill>
            <a:schemeClr val="accent1"/>
          </a:solidFill>
          <a:ln/>
        </p:spPr>
      </p:sp>
      <p:pic>
        <p:nvPicPr>
          <p:cNvPr id="6" name="Image 0" descr="ESP32 node icon">    </p:cNvPr>
          <p:cNvPicPr>
            <a:picLocks noChangeAspect="1"/>
          </p:cNvPicPr>
          <p:nvPr/>
        </p:nvPicPr>
        <p:blipFill>
          <a:blip r:embed="rId1"/>
          <a:stretch>
            <a:fillRect/>
          </a:stretch>
        </p:blipFill>
        <p:spPr>
          <a:xfrm>
            <a:off x="1348740" y="1920240"/>
            <a:ext cx="457200" cy="457200"/>
          </a:xfrm>
          <a:prstGeom prst="rect">
            <a:avLst/>
          </a:prstGeom>
        </p:spPr>
      </p:pic>
      <p:sp>
        <p:nvSpPr>
          <p:cNvPr id="7" name="Flow label ESP32 node"/>
          <p:cNvSpPr txBox="1"/>
          <p:nvPr/>
        </p:nvSpPr>
        <p:spPr>
          <a:xfrm>
            <a:off x="914400"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ESP32 node</a:t>
            </a:r>
            <a:endParaRPr lang="en-US" sz="1400" dirty="0"/>
          </a:p>
        </p:txBody>
      </p:sp>
      <p:sp>
        <p:nvSpPr>
          <p:cNvPr id="8" name="Flow sub ESP32 node"/>
          <p:cNvSpPr txBox="1"/>
          <p:nvPr/>
        </p:nvSpPr>
        <p:spPr>
          <a:xfrm>
            <a:off x="914400"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3 policies</a:t>
            </a:r>
            <a:endParaRPr lang="en-US" sz="1200" dirty="0"/>
          </a:p>
        </p:txBody>
      </p:sp>
      <p:sp>
        <p:nvSpPr>
          <p:cNvPr id="9" name="Flow arrow 1"/>
          <p:cNvSpPr/>
          <p:nvPr/>
        </p:nvSpPr>
        <p:spPr>
          <a:xfrm>
            <a:off x="2331720" y="2514600"/>
            <a:ext cx="298643" cy="0"/>
          </a:xfrm>
          <a:prstGeom prst="line">
            <a:avLst/>
          </a:prstGeom>
          <a:noFill/>
          <a:ln w="25400">
            <a:solidFill>
              <a:schemeClr val="tx2"/>
            </a:solidFill>
            <a:prstDash val="solid"/>
            <a:tailEnd type="triangle"/>
          </a:ln>
        </p:spPr>
      </p:sp>
      <p:sp>
        <p:nvSpPr>
          <p:cNvPr id="10" name="Flow box MQTT broker"/>
          <p:cNvSpPr/>
          <p:nvPr/>
        </p:nvSpPr>
        <p:spPr>
          <a:xfrm>
            <a:off x="2676083" y="1737360"/>
            <a:ext cx="1417320" cy="1554480"/>
          </a:xfrm>
          <a:prstGeom prst="roundRect">
            <a:avLst>
              <a:gd name="adj" fmla="val 6452"/>
            </a:avLst>
          </a:prstGeom>
          <a:solidFill>
            <a:schemeClr val="accent1"/>
          </a:solidFill>
          <a:ln/>
        </p:spPr>
      </p:sp>
      <p:pic>
        <p:nvPicPr>
          <p:cNvPr id="11" name="Image 1" descr="MQTT broker icon">    </p:cNvPr>
          <p:cNvPicPr>
            <a:picLocks noChangeAspect="1"/>
          </p:cNvPicPr>
          <p:nvPr/>
        </p:nvPicPr>
        <p:blipFill>
          <a:blip r:embed="rId2"/>
          <a:stretch>
            <a:fillRect/>
          </a:stretch>
        </p:blipFill>
        <p:spPr>
          <a:xfrm>
            <a:off x="3156143" y="1920240"/>
            <a:ext cx="457200" cy="457200"/>
          </a:xfrm>
          <a:prstGeom prst="rect">
            <a:avLst/>
          </a:prstGeom>
        </p:spPr>
      </p:pic>
      <p:sp>
        <p:nvSpPr>
          <p:cNvPr id="12" name="Flow label MQTT broker"/>
          <p:cNvSpPr txBox="1"/>
          <p:nvPr/>
        </p:nvSpPr>
        <p:spPr>
          <a:xfrm>
            <a:off x="2721803"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MQTT broker</a:t>
            </a:r>
            <a:endParaRPr lang="en-US" sz="1400" dirty="0"/>
          </a:p>
        </p:txBody>
      </p:sp>
      <p:sp>
        <p:nvSpPr>
          <p:cNvPr id="13" name="Flow sub MQTT broker"/>
          <p:cNvSpPr txBox="1"/>
          <p:nvPr/>
        </p:nvSpPr>
        <p:spPr>
          <a:xfrm>
            <a:off x="2721803"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Mosquitto</a:t>
            </a:r>
            <a:endParaRPr lang="en-US" sz="1200" dirty="0"/>
          </a:p>
        </p:txBody>
      </p:sp>
      <p:sp>
        <p:nvSpPr>
          <p:cNvPr id="14" name="Flow arrow 2"/>
          <p:cNvSpPr/>
          <p:nvPr/>
        </p:nvSpPr>
        <p:spPr>
          <a:xfrm>
            <a:off x="4139123" y="2514600"/>
            <a:ext cx="298643" cy="0"/>
          </a:xfrm>
          <a:prstGeom prst="line">
            <a:avLst/>
          </a:prstGeom>
          <a:noFill/>
          <a:ln w="25400">
            <a:solidFill>
              <a:schemeClr val="tx2"/>
            </a:solidFill>
            <a:prstDash val="solid"/>
            <a:tailEnd type="triangle"/>
          </a:ln>
        </p:spPr>
      </p:sp>
      <p:sp>
        <p:nvSpPr>
          <p:cNvPr id="15" name="Flow box Python logger"/>
          <p:cNvSpPr/>
          <p:nvPr/>
        </p:nvSpPr>
        <p:spPr>
          <a:xfrm>
            <a:off x="4483486" y="1737360"/>
            <a:ext cx="1417320" cy="1554480"/>
          </a:xfrm>
          <a:prstGeom prst="roundRect">
            <a:avLst>
              <a:gd name="adj" fmla="val 6452"/>
            </a:avLst>
          </a:prstGeom>
          <a:solidFill>
            <a:schemeClr val="accent1"/>
          </a:solidFill>
          <a:ln/>
        </p:spPr>
      </p:sp>
      <p:pic>
        <p:nvPicPr>
          <p:cNvPr id="16" name="Image 2" descr="Python logger icon">    </p:cNvPr>
          <p:cNvPicPr>
            <a:picLocks noChangeAspect="1"/>
          </p:cNvPicPr>
          <p:nvPr/>
        </p:nvPicPr>
        <p:blipFill>
          <a:blip r:embed="rId3"/>
          <a:stretch>
            <a:fillRect/>
          </a:stretch>
        </p:blipFill>
        <p:spPr>
          <a:xfrm>
            <a:off x="4963546" y="1920240"/>
            <a:ext cx="457200" cy="457200"/>
          </a:xfrm>
          <a:prstGeom prst="rect">
            <a:avLst/>
          </a:prstGeom>
        </p:spPr>
      </p:pic>
      <p:sp>
        <p:nvSpPr>
          <p:cNvPr id="17" name="Flow label Python logger"/>
          <p:cNvSpPr txBox="1"/>
          <p:nvPr/>
        </p:nvSpPr>
        <p:spPr>
          <a:xfrm>
            <a:off x="4529206"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Python logger</a:t>
            </a:r>
            <a:endParaRPr lang="en-US" sz="1400" dirty="0"/>
          </a:p>
        </p:txBody>
      </p:sp>
      <p:sp>
        <p:nvSpPr>
          <p:cNvPr id="18" name="Flow sub Python logger"/>
          <p:cNvSpPr txBox="1"/>
          <p:nvPr/>
        </p:nvSpPr>
        <p:spPr>
          <a:xfrm>
            <a:off x="4529206"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paho-mqtt</a:t>
            </a:r>
            <a:endParaRPr lang="en-US" sz="1200" dirty="0"/>
          </a:p>
        </p:txBody>
      </p:sp>
      <p:sp>
        <p:nvSpPr>
          <p:cNvPr id="19" name="Flow arrow 3"/>
          <p:cNvSpPr/>
          <p:nvPr/>
        </p:nvSpPr>
        <p:spPr>
          <a:xfrm>
            <a:off x="5946526" y="2514600"/>
            <a:ext cx="298643" cy="0"/>
          </a:xfrm>
          <a:prstGeom prst="line">
            <a:avLst/>
          </a:prstGeom>
          <a:noFill/>
          <a:ln w="25400">
            <a:solidFill>
              <a:schemeClr val="tx2"/>
            </a:solidFill>
            <a:prstDash val="solid"/>
            <a:tailEnd type="triangle"/>
          </a:ln>
        </p:spPr>
      </p:sp>
      <p:sp>
        <p:nvSpPr>
          <p:cNvPr id="20" name="Flow box MongoDB"/>
          <p:cNvSpPr/>
          <p:nvPr/>
        </p:nvSpPr>
        <p:spPr>
          <a:xfrm>
            <a:off x="6290889" y="1737360"/>
            <a:ext cx="1417320" cy="1554480"/>
          </a:xfrm>
          <a:prstGeom prst="roundRect">
            <a:avLst>
              <a:gd name="adj" fmla="val 6452"/>
            </a:avLst>
          </a:prstGeom>
          <a:solidFill>
            <a:schemeClr val="accent1"/>
          </a:solidFill>
          <a:ln/>
        </p:spPr>
      </p:sp>
      <p:pic>
        <p:nvPicPr>
          <p:cNvPr id="21" name="Image 3" descr="MongoDB icon">    </p:cNvPr>
          <p:cNvPicPr>
            <a:picLocks noChangeAspect="1"/>
          </p:cNvPicPr>
          <p:nvPr/>
        </p:nvPicPr>
        <p:blipFill>
          <a:blip r:embed="rId4"/>
          <a:stretch>
            <a:fillRect/>
          </a:stretch>
        </p:blipFill>
        <p:spPr>
          <a:xfrm>
            <a:off x="6770949" y="1920240"/>
            <a:ext cx="457200" cy="457200"/>
          </a:xfrm>
          <a:prstGeom prst="rect">
            <a:avLst/>
          </a:prstGeom>
        </p:spPr>
      </p:pic>
      <p:sp>
        <p:nvSpPr>
          <p:cNvPr id="22" name="Flow label MongoDB"/>
          <p:cNvSpPr txBox="1"/>
          <p:nvPr/>
        </p:nvSpPr>
        <p:spPr>
          <a:xfrm>
            <a:off x="6336609"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MongoDB</a:t>
            </a:r>
            <a:endParaRPr lang="en-US" sz="1400" dirty="0"/>
          </a:p>
        </p:txBody>
      </p:sp>
      <p:sp>
        <p:nvSpPr>
          <p:cNvPr id="23" name="Flow sub MongoDB"/>
          <p:cNvSpPr txBox="1"/>
          <p:nvPr/>
        </p:nvSpPr>
        <p:spPr>
          <a:xfrm>
            <a:off x="6336609"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4 collections</a:t>
            </a:r>
            <a:endParaRPr lang="en-US" sz="1200" dirty="0"/>
          </a:p>
        </p:txBody>
      </p:sp>
      <p:sp>
        <p:nvSpPr>
          <p:cNvPr id="24" name="Flow arrow 4"/>
          <p:cNvSpPr/>
          <p:nvPr/>
        </p:nvSpPr>
        <p:spPr>
          <a:xfrm>
            <a:off x="7753929" y="2514600"/>
            <a:ext cx="298643" cy="0"/>
          </a:xfrm>
          <a:prstGeom prst="line">
            <a:avLst/>
          </a:prstGeom>
          <a:noFill/>
          <a:ln w="25400">
            <a:solidFill>
              <a:schemeClr val="tx2"/>
            </a:solidFill>
            <a:prstDash val="solid"/>
            <a:tailEnd type="triangle"/>
          </a:ln>
        </p:spPr>
      </p:sp>
      <p:sp>
        <p:nvSpPr>
          <p:cNvPr id="25" name="Flow box REST API"/>
          <p:cNvSpPr/>
          <p:nvPr/>
        </p:nvSpPr>
        <p:spPr>
          <a:xfrm>
            <a:off x="8098292" y="1737360"/>
            <a:ext cx="1417320" cy="1554480"/>
          </a:xfrm>
          <a:prstGeom prst="roundRect">
            <a:avLst>
              <a:gd name="adj" fmla="val 6452"/>
            </a:avLst>
          </a:prstGeom>
          <a:solidFill>
            <a:schemeClr val="accent1"/>
          </a:solidFill>
          <a:ln/>
        </p:spPr>
      </p:sp>
      <p:pic>
        <p:nvPicPr>
          <p:cNvPr id="26" name="Image 4" descr="REST API icon">    </p:cNvPr>
          <p:cNvPicPr>
            <a:picLocks noChangeAspect="1"/>
          </p:cNvPicPr>
          <p:nvPr/>
        </p:nvPicPr>
        <p:blipFill>
          <a:blip r:embed="rId5"/>
          <a:stretch>
            <a:fillRect/>
          </a:stretch>
        </p:blipFill>
        <p:spPr>
          <a:xfrm>
            <a:off x="8578352" y="1920240"/>
            <a:ext cx="457200" cy="457200"/>
          </a:xfrm>
          <a:prstGeom prst="rect">
            <a:avLst/>
          </a:prstGeom>
        </p:spPr>
      </p:pic>
      <p:sp>
        <p:nvSpPr>
          <p:cNvPr id="27" name="Flow label REST API"/>
          <p:cNvSpPr txBox="1"/>
          <p:nvPr/>
        </p:nvSpPr>
        <p:spPr>
          <a:xfrm>
            <a:off x="8144012"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REST API</a:t>
            </a:r>
            <a:endParaRPr lang="en-US" sz="1400" dirty="0"/>
          </a:p>
        </p:txBody>
      </p:sp>
      <p:sp>
        <p:nvSpPr>
          <p:cNvPr id="28" name="Flow sub REST API"/>
          <p:cNvSpPr txBox="1"/>
          <p:nvPr/>
        </p:nvSpPr>
        <p:spPr>
          <a:xfrm>
            <a:off x="8144012"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FastAPI</a:t>
            </a:r>
            <a:endParaRPr lang="en-US" sz="1200" dirty="0"/>
          </a:p>
        </p:txBody>
      </p:sp>
      <p:sp>
        <p:nvSpPr>
          <p:cNvPr id="29" name="Flow arrow 5"/>
          <p:cNvSpPr/>
          <p:nvPr/>
        </p:nvSpPr>
        <p:spPr>
          <a:xfrm>
            <a:off x="9561332" y="2514600"/>
            <a:ext cx="298643" cy="0"/>
          </a:xfrm>
          <a:prstGeom prst="line">
            <a:avLst/>
          </a:prstGeom>
          <a:noFill/>
          <a:ln w="25400">
            <a:solidFill>
              <a:schemeClr val="tx2"/>
            </a:solidFill>
            <a:prstDash val="solid"/>
            <a:tailEnd type="triangle"/>
          </a:ln>
        </p:spPr>
      </p:sp>
      <p:sp>
        <p:nvSpPr>
          <p:cNvPr id="30" name="Flow box Dashboard"/>
          <p:cNvSpPr/>
          <p:nvPr/>
        </p:nvSpPr>
        <p:spPr>
          <a:xfrm>
            <a:off x="9905695" y="1737360"/>
            <a:ext cx="1417320" cy="1554480"/>
          </a:xfrm>
          <a:prstGeom prst="roundRect">
            <a:avLst>
              <a:gd name="adj" fmla="val 6452"/>
            </a:avLst>
          </a:prstGeom>
          <a:solidFill>
            <a:schemeClr val="accent1"/>
          </a:solidFill>
          <a:ln/>
        </p:spPr>
      </p:sp>
      <p:pic>
        <p:nvPicPr>
          <p:cNvPr id="31" name="Image 5" descr="Dashboard icon">    </p:cNvPr>
          <p:cNvPicPr>
            <a:picLocks noChangeAspect="1"/>
          </p:cNvPicPr>
          <p:nvPr/>
        </p:nvPicPr>
        <p:blipFill>
          <a:blip r:embed="rId6"/>
          <a:stretch>
            <a:fillRect/>
          </a:stretch>
        </p:blipFill>
        <p:spPr>
          <a:xfrm>
            <a:off x="10385755" y="1920240"/>
            <a:ext cx="457200" cy="457200"/>
          </a:xfrm>
          <a:prstGeom prst="rect">
            <a:avLst/>
          </a:prstGeom>
        </p:spPr>
      </p:pic>
      <p:sp>
        <p:nvSpPr>
          <p:cNvPr id="32" name="Flow label Dashboard"/>
          <p:cNvSpPr txBox="1"/>
          <p:nvPr/>
        </p:nvSpPr>
        <p:spPr>
          <a:xfrm>
            <a:off x="9951415" y="2487168"/>
            <a:ext cx="1325880" cy="365760"/>
          </a:xfrm>
          <a:prstGeom prst="rect">
            <a:avLst/>
          </a:prstGeom>
          <a:noFill/>
          <a:ln/>
        </p:spPr>
        <p:txBody>
          <a:bodyPr wrap="square" lIns="0" tIns="0" rIns="0" bIns="0" rtlCol="0" anchor="ctr"/>
          <a:lstStyle/>
          <a:p>
            <a:pPr algn="ctr" indent="0" marL="0">
              <a:buNone/>
            </a:pPr>
            <a:r>
              <a:rPr lang="en-US" sz="1400" b="1" dirty="0">
                <a:solidFill>
                  <a:schemeClr val="bg1"/>
                </a:solidFill>
              </a:rPr>
              <a:t>Dashboard</a:t>
            </a:r>
            <a:endParaRPr lang="en-US" sz="1400" dirty="0"/>
          </a:p>
        </p:txBody>
      </p:sp>
      <p:sp>
        <p:nvSpPr>
          <p:cNvPr id="33" name="Flow sub Dashboard"/>
          <p:cNvSpPr txBox="1"/>
          <p:nvPr/>
        </p:nvSpPr>
        <p:spPr>
          <a:xfrm>
            <a:off x="9951415" y="2834640"/>
            <a:ext cx="1325880" cy="320040"/>
          </a:xfrm>
          <a:prstGeom prst="rect">
            <a:avLst/>
          </a:prstGeom>
          <a:noFill/>
          <a:ln/>
        </p:spPr>
        <p:txBody>
          <a:bodyPr wrap="square" lIns="0" tIns="0" rIns="0" bIns="0" rtlCol="0" anchor="ctr"/>
          <a:lstStyle/>
          <a:p>
            <a:pPr algn="ctr" indent="0" marL="0">
              <a:buNone/>
            </a:pPr>
            <a:r>
              <a:rPr lang="en-US" sz="1200" dirty="0">
                <a:solidFill>
                  <a:srgbClr val="CBD5DB"/>
                </a:solidFill>
              </a:rPr>
              <a:t>React</a:t>
            </a:r>
            <a:endParaRPr lang="en-US" sz="1200" dirty="0"/>
          </a:p>
        </p:txBody>
      </p:sp>
      <p:sp>
        <p:nvSpPr>
          <p:cNvPr id="34" name="Architecture note 1"/>
          <p:cNvSpPr/>
          <p:nvPr/>
        </p:nvSpPr>
        <p:spPr>
          <a:xfrm>
            <a:off x="548640" y="3931920"/>
            <a:ext cx="3566160"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35" name="Architecture note 1 circle"/>
          <p:cNvSpPr/>
          <p:nvPr/>
        </p:nvSpPr>
        <p:spPr>
          <a:xfrm>
            <a:off x="822960" y="4343400"/>
            <a:ext cx="548640" cy="548640"/>
          </a:xfrm>
          <a:prstGeom prst="ellipse">
            <a:avLst/>
          </a:prstGeom>
          <a:solidFill>
            <a:schemeClr val="accent1"/>
          </a:solidFill>
          <a:ln/>
        </p:spPr>
      </p:sp>
      <p:pic>
        <p:nvPicPr>
          <p:cNvPr id="36" name="Image 6" descr="Architecture note 1 icon">    </p:cNvPr>
          <p:cNvPicPr>
            <a:picLocks noChangeAspect="1"/>
          </p:cNvPicPr>
          <p:nvPr/>
        </p:nvPicPr>
        <p:blipFill>
          <a:blip r:embed="rId7"/>
          <a:stretch>
            <a:fillRect/>
          </a:stretch>
        </p:blipFill>
        <p:spPr>
          <a:xfrm>
            <a:off x="960120" y="4480560"/>
            <a:ext cx="274320" cy="274320"/>
          </a:xfrm>
          <a:prstGeom prst="rect">
            <a:avLst/>
          </a:prstGeom>
        </p:spPr>
      </p:pic>
      <p:sp>
        <p:nvSpPr>
          <p:cNvPr id="37" name="Architecture note 1 text"/>
          <p:cNvSpPr txBox="1"/>
          <p:nvPr/>
        </p:nvSpPr>
        <p:spPr>
          <a:xfrm>
            <a:off x="1600200" y="4069080"/>
            <a:ext cx="2286000" cy="1097280"/>
          </a:xfrm>
          <a:prstGeom prst="rect">
            <a:avLst/>
          </a:prstGeom>
          <a:noFill/>
          <a:ln/>
        </p:spPr>
        <p:txBody>
          <a:bodyPr wrap="square" lIns="0" tIns="0" rIns="0" bIns="0" rtlCol="0" anchor="ctr"/>
          <a:lstStyle/>
          <a:p>
            <a:pPr indent="0" marL="0">
              <a:buNone/>
            </a:pPr>
            <a:r>
              <a:rPr lang="en-US" sz="1600" dirty="0">
                <a:solidFill>
                  <a:schemeClr val="tx1"/>
                </a:solidFill>
              </a:rPr>
              <a:t>Same hardware and logging path for all three policies</a:t>
            </a:r>
            <a:endParaRPr lang="en-US" sz="1600" dirty="0"/>
          </a:p>
        </p:txBody>
      </p:sp>
      <p:sp>
        <p:nvSpPr>
          <p:cNvPr id="38" name="Architecture note 2"/>
          <p:cNvSpPr/>
          <p:nvPr/>
        </p:nvSpPr>
        <p:spPr>
          <a:xfrm>
            <a:off x="4312768" y="3931920"/>
            <a:ext cx="3566160"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39" name="Architecture note 2 circle"/>
          <p:cNvSpPr/>
          <p:nvPr/>
        </p:nvSpPr>
        <p:spPr>
          <a:xfrm>
            <a:off x="4587088" y="4343400"/>
            <a:ext cx="548640" cy="548640"/>
          </a:xfrm>
          <a:prstGeom prst="ellipse">
            <a:avLst/>
          </a:prstGeom>
          <a:solidFill>
            <a:schemeClr val="accent1"/>
          </a:solidFill>
          <a:ln/>
        </p:spPr>
      </p:sp>
      <p:pic>
        <p:nvPicPr>
          <p:cNvPr id="40" name="Image 7" descr="Architecture note 2 icon">    </p:cNvPr>
          <p:cNvPicPr>
            <a:picLocks noChangeAspect="1"/>
          </p:cNvPicPr>
          <p:nvPr/>
        </p:nvPicPr>
        <p:blipFill>
          <a:blip r:embed="rId8"/>
          <a:stretch>
            <a:fillRect/>
          </a:stretch>
        </p:blipFill>
        <p:spPr>
          <a:xfrm>
            <a:off x="4724248" y="4480560"/>
            <a:ext cx="274320" cy="274320"/>
          </a:xfrm>
          <a:prstGeom prst="rect">
            <a:avLst/>
          </a:prstGeom>
        </p:spPr>
      </p:pic>
      <p:sp>
        <p:nvSpPr>
          <p:cNvPr id="41" name="Architecture note 2 text"/>
          <p:cNvSpPr txBox="1"/>
          <p:nvPr/>
        </p:nvSpPr>
        <p:spPr>
          <a:xfrm>
            <a:off x="5364328" y="4069080"/>
            <a:ext cx="2286000" cy="1097280"/>
          </a:xfrm>
          <a:prstGeom prst="rect">
            <a:avLst/>
          </a:prstGeom>
          <a:noFill/>
          <a:ln/>
        </p:spPr>
        <p:txBody>
          <a:bodyPr wrap="square" lIns="0" tIns="0" rIns="0" bIns="0" rtlCol="0" anchor="ctr"/>
          <a:lstStyle/>
          <a:p>
            <a:pPr indent="0" marL="0">
              <a:buNone/>
            </a:pPr>
            <a:r>
              <a:rPr lang="en-US" sz="1600" dirty="0">
                <a:solidFill>
                  <a:schemeClr val="tx1"/>
                </a:solidFill>
              </a:rPr>
              <a:t>Energy measured directly with a current-sense sensor</a:t>
            </a:r>
            <a:endParaRPr lang="en-US" sz="1600" dirty="0"/>
          </a:p>
        </p:txBody>
      </p:sp>
      <p:sp>
        <p:nvSpPr>
          <p:cNvPr id="42" name="Architecture note 3"/>
          <p:cNvSpPr/>
          <p:nvPr/>
        </p:nvSpPr>
        <p:spPr>
          <a:xfrm>
            <a:off x="8076895" y="3931920"/>
            <a:ext cx="3566160"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43" name="Architecture note 3 circle"/>
          <p:cNvSpPr/>
          <p:nvPr/>
        </p:nvSpPr>
        <p:spPr>
          <a:xfrm>
            <a:off x="8351215" y="4343400"/>
            <a:ext cx="548640" cy="548640"/>
          </a:xfrm>
          <a:prstGeom prst="ellipse">
            <a:avLst/>
          </a:prstGeom>
          <a:solidFill>
            <a:schemeClr val="accent1"/>
          </a:solidFill>
          <a:ln/>
        </p:spPr>
      </p:sp>
      <p:pic>
        <p:nvPicPr>
          <p:cNvPr id="44" name="Image 8" descr="Architecture note 3 icon">    </p:cNvPr>
          <p:cNvPicPr>
            <a:picLocks noChangeAspect="1"/>
          </p:cNvPicPr>
          <p:nvPr/>
        </p:nvPicPr>
        <p:blipFill>
          <a:blip r:embed="rId9"/>
          <a:stretch>
            <a:fillRect/>
          </a:stretch>
        </p:blipFill>
        <p:spPr>
          <a:xfrm>
            <a:off x="8488375" y="4480560"/>
            <a:ext cx="274320" cy="274320"/>
          </a:xfrm>
          <a:prstGeom prst="rect">
            <a:avLst/>
          </a:prstGeom>
        </p:spPr>
      </p:pic>
      <p:sp>
        <p:nvSpPr>
          <p:cNvPr id="45" name="Architecture note 3 text"/>
          <p:cNvSpPr txBox="1"/>
          <p:nvPr/>
        </p:nvSpPr>
        <p:spPr>
          <a:xfrm>
            <a:off x="9128455" y="4069080"/>
            <a:ext cx="2286000" cy="1097280"/>
          </a:xfrm>
          <a:prstGeom prst="rect">
            <a:avLst/>
          </a:prstGeom>
          <a:noFill/>
          <a:ln/>
        </p:spPr>
        <p:txBody>
          <a:bodyPr wrap="square" lIns="0" tIns="0" rIns="0" bIns="0" rtlCol="0" anchor="ctr"/>
          <a:lstStyle/>
          <a:p>
            <a:pPr indent="0" marL="0">
              <a:buNone/>
            </a:pPr>
            <a:r>
              <a:rPr lang="en-US" sz="1600" dirty="0">
                <a:solidFill>
                  <a:schemeClr val="tx1"/>
                </a:solidFill>
              </a:rPr>
              <a:t>Every reading is published, logged and analysed offline</a:t>
            </a:r>
            <a:endParaRPr lang="en-US" sz="1600" dirty="0"/>
          </a:p>
        </p:txBody>
      </p:sp>
      <p:sp>
        <p:nvSpPr>
          <p:cNvPr id="46" name="MQTT topics line"/>
          <p:cNvSpPr txBox="1"/>
          <p:nvPr/>
        </p:nvSpPr>
        <p:spPr>
          <a:xfrm>
            <a:off x="548640" y="5532120"/>
            <a:ext cx="9448495" cy="365760"/>
          </a:xfrm>
          <a:prstGeom prst="rect">
            <a:avLst/>
          </a:prstGeom>
          <a:noFill/>
          <a:ln/>
        </p:spPr>
        <p:txBody>
          <a:bodyPr wrap="square" lIns="0" tIns="0" rIns="0" bIns="0" rtlCol="0" anchor="ctr"/>
          <a:lstStyle/>
          <a:p>
            <a:pPr indent="0" marL="0">
              <a:buNone/>
            </a:pPr>
            <a:r>
              <a:rPr lang="en-US" sz="1400" dirty="0">
                <a:solidFill>
                  <a:srgbClr val="5F727C"/>
                </a:solidFill>
              </a:rPr>
              <a:t>MQTT topics:  sensor/reading  ·  sensor/event  ·  sensor/energy</a:t>
            </a:r>
            <a:endParaRPr lang="en-US" sz="14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Hardware and Prototype</a:t>
            </a:r>
            <a:endParaRPr lang="en-US" sz="3600" dirty="0"/>
          </a:p>
        </p:txBody>
      </p:sp>
      <p:sp>
        <p:nvSpPr>
          <p:cNvPr id="4" name="Component list card"/>
          <p:cNvSpPr/>
          <p:nvPr/>
        </p:nvSpPr>
        <p:spPr>
          <a:xfrm>
            <a:off x="548640" y="1371600"/>
            <a:ext cx="4480560" cy="4663440"/>
          </a:xfrm>
          <a:prstGeom prst="roundRect">
            <a:avLst>
              <a:gd name="adj" fmla="val 244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ESP32 development board circle"/>
          <p:cNvSpPr/>
          <p:nvPr/>
        </p:nvSpPr>
        <p:spPr>
          <a:xfrm>
            <a:off x="822960" y="1645920"/>
            <a:ext cx="502920" cy="502920"/>
          </a:xfrm>
          <a:prstGeom prst="ellipse">
            <a:avLst/>
          </a:prstGeom>
          <a:solidFill>
            <a:schemeClr val="accent1"/>
          </a:solidFill>
          <a:ln/>
        </p:spPr>
      </p:sp>
      <p:pic>
        <p:nvPicPr>
          <p:cNvPr id="6" name="Image 0" descr="ESP32 development board icon">    </p:cNvPr>
          <p:cNvPicPr>
            <a:picLocks noChangeAspect="1"/>
          </p:cNvPicPr>
          <p:nvPr/>
        </p:nvPicPr>
        <p:blipFill>
          <a:blip r:embed="rId1"/>
          <a:stretch>
            <a:fillRect/>
          </a:stretch>
        </p:blipFill>
        <p:spPr>
          <a:xfrm>
            <a:off x="948690" y="1771650"/>
            <a:ext cx="251460" cy="251460"/>
          </a:xfrm>
          <a:prstGeom prst="rect">
            <a:avLst/>
          </a:prstGeom>
        </p:spPr>
      </p:pic>
      <p:sp>
        <p:nvSpPr>
          <p:cNvPr id="7" name="ESP32 development board label"/>
          <p:cNvSpPr txBox="1"/>
          <p:nvPr/>
        </p:nvSpPr>
        <p:spPr>
          <a:xfrm>
            <a:off x="1554480" y="1627632"/>
            <a:ext cx="3291840" cy="539496"/>
          </a:xfrm>
          <a:prstGeom prst="rect">
            <a:avLst/>
          </a:prstGeom>
          <a:noFill/>
          <a:ln/>
        </p:spPr>
        <p:txBody>
          <a:bodyPr wrap="square" lIns="0" tIns="0" rIns="0" bIns="0" rtlCol="0" anchor="ctr"/>
          <a:lstStyle/>
          <a:p>
            <a:pPr indent="0" marL="0">
              <a:buNone/>
            </a:pPr>
            <a:r>
              <a:rPr lang="en-US" sz="1600" dirty="0">
                <a:solidFill>
                  <a:schemeClr val="tx1"/>
                </a:solidFill>
              </a:rPr>
              <a:t>ESP32 development board</a:t>
            </a:r>
            <a:endParaRPr lang="en-US" sz="1600" dirty="0"/>
          </a:p>
        </p:txBody>
      </p:sp>
      <p:sp>
        <p:nvSpPr>
          <p:cNvPr id="8" name="ADXL345 accelerometer (vibration) circle"/>
          <p:cNvSpPr/>
          <p:nvPr/>
        </p:nvSpPr>
        <p:spPr>
          <a:xfrm>
            <a:off x="822960" y="2359152"/>
            <a:ext cx="502920" cy="502920"/>
          </a:xfrm>
          <a:prstGeom prst="ellipse">
            <a:avLst/>
          </a:prstGeom>
          <a:solidFill>
            <a:schemeClr val="accent1"/>
          </a:solidFill>
          <a:ln/>
        </p:spPr>
      </p:sp>
      <p:pic>
        <p:nvPicPr>
          <p:cNvPr id="9" name="Image 1" descr="ADXL345 accelerometer (vibration) icon">    </p:cNvPr>
          <p:cNvPicPr>
            <a:picLocks noChangeAspect="1"/>
          </p:cNvPicPr>
          <p:nvPr/>
        </p:nvPicPr>
        <p:blipFill>
          <a:blip r:embed="rId2"/>
          <a:stretch>
            <a:fillRect/>
          </a:stretch>
        </p:blipFill>
        <p:spPr>
          <a:xfrm>
            <a:off x="948690" y="2484882"/>
            <a:ext cx="251460" cy="251460"/>
          </a:xfrm>
          <a:prstGeom prst="rect">
            <a:avLst/>
          </a:prstGeom>
        </p:spPr>
      </p:pic>
      <p:sp>
        <p:nvSpPr>
          <p:cNvPr id="10" name="ADXL345 accelerometer (vibration) label"/>
          <p:cNvSpPr txBox="1"/>
          <p:nvPr/>
        </p:nvSpPr>
        <p:spPr>
          <a:xfrm>
            <a:off x="1554480" y="2340864"/>
            <a:ext cx="3291840" cy="539496"/>
          </a:xfrm>
          <a:prstGeom prst="rect">
            <a:avLst/>
          </a:prstGeom>
          <a:noFill/>
          <a:ln/>
        </p:spPr>
        <p:txBody>
          <a:bodyPr wrap="square" lIns="0" tIns="0" rIns="0" bIns="0" rtlCol="0" anchor="ctr"/>
          <a:lstStyle/>
          <a:p>
            <a:pPr indent="0" marL="0">
              <a:buNone/>
            </a:pPr>
            <a:r>
              <a:rPr lang="en-US" sz="1600" dirty="0">
                <a:solidFill>
                  <a:schemeClr val="tx1"/>
                </a:solidFill>
              </a:rPr>
              <a:t>ADXL345 accelerometer (vibration)</a:t>
            </a:r>
            <a:endParaRPr lang="en-US" sz="1600" dirty="0"/>
          </a:p>
        </p:txBody>
      </p:sp>
      <p:sp>
        <p:nvSpPr>
          <p:cNvPr id="11" name="INA219 current sensor (energy) circle"/>
          <p:cNvSpPr/>
          <p:nvPr/>
        </p:nvSpPr>
        <p:spPr>
          <a:xfrm>
            <a:off x="822960" y="3072384"/>
            <a:ext cx="502920" cy="502920"/>
          </a:xfrm>
          <a:prstGeom prst="ellipse">
            <a:avLst/>
          </a:prstGeom>
          <a:solidFill>
            <a:schemeClr val="accent1"/>
          </a:solidFill>
          <a:ln/>
        </p:spPr>
      </p:sp>
      <p:pic>
        <p:nvPicPr>
          <p:cNvPr id="12" name="Image 2" descr="INA219 current sensor (energy) icon">    </p:cNvPr>
          <p:cNvPicPr>
            <a:picLocks noChangeAspect="1"/>
          </p:cNvPicPr>
          <p:nvPr/>
        </p:nvPicPr>
        <p:blipFill>
          <a:blip r:embed="rId3"/>
          <a:stretch>
            <a:fillRect/>
          </a:stretch>
        </p:blipFill>
        <p:spPr>
          <a:xfrm>
            <a:off x="948690" y="3198114"/>
            <a:ext cx="251460" cy="251460"/>
          </a:xfrm>
          <a:prstGeom prst="rect">
            <a:avLst/>
          </a:prstGeom>
        </p:spPr>
      </p:pic>
      <p:sp>
        <p:nvSpPr>
          <p:cNvPr id="13" name="INA219 current sensor (energy) label"/>
          <p:cNvSpPr txBox="1"/>
          <p:nvPr/>
        </p:nvSpPr>
        <p:spPr>
          <a:xfrm>
            <a:off x="1554480" y="3054096"/>
            <a:ext cx="3291840" cy="539496"/>
          </a:xfrm>
          <a:prstGeom prst="rect">
            <a:avLst/>
          </a:prstGeom>
          <a:noFill/>
          <a:ln/>
        </p:spPr>
        <p:txBody>
          <a:bodyPr wrap="square" lIns="0" tIns="0" rIns="0" bIns="0" rtlCol="0" anchor="ctr"/>
          <a:lstStyle/>
          <a:p>
            <a:pPr indent="0" marL="0">
              <a:buNone/>
            </a:pPr>
            <a:r>
              <a:rPr lang="en-US" sz="1600" dirty="0">
                <a:solidFill>
                  <a:schemeClr val="tx1"/>
                </a:solidFill>
              </a:rPr>
              <a:t>INA219 current sensor (energy)</a:t>
            </a:r>
            <a:endParaRPr lang="en-US" sz="1600" dirty="0"/>
          </a:p>
        </p:txBody>
      </p:sp>
      <p:sp>
        <p:nvSpPr>
          <p:cNvPr id="14" name="18650 Li-ion battery circle"/>
          <p:cNvSpPr/>
          <p:nvPr/>
        </p:nvSpPr>
        <p:spPr>
          <a:xfrm>
            <a:off x="822960" y="3785616"/>
            <a:ext cx="502920" cy="502920"/>
          </a:xfrm>
          <a:prstGeom prst="ellipse">
            <a:avLst/>
          </a:prstGeom>
          <a:solidFill>
            <a:schemeClr val="accent1"/>
          </a:solidFill>
          <a:ln/>
        </p:spPr>
      </p:sp>
      <p:pic>
        <p:nvPicPr>
          <p:cNvPr id="15" name="Image 3" descr="18650 Li-ion battery icon">    </p:cNvPr>
          <p:cNvPicPr>
            <a:picLocks noChangeAspect="1"/>
          </p:cNvPicPr>
          <p:nvPr/>
        </p:nvPicPr>
        <p:blipFill>
          <a:blip r:embed="rId4"/>
          <a:stretch>
            <a:fillRect/>
          </a:stretch>
        </p:blipFill>
        <p:spPr>
          <a:xfrm>
            <a:off x="948690" y="3911346"/>
            <a:ext cx="251460" cy="251460"/>
          </a:xfrm>
          <a:prstGeom prst="rect">
            <a:avLst/>
          </a:prstGeom>
        </p:spPr>
      </p:pic>
      <p:sp>
        <p:nvSpPr>
          <p:cNvPr id="16" name="18650 Li-ion battery label"/>
          <p:cNvSpPr txBox="1"/>
          <p:nvPr/>
        </p:nvSpPr>
        <p:spPr>
          <a:xfrm>
            <a:off x="1554480" y="3767328"/>
            <a:ext cx="3291840" cy="539496"/>
          </a:xfrm>
          <a:prstGeom prst="rect">
            <a:avLst/>
          </a:prstGeom>
          <a:noFill/>
          <a:ln/>
        </p:spPr>
        <p:txBody>
          <a:bodyPr wrap="square" lIns="0" tIns="0" rIns="0" bIns="0" rtlCol="0" anchor="ctr"/>
          <a:lstStyle/>
          <a:p>
            <a:pPr indent="0" marL="0">
              <a:buNone/>
            </a:pPr>
            <a:r>
              <a:rPr lang="en-US" sz="1600" dirty="0">
                <a:solidFill>
                  <a:schemeClr val="tx1"/>
                </a:solidFill>
              </a:rPr>
              <a:t>18650 Li-ion battery</a:t>
            </a:r>
            <a:endParaRPr lang="en-US" sz="1600" dirty="0"/>
          </a:p>
        </p:txBody>
      </p:sp>
      <p:sp>
        <p:nvSpPr>
          <p:cNvPr id="17" name="Small DC motor (event inducer) circle"/>
          <p:cNvSpPr/>
          <p:nvPr/>
        </p:nvSpPr>
        <p:spPr>
          <a:xfrm>
            <a:off x="822960" y="4498848"/>
            <a:ext cx="502920" cy="502920"/>
          </a:xfrm>
          <a:prstGeom prst="ellipse">
            <a:avLst/>
          </a:prstGeom>
          <a:solidFill>
            <a:schemeClr val="accent1"/>
          </a:solidFill>
          <a:ln/>
        </p:spPr>
      </p:sp>
      <p:pic>
        <p:nvPicPr>
          <p:cNvPr id="18" name="Image 4" descr="Small DC motor (event inducer) icon">    </p:cNvPr>
          <p:cNvPicPr>
            <a:picLocks noChangeAspect="1"/>
          </p:cNvPicPr>
          <p:nvPr/>
        </p:nvPicPr>
        <p:blipFill>
          <a:blip r:embed="rId5"/>
          <a:stretch>
            <a:fillRect/>
          </a:stretch>
        </p:blipFill>
        <p:spPr>
          <a:xfrm>
            <a:off x="948690" y="4624578"/>
            <a:ext cx="251460" cy="251460"/>
          </a:xfrm>
          <a:prstGeom prst="rect">
            <a:avLst/>
          </a:prstGeom>
        </p:spPr>
      </p:pic>
      <p:sp>
        <p:nvSpPr>
          <p:cNvPr id="19" name="Small DC motor (event inducer) label"/>
          <p:cNvSpPr txBox="1"/>
          <p:nvPr/>
        </p:nvSpPr>
        <p:spPr>
          <a:xfrm>
            <a:off x="1554480" y="4480560"/>
            <a:ext cx="3291840" cy="539496"/>
          </a:xfrm>
          <a:prstGeom prst="rect">
            <a:avLst/>
          </a:prstGeom>
          <a:noFill/>
          <a:ln/>
        </p:spPr>
        <p:txBody>
          <a:bodyPr wrap="square" lIns="0" tIns="0" rIns="0" bIns="0" rtlCol="0" anchor="ctr"/>
          <a:lstStyle/>
          <a:p>
            <a:pPr indent="0" marL="0">
              <a:buNone/>
            </a:pPr>
            <a:r>
              <a:rPr lang="en-US" sz="1600" dirty="0">
                <a:solidFill>
                  <a:schemeClr val="tx1"/>
                </a:solidFill>
              </a:rPr>
              <a:t>Small DC motor (event inducer)</a:t>
            </a:r>
            <a:endParaRPr lang="en-US" sz="1600" dirty="0"/>
          </a:p>
        </p:txBody>
      </p:sp>
      <p:sp>
        <p:nvSpPr>
          <p:cNvPr id="20" name="Cost pill"/>
          <p:cNvSpPr txBox="1"/>
          <p:nvPr/>
        </p:nvSpPr>
        <p:spPr>
          <a:xfrm>
            <a:off x="822960" y="5394960"/>
            <a:ext cx="39319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dirty="0">
                <a:solidFill>
                  <a:schemeClr val="bg1"/>
                </a:solidFill>
              </a:rPr>
              <a:t>Estimated hardware cost: about $30 to $50</a:t>
            </a:r>
            <a:endParaRPr lang="en-US" sz="1400" dirty="0"/>
          </a:p>
        </p:txBody>
      </p:sp>
      <p:sp>
        <p:nvSpPr>
          <p:cNvPr id="21" name="Wiring overview card"/>
          <p:cNvSpPr/>
          <p:nvPr/>
        </p:nvSpPr>
        <p:spPr>
          <a:xfrm>
            <a:off x="5257800" y="1371600"/>
            <a:ext cx="6385255" cy="4663440"/>
          </a:xfrm>
          <a:prstGeom prst="roundRect">
            <a:avLst>
              <a:gd name="adj" fmla="val 2353"/>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22" name="Wiring overview title"/>
          <p:cNvSpPr txBox="1"/>
          <p:nvPr/>
        </p:nvSpPr>
        <p:spPr>
          <a:xfrm>
            <a:off x="5532120" y="1554480"/>
            <a:ext cx="2743200" cy="274320"/>
          </a:xfrm>
          <a:prstGeom prst="rect">
            <a:avLst/>
          </a:prstGeom>
          <a:noFill/>
          <a:ln/>
        </p:spPr>
        <p:txBody>
          <a:bodyPr wrap="square" lIns="0" tIns="0" rIns="0" bIns="0" rtlCol="0" anchor="ctr"/>
          <a:lstStyle/>
          <a:p>
            <a:pPr indent="0" marL="0">
              <a:buNone/>
            </a:pPr>
            <a:r>
              <a:rPr lang="en-US" sz="1400" b="1" dirty="0">
                <a:solidFill>
                  <a:srgbClr val="5F727C"/>
                </a:solidFill>
              </a:rPr>
              <a:t>Wiring overview</a:t>
            </a:r>
            <a:endParaRPr lang="en-US" sz="1400" dirty="0"/>
          </a:p>
        </p:txBody>
      </p:sp>
      <p:sp>
        <p:nvSpPr>
          <p:cNvPr id="23" name="Wiring motor"/>
          <p:cNvSpPr/>
          <p:nvPr/>
        </p:nvSpPr>
        <p:spPr>
          <a:xfrm>
            <a:off x="5532120" y="1920240"/>
            <a:ext cx="1737360" cy="603504"/>
          </a:xfrm>
          <a:prstGeom prst="roundRect">
            <a:avLst>
              <a:gd name="adj" fmla="val 12121"/>
            </a:avLst>
          </a:prstGeom>
          <a:solidFill>
            <a:srgbClr val="FBE9D3"/>
          </a:solidFill>
          <a:ln w="19050">
            <a:solidFill>
              <a:schemeClr val="accent5"/>
            </a:solidFill>
            <a:prstDash val="solid"/>
          </a:ln>
        </p:spPr>
      </p:sp>
      <p:sp>
        <p:nvSpPr>
          <p:cNvPr id="24" name="Wiring motor text"/>
          <p:cNvSpPr txBox="1"/>
          <p:nvPr/>
        </p:nvSpPr>
        <p:spPr>
          <a:xfrm>
            <a:off x="5577840" y="1920240"/>
            <a:ext cx="1645920" cy="603504"/>
          </a:xfrm>
          <a:prstGeom prst="rect">
            <a:avLst/>
          </a:prstGeom>
          <a:noFill/>
          <a:ln/>
        </p:spPr>
        <p:txBody>
          <a:bodyPr wrap="square" lIns="0" tIns="0" rIns="0" bIns="0" rtlCol="0" anchor="ctr"/>
          <a:lstStyle/>
          <a:p>
            <a:pPr algn="ctr" indent="0" marL="0">
              <a:buNone/>
            </a:pPr>
            <a:r>
              <a:rPr lang="en-US" sz="1400" b="1" dirty="0">
                <a:solidFill>
                  <a:schemeClr val="tx1"/>
                </a:solidFill>
              </a:rPr>
              <a:t>DC motor</a:t>
            </a:r>
            <a:endParaRPr lang="en-US" sz="1400" dirty="0"/>
          </a:p>
          <a:p>
            <a:pPr algn="ctr" indent="0" marL="0">
              <a:buNone/>
            </a:pPr>
            <a:r>
              <a:rPr lang="en-US" sz="1200" dirty="0">
                <a:solidFill>
                  <a:schemeClr val="tx1"/>
                </a:solidFill>
              </a:rPr>
              <a:t>event inducer</a:t>
            </a:r>
            <a:endParaRPr lang="en-US" sz="1400" dirty="0"/>
          </a:p>
        </p:txBody>
      </p:sp>
      <p:sp>
        <p:nvSpPr>
          <p:cNvPr id="25" name="Wiring ADXL345"/>
          <p:cNvSpPr/>
          <p:nvPr/>
        </p:nvSpPr>
        <p:spPr>
          <a:xfrm>
            <a:off x="5532120" y="2834640"/>
            <a:ext cx="1737360" cy="603504"/>
          </a:xfrm>
          <a:prstGeom prst="roundRect">
            <a:avLst>
              <a:gd name="adj" fmla="val 12121"/>
            </a:avLst>
          </a:prstGeom>
          <a:solidFill>
            <a:schemeClr val="accent1"/>
          </a:solidFill>
          <a:ln/>
        </p:spPr>
      </p:sp>
      <p:sp>
        <p:nvSpPr>
          <p:cNvPr id="26" name="Wiring ADXL345 text"/>
          <p:cNvSpPr txBox="1"/>
          <p:nvPr/>
        </p:nvSpPr>
        <p:spPr>
          <a:xfrm>
            <a:off x="5577840" y="2834640"/>
            <a:ext cx="1645920" cy="603504"/>
          </a:xfrm>
          <a:prstGeom prst="rect">
            <a:avLst/>
          </a:prstGeom>
          <a:noFill/>
          <a:ln/>
        </p:spPr>
        <p:txBody>
          <a:bodyPr wrap="square" lIns="0" tIns="0" rIns="0" bIns="0" rtlCol="0" anchor="ctr"/>
          <a:lstStyle/>
          <a:p>
            <a:pPr algn="ctr" indent="0" marL="0">
              <a:buNone/>
            </a:pPr>
            <a:r>
              <a:rPr lang="en-US" sz="1400" b="1" dirty="0">
                <a:solidFill>
                  <a:schemeClr val="bg1"/>
                </a:solidFill>
              </a:rPr>
              <a:t>ADXL345</a:t>
            </a:r>
            <a:endParaRPr lang="en-US" sz="1400" dirty="0"/>
          </a:p>
          <a:p>
            <a:pPr algn="ctr" indent="0" marL="0">
              <a:buNone/>
            </a:pPr>
            <a:r>
              <a:rPr lang="en-US" sz="1200" dirty="0">
                <a:solidFill>
                  <a:schemeClr val="bg1"/>
                </a:solidFill>
              </a:rPr>
              <a:t>accelerometer</a:t>
            </a:r>
            <a:endParaRPr lang="en-US" sz="1400" dirty="0"/>
          </a:p>
        </p:txBody>
      </p:sp>
      <p:sp>
        <p:nvSpPr>
          <p:cNvPr id="27" name="Wiring INA219"/>
          <p:cNvSpPr/>
          <p:nvPr/>
        </p:nvSpPr>
        <p:spPr>
          <a:xfrm>
            <a:off x="5532120" y="3749040"/>
            <a:ext cx="1737360" cy="603504"/>
          </a:xfrm>
          <a:prstGeom prst="roundRect">
            <a:avLst>
              <a:gd name="adj" fmla="val 12121"/>
            </a:avLst>
          </a:prstGeom>
          <a:solidFill>
            <a:schemeClr val="accent1"/>
          </a:solidFill>
          <a:ln/>
        </p:spPr>
      </p:sp>
      <p:sp>
        <p:nvSpPr>
          <p:cNvPr id="28" name="Wiring INA219 text"/>
          <p:cNvSpPr txBox="1"/>
          <p:nvPr/>
        </p:nvSpPr>
        <p:spPr>
          <a:xfrm>
            <a:off x="5577840" y="3749040"/>
            <a:ext cx="1645920" cy="603504"/>
          </a:xfrm>
          <a:prstGeom prst="rect">
            <a:avLst/>
          </a:prstGeom>
          <a:noFill/>
          <a:ln/>
        </p:spPr>
        <p:txBody>
          <a:bodyPr wrap="square" lIns="0" tIns="0" rIns="0" bIns="0" rtlCol="0" anchor="ctr"/>
          <a:lstStyle/>
          <a:p>
            <a:pPr algn="ctr" indent="0" marL="0">
              <a:buNone/>
            </a:pPr>
            <a:r>
              <a:rPr lang="en-US" sz="1400" b="1" dirty="0">
                <a:solidFill>
                  <a:schemeClr val="bg1"/>
                </a:solidFill>
              </a:rPr>
              <a:t>INA219</a:t>
            </a:r>
            <a:endParaRPr lang="en-US" sz="1400" dirty="0"/>
          </a:p>
          <a:p>
            <a:pPr algn="ctr" indent="0" marL="0">
              <a:buNone/>
            </a:pPr>
            <a:r>
              <a:rPr lang="en-US" sz="1200" dirty="0">
                <a:solidFill>
                  <a:schemeClr val="bg1"/>
                </a:solidFill>
              </a:rPr>
              <a:t>current sensor</a:t>
            </a:r>
            <a:endParaRPr lang="en-US" sz="1400" dirty="0"/>
          </a:p>
        </p:txBody>
      </p:sp>
      <p:sp>
        <p:nvSpPr>
          <p:cNvPr id="29" name="Wiring battery"/>
          <p:cNvSpPr/>
          <p:nvPr/>
        </p:nvSpPr>
        <p:spPr>
          <a:xfrm>
            <a:off x="5532120" y="4663440"/>
            <a:ext cx="1737360" cy="603504"/>
          </a:xfrm>
          <a:prstGeom prst="roundRect">
            <a:avLst>
              <a:gd name="adj" fmla="val 12121"/>
            </a:avLst>
          </a:prstGeom>
          <a:solidFill>
            <a:srgbClr val="E6ECEF"/>
          </a:solidFill>
          <a:ln/>
        </p:spPr>
      </p:sp>
      <p:sp>
        <p:nvSpPr>
          <p:cNvPr id="30" name="Wiring battery text"/>
          <p:cNvSpPr txBox="1"/>
          <p:nvPr/>
        </p:nvSpPr>
        <p:spPr>
          <a:xfrm>
            <a:off x="5577840" y="4663440"/>
            <a:ext cx="1645920" cy="603504"/>
          </a:xfrm>
          <a:prstGeom prst="rect">
            <a:avLst/>
          </a:prstGeom>
          <a:noFill/>
          <a:ln/>
        </p:spPr>
        <p:txBody>
          <a:bodyPr wrap="square" lIns="0" tIns="0" rIns="0" bIns="0" rtlCol="0" anchor="ctr"/>
          <a:lstStyle/>
          <a:p>
            <a:pPr algn="ctr" indent="0" marL="0">
              <a:buNone/>
            </a:pPr>
            <a:r>
              <a:rPr lang="en-US" sz="1400" b="1" dirty="0">
                <a:solidFill>
                  <a:schemeClr val="tx1"/>
                </a:solidFill>
              </a:rPr>
              <a:t>18650 battery</a:t>
            </a:r>
            <a:endParaRPr lang="en-US" sz="1400" dirty="0"/>
          </a:p>
        </p:txBody>
      </p:sp>
      <p:sp>
        <p:nvSpPr>
          <p:cNvPr id="31" name="Wiring ESP32"/>
          <p:cNvSpPr/>
          <p:nvPr/>
        </p:nvSpPr>
        <p:spPr>
          <a:xfrm>
            <a:off x="8092440" y="2697480"/>
            <a:ext cx="1371600" cy="1828800"/>
          </a:xfrm>
          <a:prstGeom prst="roundRect">
            <a:avLst>
              <a:gd name="adj" fmla="val 5333"/>
            </a:avLst>
          </a:prstGeom>
          <a:solidFill>
            <a:schemeClr val="tx2"/>
          </a:solidFill>
          <a:ln/>
        </p:spPr>
      </p:sp>
      <p:sp>
        <p:nvSpPr>
          <p:cNvPr id="32" name="Wiring ESP32 text"/>
          <p:cNvSpPr txBox="1"/>
          <p:nvPr/>
        </p:nvSpPr>
        <p:spPr>
          <a:xfrm>
            <a:off x="8138160" y="2697480"/>
            <a:ext cx="1280160" cy="1828800"/>
          </a:xfrm>
          <a:prstGeom prst="rect">
            <a:avLst/>
          </a:prstGeom>
          <a:noFill/>
          <a:ln/>
        </p:spPr>
        <p:txBody>
          <a:bodyPr wrap="square" lIns="0" tIns="0" rIns="0" bIns="0" rtlCol="0" anchor="ctr"/>
          <a:lstStyle/>
          <a:p>
            <a:pPr algn="ctr" indent="0" marL="0">
              <a:buNone/>
            </a:pPr>
            <a:r>
              <a:rPr lang="en-US" sz="1400" b="1" dirty="0">
                <a:solidFill>
                  <a:schemeClr val="bg1"/>
                </a:solidFill>
              </a:rPr>
              <a:t>ESP32</a:t>
            </a:r>
            <a:endParaRPr lang="en-US" sz="1400" dirty="0"/>
          </a:p>
          <a:p>
            <a:pPr algn="ctr" indent="0" marL="0">
              <a:buNone/>
            </a:pPr>
            <a:r>
              <a:rPr lang="en-US" sz="1200" dirty="0">
                <a:solidFill>
                  <a:schemeClr val="bg1"/>
                </a:solidFill>
              </a:rPr>
              <a:t>3 sensing policies</a:t>
            </a:r>
            <a:endParaRPr lang="en-US" sz="1400" dirty="0"/>
          </a:p>
        </p:txBody>
      </p:sp>
      <p:sp>
        <p:nvSpPr>
          <p:cNvPr id="33" name="Wiring broker"/>
          <p:cNvSpPr/>
          <p:nvPr/>
        </p:nvSpPr>
        <p:spPr>
          <a:xfrm>
            <a:off x="10287000" y="3017520"/>
            <a:ext cx="1280160" cy="1188720"/>
          </a:xfrm>
          <a:prstGeom prst="roundRect">
            <a:avLst>
              <a:gd name="adj" fmla="val 6154"/>
            </a:avLst>
          </a:prstGeom>
          <a:solidFill>
            <a:schemeClr val="accent1"/>
          </a:solidFill>
          <a:ln/>
        </p:spPr>
      </p:sp>
      <p:sp>
        <p:nvSpPr>
          <p:cNvPr id="34" name="Wiring broker text"/>
          <p:cNvSpPr txBox="1"/>
          <p:nvPr/>
        </p:nvSpPr>
        <p:spPr>
          <a:xfrm>
            <a:off x="10332720" y="3017520"/>
            <a:ext cx="1188720" cy="1188720"/>
          </a:xfrm>
          <a:prstGeom prst="rect">
            <a:avLst/>
          </a:prstGeom>
          <a:noFill/>
          <a:ln/>
        </p:spPr>
        <p:txBody>
          <a:bodyPr wrap="square" lIns="0" tIns="0" rIns="0" bIns="0" rtlCol="0" anchor="ctr"/>
          <a:lstStyle/>
          <a:p>
            <a:pPr algn="ctr" indent="0" marL="0">
              <a:buNone/>
            </a:pPr>
            <a:r>
              <a:rPr lang="en-US" sz="1400" b="1" dirty="0">
                <a:solidFill>
                  <a:schemeClr val="bg1"/>
                </a:solidFill>
              </a:rPr>
              <a:t>MQTT broker</a:t>
            </a:r>
            <a:endParaRPr lang="en-US" sz="1400" dirty="0"/>
          </a:p>
          <a:p>
            <a:pPr algn="ctr" indent="0" marL="0">
              <a:buNone/>
            </a:pPr>
            <a:r>
              <a:rPr lang="en-US" sz="1200" dirty="0">
                <a:solidFill>
                  <a:schemeClr val="bg1"/>
                </a:solidFill>
              </a:rPr>
              <a:t>laptop or Raspberry Pi</a:t>
            </a:r>
            <a:endParaRPr lang="en-US" sz="1400" dirty="0"/>
          </a:p>
        </p:txBody>
      </p:sp>
      <p:sp>
        <p:nvSpPr>
          <p:cNvPr id="35" name="Wiring arrow motor"/>
          <p:cNvSpPr/>
          <p:nvPr/>
        </p:nvSpPr>
        <p:spPr>
          <a:xfrm>
            <a:off x="6400800" y="2551176"/>
            <a:ext cx="0" cy="256032"/>
          </a:xfrm>
          <a:prstGeom prst="line">
            <a:avLst/>
          </a:prstGeom>
          <a:noFill/>
          <a:ln w="25400">
            <a:solidFill>
              <a:schemeClr val="accent5"/>
            </a:solidFill>
            <a:prstDash val="dash"/>
            <a:tailEnd type="triangle"/>
          </a:ln>
        </p:spPr>
      </p:sp>
      <p:sp>
        <p:nvSpPr>
          <p:cNvPr id="36" name="Wiring arrow battery"/>
          <p:cNvSpPr/>
          <p:nvPr/>
        </p:nvSpPr>
        <p:spPr>
          <a:xfrm flipV="1">
            <a:off x="6400800" y="4379976"/>
            <a:ext cx="0" cy="256032"/>
          </a:xfrm>
          <a:prstGeom prst="line">
            <a:avLst/>
          </a:prstGeom>
          <a:noFill/>
          <a:ln w="25400">
            <a:solidFill>
              <a:schemeClr val="tx2"/>
            </a:solidFill>
            <a:prstDash val="solid"/>
            <a:tailEnd type="triangle"/>
          </a:ln>
        </p:spPr>
      </p:sp>
      <p:sp>
        <p:nvSpPr>
          <p:cNvPr id="37" name="Wiring arrow ADXL345"/>
          <p:cNvSpPr/>
          <p:nvPr/>
        </p:nvSpPr>
        <p:spPr>
          <a:xfrm>
            <a:off x="7296912" y="3136392"/>
            <a:ext cx="768096" cy="0"/>
          </a:xfrm>
          <a:prstGeom prst="line">
            <a:avLst/>
          </a:prstGeom>
          <a:noFill/>
          <a:ln w="25400">
            <a:solidFill>
              <a:schemeClr val="tx2"/>
            </a:solidFill>
            <a:prstDash val="solid"/>
            <a:tailEnd type="triangle"/>
          </a:ln>
        </p:spPr>
      </p:sp>
      <p:sp>
        <p:nvSpPr>
          <p:cNvPr id="38" name="Wiring arrow INA219"/>
          <p:cNvSpPr/>
          <p:nvPr/>
        </p:nvSpPr>
        <p:spPr>
          <a:xfrm>
            <a:off x="7296912" y="4050792"/>
            <a:ext cx="768096" cy="0"/>
          </a:xfrm>
          <a:prstGeom prst="line">
            <a:avLst/>
          </a:prstGeom>
          <a:noFill/>
          <a:ln w="25400">
            <a:solidFill>
              <a:schemeClr val="tx2"/>
            </a:solidFill>
            <a:prstDash val="solid"/>
            <a:tailEnd type="triangle"/>
          </a:ln>
        </p:spPr>
      </p:sp>
      <p:sp>
        <p:nvSpPr>
          <p:cNvPr id="39" name="Wiring arrow MQTT"/>
          <p:cNvSpPr/>
          <p:nvPr/>
        </p:nvSpPr>
        <p:spPr>
          <a:xfrm>
            <a:off x="9491472" y="3611880"/>
            <a:ext cx="768096" cy="0"/>
          </a:xfrm>
          <a:prstGeom prst="line">
            <a:avLst/>
          </a:prstGeom>
          <a:noFill/>
          <a:ln w="25400">
            <a:solidFill>
              <a:schemeClr val="tx2"/>
            </a:solidFill>
            <a:prstDash val="solid"/>
            <a:tailEnd type="triangle"/>
          </a:ln>
        </p:spPr>
      </p:sp>
      <p:sp>
        <p:nvSpPr>
          <p:cNvPr id="40" name="Label vibration"/>
          <p:cNvSpPr txBox="1"/>
          <p:nvPr/>
        </p:nvSpPr>
        <p:spPr>
          <a:xfrm>
            <a:off x="6492240" y="2542032"/>
            <a:ext cx="822960" cy="274320"/>
          </a:xfrm>
          <a:prstGeom prst="rect">
            <a:avLst/>
          </a:prstGeom>
          <a:noFill/>
          <a:ln/>
        </p:spPr>
        <p:txBody>
          <a:bodyPr wrap="square" lIns="0" tIns="0" rIns="0" bIns="0" rtlCol="0" anchor="ctr"/>
          <a:lstStyle/>
          <a:p>
            <a:pPr indent="0" marL="0">
              <a:buNone/>
            </a:pPr>
            <a:r>
              <a:rPr lang="en-US" sz="1200" dirty="0">
                <a:solidFill>
                  <a:srgbClr val="5F727C"/>
                </a:solidFill>
              </a:rPr>
              <a:t>vibration</a:t>
            </a:r>
            <a:endParaRPr lang="en-US" sz="1200" dirty="0"/>
          </a:p>
        </p:txBody>
      </p:sp>
      <p:sp>
        <p:nvSpPr>
          <p:cNvPr id="41" name="Label power"/>
          <p:cNvSpPr txBox="1"/>
          <p:nvPr/>
        </p:nvSpPr>
        <p:spPr>
          <a:xfrm>
            <a:off x="6492240" y="4370832"/>
            <a:ext cx="822960" cy="274320"/>
          </a:xfrm>
          <a:prstGeom prst="rect">
            <a:avLst/>
          </a:prstGeom>
          <a:noFill/>
          <a:ln/>
        </p:spPr>
        <p:txBody>
          <a:bodyPr wrap="square" lIns="0" tIns="0" rIns="0" bIns="0" rtlCol="0" anchor="ctr"/>
          <a:lstStyle/>
          <a:p>
            <a:pPr indent="0" marL="0">
              <a:buNone/>
            </a:pPr>
            <a:r>
              <a:rPr lang="en-US" sz="1200" dirty="0">
                <a:solidFill>
                  <a:srgbClr val="5F727C"/>
                </a:solidFill>
              </a:rPr>
              <a:t>power</a:t>
            </a:r>
            <a:endParaRPr lang="en-US" sz="1200" dirty="0"/>
          </a:p>
        </p:txBody>
      </p:sp>
      <p:sp>
        <p:nvSpPr>
          <p:cNvPr id="42" name="Label I2C ADXL"/>
          <p:cNvSpPr txBox="1"/>
          <p:nvPr/>
        </p:nvSpPr>
        <p:spPr>
          <a:xfrm>
            <a:off x="7296912" y="2843784"/>
            <a:ext cx="768096" cy="256032"/>
          </a:xfrm>
          <a:prstGeom prst="rect">
            <a:avLst/>
          </a:prstGeom>
          <a:noFill/>
          <a:ln/>
        </p:spPr>
        <p:txBody>
          <a:bodyPr wrap="square" lIns="0" tIns="0" rIns="0" bIns="0" rtlCol="0" anchor="ctr"/>
          <a:lstStyle/>
          <a:p>
            <a:pPr algn="ctr" indent="0" marL="0">
              <a:buNone/>
            </a:pPr>
            <a:r>
              <a:rPr lang="en-US" sz="1200" dirty="0">
                <a:solidFill>
                  <a:srgbClr val="5F727C"/>
                </a:solidFill>
              </a:rPr>
              <a:t>I²C</a:t>
            </a:r>
            <a:endParaRPr lang="en-US" sz="1200" dirty="0"/>
          </a:p>
        </p:txBody>
      </p:sp>
      <p:sp>
        <p:nvSpPr>
          <p:cNvPr id="43" name="Label I2C INA"/>
          <p:cNvSpPr txBox="1"/>
          <p:nvPr/>
        </p:nvSpPr>
        <p:spPr>
          <a:xfrm>
            <a:off x="7296912" y="3758184"/>
            <a:ext cx="768096" cy="256032"/>
          </a:xfrm>
          <a:prstGeom prst="rect">
            <a:avLst/>
          </a:prstGeom>
          <a:noFill/>
          <a:ln/>
        </p:spPr>
        <p:txBody>
          <a:bodyPr wrap="square" lIns="0" tIns="0" rIns="0" bIns="0" rtlCol="0" anchor="ctr"/>
          <a:lstStyle/>
          <a:p>
            <a:pPr algn="ctr" indent="0" marL="0">
              <a:buNone/>
            </a:pPr>
            <a:r>
              <a:rPr lang="en-US" sz="1200" dirty="0">
                <a:solidFill>
                  <a:srgbClr val="5F727C"/>
                </a:solidFill>
              </a:rPr>
              <a:t>I²C + power</a:t>
            </a:r>
            <a:endParaRPr lang="en-US" sz="1200" dirty="0"/>
          </a:p>
        </p:txBody>
      </p:sp>
      <p:sp>
        <p:nvSpPr>
          <p:cNvPr id="44" name="Label MQTT"/>
          <p:cNvSpPr txBox="1"/>
          <p:nvPr/>
        </p:nvSpPr>
        <p:spPr>
          <a:xfrm>
            <a:off x="9464040" y="3675888"/>
            <a:ext cx="822960" cy="411480"/>
          </a:xfrm>
          <a:prstGeom prst="rect">
            <a:avLst/>
          </a:prstGeom>
          <a:noFill/>
          <a:ln/>
        </p:spPr>
        <p:txBody>
          <a:bodyPr wrap="square" lIns="0" tIns="0" rIns="0" bIns="0" rtlCol="0" anchor="t"/>
          <a:lstStyle/>
          <a:p>
            <a:pPr algn="ctr" indent="0" marL="0">
              <a:buNone/>
            </a:pPr>
            <a:r>
              <a:rPr lang="en-US" sz="1100" dirty="0">
                <a:solidFill>
                  <a:srgbClr val="5F727C"/>
                </a:solidFill>
              </a:rPr>
              <a:t>Wi-Fi / MQTT</a:t>
            </a:r>
            <a:endParaRPr lang="en-US" sz="1100" dirty="0"/>
          </a:p>
        </p:txBody>
      </p:sp>
      <p:sp>
        <p:nvSpPr>
          <p:cNvPr id="45" name="Wiring caption"/>
          <p:cNvSpPr txBox="1"/>
          <p:nvPr/>
        </p:nvSpPr>
        <p:spPr>
          <a:xfrm>
            <a:off x="5532120" y="5623560"/>
            <a:ext cx="5836615" cy="228600"/>
          </a:xfrm>
          <a:prstGeom prst="rect">
            <a:avLst/>
          </a:prstGeom>
          <a:noFill/>
          <a:ln/>
        </p:spPr>
        <p:txBody>
          <a:bodyPr wrap="square" lIns="0" tIns="0" rIns="0" bIns="0" rtlCol="0" anchor="ctr"/>
          <a:lstStyle/>
          <a:p>
            <a:pPr indent="0" marL="0">
              <a:buNone/>
            </a:pPr>
            <a:r>
              <a:rPr lang="en-US" sz="1200" dirty="0">
                <a:solidFill>
                  <a:srgbClr val="5F727C"/>
                </a:solidFill>
              </a:rPr>
              <a:t>ADXL345 (0x53) and INA219 (0x40) share one I²C bus</a:t>
            </a:r>
            <a:endParaRPr lang="en-US" sz="12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Monitoring Dashboard</a:t>
            </a:r>
            <a:endParaRPr lang="en-US" sz="3600" dirty="0"/>
          </a:p>
        </p:txBody>
      </p:sp>
      <p:sp>
        <p:nvSpPr>
          <p:cNvPr id="4" name="Dashboard feature Live Monitoring"/>
          <p:cNvSpPr/>
          <p:nvPr/>
        </p:nvSpPr>
        <p:spPr>
          <a:xfrm>
            <a:off x="548640" y="1371600"/>
            <a:ext cx="3566160" cy="1188720"/>
          </a:xfrm>
          <a:prstGeom prst="roundRect">
            <a:avLst>
              <a:gd name="adj" fmla="val 9231"/>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Live Monitoring circle"/>
          <p:cNvSpPr/>
          <p:nvPr/>
        </p:nvSpPr>
        <p:spPr>
          <a:xfrm>
            <a:off x="777240" y="1645920"/>
            <a:ext cx="548640" cy="548640"/>
          </a:xfrm>
          <a:prstGeom prst="ellipse">
            <a:avLst/>
          </a:prstGeom>
          <a:solidFill>
            <a:schemeClr val="accent1"/>
          </a:solidFill>
          <a:ln/>
        </p:spPr>
      </p:sp>
      <p:pic>
        <p:nvPicPr>
          <p:cNvPr id="6" name="Image 0" descr="Live Monitoring icon">    </p:cNvPr>
          <p:cNvPicPr>
            <a:picLocks noChangeAspect="1"/>
          </p:cNvPicPr>
          <p:nvPr/>
        </p:nvPicPr>
        <p:blipFill>
          <a:blip r:embed="rId1"/>
          <a:stretch>
            <a:fillRect/>
          </a:stretch>
        </p:blipFill>
        <p:spPr>
          <a:xfrm>
            <a:off x="914400" y="1783080"/>
            <a:ext cx="274320" cy="274320"/>
          </a:xfrm>
          <a:prstGeom prst="rect">
            <a:avLst/>
          </a:prstGeom>
        </p:spPr>
      </p:pic>
      <p:sp>
        <p:nvSpPr>
          <p:cNvPr id="7" name="Live Monitoring title"/>
          <p:cNvSpPr txBox="1"/>
          <p:nvPr/>
        </p:nvSpPr>
        <p:spPr>
          <a:xfrm>
            <a:off x="1508760" y="1527048"/>
            <a:ext cx="2468880" cy="365760"/>
          </a:xfrm>
          <a:prstGeom prst="rect">
            <a:avLst/>
          </a:prstGeom>
          <a:noFill/>
          <a:ln/>
        </p:spPr>
        <p:txBody>
          <a:bodyPr wrap="square" lIns="0" tIns="0" rIns="0" bIns="0" rtlCol="0" anchor="ctr"/>
          <a:lstStyle/>
          <a:p>
            <a:pPr indent="0" marL="0">
              <a:buNone/>
            </a:pPr>
            <a:r>
              <a:rPr lang="en-US" sz="1800" b="1" dirty="0">
                <a:solidFill>
                  <a:schemeClr val="tx1"/>
                </a:solidFill>
              </a:rPr>
              <a:t>Live Monitoring</a:t>
            </a:r>
            <a:endParaRPr lang="en-US" sz="1800" dirty="0"/>
          </a:p>
        </p:txBody>
      </p:sp>
      <p:sp>
        <p:nvSpPr>
          <p:cNvPr id="8" name="Live Monitoring text"/>
          <p:cNvSpPr txBox="1"/>
          <p:nvPr/>
        </p:nvSpPr>
        <p:spPr>
          <a:xfrm>
            <a:off x="1508760" y="1920240"/>
            <a:ext cx="2468880" cy="548640"/>
          </a:xfrm>
          <a:prstGeom prst="rect">
            <a:avLst/>
          </a:prstGeom>
          <a:noFill/>
          <a:ln/>
        </p:spPr>
        <p:txBody>
          <a:bodyPr wrap="square" lIns="0" tIns="0" rIns="0" bIns="0" rtlCol="0" anchor="t"/>
          <a:lstStyle/>
          <a:p>
            <a:pPr indent="0" marL="0">
              <a:buNone/>
            </a:pPr>
            <a:r>
              <a:rPr lang="en-US" sz="1400" dirty="0">
                <a:solidFill>
                  <a:schemeClr val="tx1"/>
                </a:solidFill>
              </a:rPr>
              <a:t>Real-time vibration, active policy and energy draw</a:t>
            </a:r>
            <a:endParaRPr lang="en-US" sz="1400" dirty="0"/>
          </a:p>
        </p:txBody>
      </p:sp>
      <p:sp>
        <p:nvSpPr>
          <p:cNvPr id="9" name="Dashboard feature Trial Results"/>
          <p:cNvSpPr/>
          <p:nvPr/>
        </p:nvSpPr>
        <p:spPr>
          <a:xfrm>
            <a:off x="548640" y="2743200"/>
            <a:ext cx="3566160" cy="1188720"/>
          </a:xfrm>
          <a:prstGeom prst="roundRect">
            <a:avLst>
              <a:gd name="adj" fmla="val 9231"/>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0" name="Trial Results circle"/>
          <p:cNvSpPr/>
          <p:nvPr/>
        </p:nvSpPr>
        <p:spPr>
          <a:xfrm>
            <a:off x="777240" y="3017520"/>
            <a:ext cx="548640" cy="548640"/>
          </a:xfrm>
          <a:prstGeom prst="ellipse">
            <a:avLst/>
          </a:prstGeom>
          <a:solidFill>
            <a:schemeClr val="accent1"/>
          </a:solidFill>
          <a:ln/>
        </p:spPr>
      </p:sp>
      <p:pic>
        <p:nvPicPr>
          <p:cNvPr id="11" name="Image 1" descr="Trial Results icon">    </p:cNvPr>
          <p:cNvPicPr>
            <a:picLocks noChangeAspect="1"/>
          </p:cNvPicPr>
          <p:nvPr/>
        </p:nvPicPr>
        <p:blipFill>
          <a:blip r:embed="rId2"/>
          <a:stretch>
            <a:fillRect/>
          </a:stretch>
        </p:blipFill>
        <p:spPr>
          <a:xfrm>
            <a:off x="914400" y="3154680"/>
            <a:ext cx="274320" cy="274320"/>
          </a:xfrm>
          <a:prstGeom prst="rect">
            <a:avLst/>
          </a:prstGeom>
        </p:spPr>
      </p:pic>
      <p:sp>
        <p:nvSpPr>
          <p:cNvPr id="12" name="Trial Results title"/>
          <p:cNvSpPr txBox="1"/>
          <p:nvPr/>
        </p:nvSpPr>
        <p:spPr>
          <a:xfrm>
            <a:off x="1508760" y="2898648"/>
            <a:ext cx="2468880" cy="365760"/>
          </a:xfrm>
          <a:prstGeom prst="rect">
            <a:avLst/>
          </a:prstGeom>
          <a:noFill/>
          <a:ln/>
        </p:spPr>
        <p:txBody>
          <a:bodyPr wrap="square" lIns="0" tIns="0" rIns="0" bIns="0" rtlCol="0" anchor="ctr"/>
          <a:lstStyle/>
          <a:p>
            <a:pPr indent="0" marL="0">
              <a:buNone/>
            </a:pPr>
            <a:r>
              <a:rPr lang="en-US" sz="1800" b="1" dirty="0">
                <a:solidFill>
                  <a:schemeClr val="tx1"/>
                </a:solidFill>
              </a:rPr>
              <a:t>Trial Results</a:t>
            </a:r>
            <a:endParaRPr lang="en-US" sz="1800" dirty="0"/>
          </a:p>
        </p:txBody>
      </p:sp>
      <p:sp>
        <p:nvSpPr>
          <p:cNvPr id="13" name="Trial Results text"/>
          <p:cNvSpPr txBox="1"/>
          <p:nvPr/>
        </p:nvSpPr>
        <p:spPr>
          <a:xfrm>
            <a:off x="1508760" y="3291840"/>
            <a:ext cx="2468880" cy="548640"/>
          </a:xfrm>
          <a:prstGeom prst="rect">
            <a:avLst/>
          </a:prstGeom>
          <a:noFill/>
          <a:ln/>
        </p:spPr>
        <p:txBody>
          <a:bodyPr wrap="square" lIns="0" tIns="0" rIns="0" bIns="0" rtlCol="0" anchor="t"/>
          <a:lstStyle/>
          <a:p>
            <a:pPr indent="0" marL="0">
              <a:buNone/>
            </a:pPr>
            <a:r>
              <a:rPr lang="en-US" sz="1400" dirty="0">
                <a:solidFill>
                  <a:schemeClr val="tx1"/>
                </a:solidFill>
              </a:rPr>
              <a:t>Accuracy-vs-energy trade-off curve</a:t>
            </a:r>
            <a:endParaRPr lang="en-US" sz="1400" dirty="0"/>
          </a:p>
        </p:txBody>
      </p:sp>
      <p:sp>
        <p:nvSpPr>
          <p:cNvPr id="14" name="Dashboard feature Trial History"/>
          <p:cNvSpPr/>
          <p:nvPr/>
        </p:nvSpPr>
        <p:spPr>
          <a:xfrm>
            <a:off x="548640" y="4114800"/>
            <a:ext cx="3566160" cy="1188720"/>
          </a:xfrm>
          <a:prstGeom prst="roundRect">
            <a:avLst>
              <a:gd name="adj" fmla="val 9231"/>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5" name="Trial History circle"/>
          <p:cNvSpPr/>
          <p:nvPr/>
        </p:nvSpPr>
        <p:spPr>
          <a:xfrm>
            <a:off x="777240" y="4389120"/>
            <a:ext cx="548640" cy="548640"/>
          </a:xfrm>
          <a:prstGeom prst="ellipse">
            <a:avLst/>
          </a:prstGeom>
          <a:solidFill>
            <a:schemeClr val="accent1"/>
          </a:solidFill>
          <a:ln/>
        </p:spPr>
      </p:sp>
      <p:pic>
        <p:nvPicPr>
          <p:cNvPr id="16" name="Image 2" descr="Trial History icon">    </p:cNvPr>
          <p:cNvPicPr>
            <a:picLocks noChangeAspect="1"/>
          </p:cNvPicPr>
          <p:nvPr/>
        </p:nvPicPr>
        <p:blipFill>
          <a:blip r:embed="rId3"/>
          <a:stretch>
            <a:fillRect/>
          </a:stretch>
        </p:blipFill>
        <p:spPr>
          <a:xfrm>
            <a:off x="914400" y="4526280"/>
            <a:ext cx="274320" cy="274320"/>
          </a:xfrm>
          <a:prstGeom prst="rect">
            <a:avLst/>
          </a:prstGeom>
        </p:spPr>
      </p:pic>
      <p:sp>
        <p:nvSpPr>
          <p:cNvPr id="17" name="Trial History title"/>
          <p:cNvSpPr txBox="1"/>
          <p:nvPr/>
        </p:nvSpPr>
        <p:spPr>
          <a:xfrm>
            <a:off x="1508760" y="4270248"/>
            <a:ext cx="2468880" cy="365760"/>
          </a:xfrm>
          <a:prstGeom prst="rect">
            <a:avLst/>
          </a:prstGeom>
          <a:noFill/>
          <a:ln/>
        </p:spPr>
        <p:txBody>
          <a:bodyPr wrap="square" lIns="0" tIns="0" rIns="0" bIns="0" rtlCol="0" anchor="ctr"/>
          <a:lstStyle/>
          <a:p>
            <a:pPr indent="0" marL="0">
              <a:buNone/>
            </a:pPr>
            <a:r>
              <a:rPr lang="en-US" sz="1800" b="1" dirty="0">
                <a:solidFill>
                  <a:schemeClr val="tx1"/>
                </a:solidFill>
              </a:rPr>
              <a:t>Trial History</a:t>
            </a:r>
            <a:endParaRPr lang="en-US" sz="1800" dirty="0"/>
          </a:p>
        </p:txBody>
      </p:sp>
      <p:sp>
        <p:nvSpPr>
          <p:cNvPr id="18" name="Trial History text"/>
          <p:cNvSpPr txBox="1"/>
          <p:nvPr/>
        </p:nvSpPr>
        <p:spPr>
          <a:xfrm>
            <a:off x="1508760" y="4663440"/>
            <a:ext cx="2468880" cy="548640"/>
          </a:xfrm>
          <a:prstGeom prst="rect">
            <a:avLst/>
          </a:prstGeom>
          <a:noFill/>
          <a:ln/>
        </p:spPr>
        <p:txBody>
          <a:bodyPr wrap="square" lIns="0" tIns="0" rIns="0" bIns="0" rtlCol="0" anchor="t"/>
          <a:lstStyle/>
          <a:p>
            <a:pPr indent="0" marL="0">
              <a:buNone/>
            </a:pPr>
            <a:r>
              <a:rPr lang="en-US" sz="1400" dirty="0">
                <a:solidFill>
                  <a:schemeClr val="tx1"/>
                </a:solidFill>
              </a:rPr>
              <a:t>Filter, sort and compare past trials</a:t>
            </a:r>
            <a:endParaRPr lang="en-US" sz="1400" dirty="0"/>
          </a:p>
        </p:txBody>
      </p:sp>
      <p:sp>
        <p:nvSpPr>
          <p:cNvPr id="19" name="Screenshot frame"/>
          <p:cNvSpPr/>
          <p:nvPr/>
        </p:nvSpPr>
        <p:spPr>
          <a:xfrm>
            <a:off x="4389120" y="1371600"/>
            <a:ext cx="7253935" cy="3730891"/>
          </a:xfrm>
          <a:prstGeom prst="roundRect">
            <a:avLst>
              <a:gd name="adj" fmla="val 2941"/>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pic>
        <p:nvPicPr>
          <p:cNvPr id="20" name="Image 3" descr="Screenshot of the Live Monitoring page: vibration chart with an event window, active policy, sampling interval, energy draw and event log">    </p:cNvPr>
          <p:cNvPicPr>
            <a:picLocks noChangeAspect="1"/>
          </p:cNvPicPr>
          <p:nvPr/>
        </p:nvPicPr>
        <p:blipFill>
          <a:blip r:embed="rId4"/>
          <a:stretch>
            <a:fillRect/>
          </a:stretch>
        </p:blipFill>
        <p:spPr>
          <a:xfrm>
            <a:off x="4526280" y="1508760"/>
            <a:ext cx="6979615" cy="3456571"/>
          </a:xfrm>
          <a:prstGeom prst="rect">
            <a:avLst/>
          </a:prstGeom>
        </p:spPr>
      </p:pic>
      <p:sp>
        <p:nvSpPr>
          <p:cNvPr id="21" name="Screenshot caption"/>
          <p:cNvSpPr txBox="1"/>
          <p:nvPr/>
        </p:nvSpPr>
        <p:spPr>
          <a:xfrm>
            <a:off x="4389120" y="5239651"/>
            <a:ext cx="3657600" cy="274320"/>
          </a:xfrm>
          <a:prstGeom prst="rect">
            <a:avLst/>
          </a:prstGeom>
          <a:noFill/>
          <a:ln/>
        </p:spPr>
        <p:txBody>
          <a:bodyPr wrap="square" lIns="0" tIns="0" rIns="0" bIns="0" rtlCol="0" anchor="ctr"/>
          <a:lstStyle/>
          <a:p>
            <a:pPr indent="0" marL="0">
              <a:buNone/>
            </a:pPr>
            <a:r>
              <a:rPr lang="en-US" sz="1300" i="1" dirty="0">
                <a:solidFill>
                  <a:srgbClr val="5F727C"/>
                </a:solidFill>
              </a:rPr>
              <a:t>Interface preview (sample data)</a:t>
            </a:r>
            <a:endParaRPr lang="en-US" sz="1300" dirty="0"/>
          </a:p>
        </p:txBody>
      </p:sp>
      <p:sp>
        <p:nvSpPr>
          <p:cNvPr id="22" name="Stack caption"/>
          <p:cNvSpPr txBox="1"/>
          <p:nvPr/>
        </p:nvSpPr>
        <p:spPr>
          <a:xfrm>
            <a:off x="7985455" y="5239651"/>
            <a:ext cx="3657600" cy="274320"/>
          </a:xfrm>
          <a:prstGeom prst="rect">
            <a:avLst/>
          </a:prstGeom>
          <a:noFill/>
          <a:ln/>
        </p:spPr>
        <p:txBody>
          <a:bodyPr wrap="square" lIns="0" tIns="0" rIns="0" bIns="0" rtlCol="0" anchor="ctr"/>
          <a:lstStyle/>
          <a:p>
            <a:pPr algn="r" indent="0" marL="0">
              <a:buNone/>
            </a:pPr>
            <a:r>
              <a:rPr lang="en-US" sz="1300" dirty="0">
                <a:solidFill>
                  <a:srgbClr val="5F727C"/>
                </a:solidFill>
              </a:rPr>
              <a:t>React  ·  FastAPI  ·  MongoDB</a:t>
            </a:r>
            <a:endParaRPr lang="en-US" sz="13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Experimental Design and Metrics</a:t>
            </a:r>
            <a:endParaRPr lang="en-US" sz="3600" dirty="0"/>
          </a:p>
        </p:txBody>
      </p:sp>
      <p:sp>
        <p:nvSpPr>
          <p:cNvPr id="4" name="Design step 1"/>
          <p:cNvSpPr/>
          <p:nvPr/>
        </p:nvSpPr>
        <p:spPr>
          <a:xfrm>
            <a:off x="548640" y="1371600"/>
            <a:ext cx="6172200" cy="1005840"/>
          </a:xfrm>
          <a:prstGeom prst="roundRect">
            <a:avLst>
              <a:gd name="adj" fmla="val 1090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Design step number 1"/>
          <p:cNvSpPr txBox="1"/>
          <p:nvPr/>
        </p:nvSpPr>
        <p:spPr>
          <a:xfrm>
            <a:off x="822960" y="1554480"/>
            <a:ext cx="640080" cy="64008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Design step 1 text"/>
          <p:cNvSpPr txBox="1"/>
          <p:nvPr/>
        </p:nvSpPr>
        <p:spPr>
          <a:xfrm>
            <a:off x="1737360" y="1463040"/>
            <a:ext cx="4754880" cy="822960"/>
          </a:xfrm>
          <a:prstGeom prst="rect">
            <a:avLst/>
          </a:prstGeom>
          <a:noFill/>
          <a:ln/>
        </p:spPr>
        <p:txBody>
          <a:bodyPr wrap="square" lIns="0" tIns="0" rIns="0" bIns="0" rtlCol="0" anchor="ctr"/>
          <a:lstStyle/>
          <a:p>
            <a:pPr indent="0" marL="0">
              <a:buNone/>
            </a:pPr>
            <a:r>
              <a:rPr lang="en-US" sz="1800" dirty="0">
                <a:solidFill>
                  <a:schemeClr val="tx1"/>
                </a:solidFill>
              </a:rPr>
              <a:t>Run all three policies under identical induced events</a:t>
            </a:r>
            <a:endParaRPr lang="en-US" sz="1800" dirty="0"/>
          </a:p>
        </p:txBody>
      </p:sp>
      <p:sp>
        <p:nvSpPr>
          <p:cNvPr id="7" name="Design step 2"/>
          <p:cNvSpPr/>
          <p:nvPr/>
        </p:nvSpPr>
        <p:spPr>
          <a:xfrm>
            <a:off x="548640" y="2542032"/>
            <a:ext cx="6172200" cy="1005840"/>
          </a:xfrm>
          <a:prstGeom prst="roundRect">
            <a:avLst>
              <a:gd name="adj" fmla="val 1090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8" name="Design step number 2"/>
          <p:cNvSpPr txBox="1"/>
          <p:nvPr/>
        </p:nvSpPr>
        <p:spPr>
          <a:xfrm>
            <a:off x="822960" y="2724912"/>
            <a:ext cx="640080" cy="64008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Design step 2 text"/>
          <p:cNvSpPr txBox="1"/>
          <p:nvPr/>
        </p:nvSpPr>
        <p:spPr>
          <a:xfrm>
            <a:off x="1737360" y="2633472"/>
            <a:ext cx="4754880" cy="822960"/>
          </a:xfrm>
          <a:prstGeom prst="rect">
            <a:avLst/>
          </a:prstGeom>
          <a:noFill/>
          <a:ln/>
        </p:spPr>
        <p:txBody>
          <a:bodyPr wrap="square" lIns="0" tIns="0" rIns="0" bIns="0" rtlCol="0" anchor="ctr"/>
          <a:lstStyle/>
          <a:p>
            <a:pPr indent="0" marL="0">
              <a:buNone/>
            </a:pPr>
            <a:r>
              <a:rPr lang="en-US" sz="1800" dirty="0">
                <a:solidFill>
                  <a:schemeClr val="tx1"/>
                </a:solidFill>
              </a:rPr>
              <a:t>Log ground-truth event times</a:t>
            </a:r>
            <a:endParaRPr lang="en-US" sz="1800" dirty="0"/>
          </a:p>
        </p:txBody>
      </p:sp>
      <p:sp>
        <p:nvSpPr>
          <p:cNvPr id="10" name="Design step 3"/>
          <p:cNvSpPr/>
          <p:nvPr/>
        </p:nvSpPr>
        <p:spPr>
          <a:xfrm>
            <a:off x="548640" y="3712464"/>
            <a:ext cx="6172200" cy="1005840"/>
          </a:xfrm>
          <a:prstGeom prst="roundRect">
            <a:avLst>
              <a:gd name="adj" fmla="val 1090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1" name="Design step number 3"/>
          <p:cNvSpPr txBox="1"/>
          <p:nvPr/>
        </p:nvSpPr>
        <p:spPr>
          <a:xfrm>
            <a:off x="822960" y="3895344"/>
            <a:ext cx="640080" cy="64008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2" name="Design step 3 text"/>
          <p:cNvSpPr txBox="1"/>
          <p:nvPr/>
        </p:nvSpPr>
        <p:spPr>
          <a:xfrm>
            <a:off x="1737360" y="3803904"/>
            <a:ext cx="4754880" cy="822960"/>
          </a:xfrm>
          <a:prstGeom prst="rect">
            <a:avLst/>
          </a:prstGeom>
          <a:noFill/>
          <a:ln/>
        </p:spPr>
        <p:txBody>
          <a:bodyPr wrap="square" lIns="0" tIns="0" rIns="0" bIns="0" rtlCol="0" anchor="ctr"/>
          <a:lstStyle/>
          <a:p>
            <a:pPr indent="0" marL="0">
              <a:buNone/>
            </a:pPr>
            <a:r>
              <a:rPr lang="en-US" sz="1800" dirty="0">
                <a:solidFill>
                  <a:schemeClr val="tx1"/>
                </a:solidFill>
              </a:rPr>
              <a:t>Sweep the predictive trigger's sensitivity</a:t>
            </a:r>
            <a:endParaRPr lang="en-US" sz="1800" dirty="0"/>
          </a:p>
        </p:txBody>
      </p:sp>
      <p:sp>
        <p:nvSpPr>
          <p:cNvPr id="13" name="Design step 4"/>
          <p:cNvSpPr/>
          <p:nvPr/>
        </p:nvSpPr>
        <p:spPr>
          <a:xfrm>
            <a:off x="548640" y="4882896"/>
            <a:ext cx="6172200" cy="1005840"/>
          </a:xfrm>
          <a:prstGeom prst="roundRect">
            <a:avLst>
              <a:gd name="adj" fmla="val 1090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4" name="Design step number 4"/>
          <p:cNvSpPr txBox="1"/>
          <p:nvPr/>
        </p:nvSpPr>
        <p:spPr>
          <a:xfrm>
            <a:off x="822960" y="5065776"/>
            <a:ext cx="640080" cy="640080"/>
          </a:xfrm>
          <a:prstGeom prst="ellipse">
            <a:avLst/>
          </a:prstGeom>
          <a:solidFill>
            <a:schemeClr val="accent1"/>
          </a:solid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5" name="Design step 4 text"/>
          <p:cNvSpPr txBox="1"/>
          <p:nvPr/>
        </p:nvSpPr>
        <p:spPr>
          <a:xfrm>
            <a:off x="1737360" y="4974336"/>
            <a:ext cx="4754880" cy="822960"/>
          </a:xfrm>
          <a:prstGeom prst="rect">
            <a:avLst/>
          </a:prstGeom>
          <a:noFill/>
          <a:ln/>
        </p:spPr>
        <p:txBody>
          <a:bodyPr wrap="square" lIns="0" tIns="0" rIns="0" bIns="0" rtlCol="0" anchor="ctr"/>
          <a:lstStyle/>
          <a:p>
            <a:pPr indent="0" marL="0">
              <a:buNone/>
            </a:pPr>
            <a:r>
              <a:rPr lang="en-US" sz="1800" dirty="0">
                <a:solidFill>
                  <a:schemeClr val="tx1"/>
                </a:solidFill>
              </a:rPr>
              <a:t>Ablate: with vs. without trend pre-emption</a:t>
            </a:r>
            <a:endParaRPr lang="en-US" sz="1800" dirty="0"/>
          </a:p>
        </p:txBody>
      </p:sp>
      <p:sp>
        <p:nvSpPr>
          <p:cNvPr id="16" name="Metric tile Energy"/>
          <p:cNvSpPr/>
          <p:nvPr/>
        </p:nvSpPr>
        <p:spPr>
          <a:xfrm>
            <a:off x="6885432" y="1371600"/>
            <a:ext cx="2286000" cy="2194560"/>
          </a:xfrm>
          <a:prstGeom prst="roundRect">
            <a:avLst>
              <a:gd name="adj" fmla="val 5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7" name="Energy circle"/>
          <p:cNvSpPr/>
          <p:nvPr/>
        </p:nvSpPr>
        <p:spPr>
          <a:xfrm>
            <a:off x="7616952" y="1645920"/>
            <a:ext cx="822960" cy="822960"/>
          </a:xfrm>
          <a:prstGeom prst="ellipse">
            <a:avLst/>
          </a:prstGeom>
          <a:solidFill>
            <a:schemeClr val="accent1"/>
          </a:solidFill>
          <a:ln/>
        </p:spPr>
      </p:sp>
      <p:pic>
        <p:nvPicPr>
          <p:cNvPr id="18" name="Image 0" descr="Energy icon">    </p:cNvPr>
          <p:cNvPicPr>
            <a:picLocks noChangeAspect="1"/>
          </p:cNvPicPr>
          <p:nvPr/>
        </p:nvPicPr>
        <p:blipFill>
          <a:blip r:embed="rId1"/>
          <a:stretch>
            <a:fillRect/>
          </a:stretch>
        </p:blipFill>
        <p:spPr>
          <a:xfrm>
            <a:off x="7822692" y="1851660"/>
            <a:ext cx="411480" cy="411480"/>
          </a:xfrm>
          <a:prstGeom prst="rect">
            <a:avLst/>
          </a:prstGeom>
        </p:spPr>
      </p:pic>
      <p:sp>
        <p:nvSpPr>
          <p:cNvPr id="19" name="Energy label"/>
          <p:cNvSpPr txBox="1"/>
          <p:nvPr/>
        </p:nvSpPr>
        <p:spPr>
          <a:xfrm>
            <a:off x="6885432" y="2606040"/>
            <a:ext cx="2286000" cy="411480"/>
          </a:xfrm>
          <a:prstGeom prst="rect">
            <a:avLst/>
          </a:prstGeom>
          <a:noFill/>
          <a:ln/>
        </p:spPr>
        <p:txBody>
          <a:bodyPr wrap="square" lIns="0" tIns="0" rIns="0" bIns="0" rtlCol="0" anchor="ctr"/>
          <a:lstStyle/>
          <a:p>
            <a:pPr algn="ctr" indent="0" marL="0">
              <a:buNone/>
            </a:pPr>
            <a:r>
              <a:rPr lang="en-US" sz="2200" b="1" dirty="0">
                <a:solidFill>
                  <a:schemeClr val="tx1"/>
                </a:solidFill>
              </a:rPr>
              <a:t>Energy</a:t>
            </a:r>
            <a:endParaRPr lang="en-US" sz="2200" dirty="0"/>
          </a:p>
        </p:txBody>
      </p:sp>
      <p:sp>
        <p:nvSpPr>
          <p:cNvPr id="20" name="Energy unit"/>
          <p:cNvSpPr txBox="1"/>
          <p:nvPr/>
        </p:nvSpPr>
        <p:spPr>
          <a:xfrm>
            <a:off x="6885432" y="3063240"/>
            <a:ext cx="2286000" cy="320040"/>
          </a:xfrm>
          <a:prstGeom prst="rect">
            <a:avLst/>
          </a:prstGeom>
          <a:noFill/>
          <a:ln/>
        </p:spPr>
        <p:txBody>
          <a:bodyPr wrap="square" lIns="0" tIns="0" rIns="0" bIns="0" rtlCol="0" anchor="ctr"/>
          <a:lstStyle/>
          <a:p>
            <a:pPr algn="ctr" indent="0" marL="0">
              <a:buNone/>
            </a:pPr>
            <a:r>
              <a:rPr lang="en-US" sz="1500" dirty="0">
                <a:solidFill>
                  <a:srgbClr val="5F727C"/>
                </a:solidFill>
              </a:rPr>
              <a:t>(mJ)</a:t>
            </a:r>
            <a:endParaRPr lang="en-US" sz="1500" dirty="0"/>
          </a:p>
        </p:txBody>
      </p:sp>
      <p:sp>
        <p:nvSpPr>
          <p:cNvPr id="21" name="Metric tile Latency"/>
          <p:cNvSpPr/>
          <p:nvPr/>
        </p:nvSpPr>
        <p:spPr>
          <a:xfrm>
            <a:off x="9354312" y="1371600"/>
            <a:ext cx="2286000" cy="2194560"/>
          </a:xfrm>
          <a:prstGeom prst="roundRect">
            <a:avLst>
              <a:gd name="adj" fmla="val 5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22" name="Latency circle"/>
          <p:cNvSpPr/>
          <p:nvPr/>
        </p:nvSpPr>
        <p:spPr>
          <a:xfrm>
            <a:off x="10085832" y="1645920"/>
            <a:ext cx="822960" cy="822960"/>
          </a:xfrm>
          <a:prstGeom prst="ellipse">
            <a:avLst/>
          </a:prstGeom>
          <a:solidFill>
            <a:schemeClr val="accent1"/>
          </a:solidFill>
          <a:ln/>
        </p:spPr>
      </p:sp>
      <p:pic>
        <p:nvPicPr>
          <p:cNvPr id="23" name="Image 1" descr="Latency icon">    </p:cNvPr>
          <p:cNvPicPr>
            <a:picLocks noChangeAspect="1"/>
          </p:cNvPicPr>
          <p:nvPr/>
        </p:nvPicPr>
        <p:blipFill>
          <a:blip r:embed="rId2"/>
          <a:stretch>
            <a:fillRect/>
          </a:stretch>
        </p:blipFill>
        <p:spPr>
          <a:xfrm>
            <a:off x="10291572" y="1851660"/>
            <a:ext cx="411480" cy="411480"/>
          </a:xfrm>
          <a:prstGeom prst="rect">
            <a:avLst/>
          </a:prstGeom>
        </p:spPr>
      </p:pic>
      <p:sp>
        <p:nvSpPr>
          <p:cNvPr id="24" name="Latency label"/>
          <p:cNvSpPr txBox="1"/>
          <p:nvPr/>
        </p:nvSpPr>
        <p:spPr>
          <a:xfrm>
            <a:off x="9354312" y="2606040"/>
            <a:ext cx="2286000" cy="411480"/>
          </a:xfrm>
          <a:prstGeom prst="rect">
            <a:avLst/>
          </a:prstGeom>
          <a:noFill/>
          <a:ln/>
        </p:spPr>
        <p:txBody>
          <a:bodyPr wrap="square" lIns="0" tIns="0" rIns="0" bIns="0" rtlCol="0" anchor="ctr"/>
          <a:lstStyle/>
          <a:p>
            <a:pPr algn="ctr" indent="0" marL="0">
              <a:buNone/>
            </a:pPr>
            <a:r>
              <a:rPr lang="en-US" sz="2200" b="1" dirty="0">
                <a:solidFill>
                  <a:schemeClr val="tx1"/>
                </a:solidFill>
              </a:rPr>
              <a:t>Latency</a:t>
            </a:r>
            <a:endParaRPr lang="en-US" sz="2200" dirty="0"/>
          </a:p>
        </p:txBody>
      </p:sp>
      <p:sp>
        <p:nvSpPr>
          <p:cNvPr id="25" name="Latency unit"/>
          <p:cNvSpPr txBox="1"/>
          <p:nvPr/>
        </p:nvSpPr>
        <p:spPr>
          <a:xfrm>
            <a:off x="9354312" y="3063240"/>
            <a:ext cx="2286000" cy="320040"/>
          </a:xfrm>
          <a:prstGeom prst="rect">
            <a:avLst/>
          </a:prstGeom>
          <a:noFill/>
          <a:ln/>
        </p:spPr>
        <p:txBody>
          <a:bodyPr wrap="square" lIns="0" tIns="0" rIns="0" bIns="0" rtlCol="0" anchor="ctr"/>
          <a:lstStyle/>
          <a:p>
            <a:pPr algn="ctr" indent="0" marL="0">
              <a:buNone/>
            </a:pPr>
            <a:r>
              <a:rPr lang="en-US" sz="1500" dirty="0">
                <a:solidFill>
                  <a:srgbClr val="5F727C"/>
                </a:solidFill>
              </a:rPr>
              <a:t>(ms)</a:t>
            </a:r>
            <a:endParaRPr lang="en-US" sz="1500" dirty="0"/>
          </a:p>
        </p:txBody>
      </p:sp>
      <p:sp>
        <p:nvSpPr>
          <p:cNvPr id="26" name="Metric tile Accuracy"/>
          <p:cNvSpPr/>
          <p:nvPr/>
        </p:nvSpPr>
        <p:spPr>
          <a:xfrm>
            <a:off x="6885432" y="3749040"/>
            <a:ext cx="2286000" cy="2194560"/>
          </a:xfrm>
          <a:prstGeom prst="roundRect">
            <a:avLst>
              <a:gd name="adj" fmla="val 5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27" name="Accuracy circle"/>
          <p:cNvSpPr/>
          <p:nvPr/>
        </p:nvSpPr>
        <p:spPr>
          <a:xfrm>
            <a:off x="7616952" y="4023360"/>
            <a:ext cx="822960" cy="822960"/>
          </a:xfrm>
          <a:prstGeom prst="ellipse">
            <a:avLst/>
          </a:prstGeom>
          <a:solidFill>
            <a:schemeClr val="accent1"/>
          </a:solidFill>
          <a:ln/>
        </p:spPr>
      </p:sp>
      <p:pic>
        <p:nvPicPr>
          <p:cNvPr id="28" name="Image 2" descr="Accuracy icon">    </p:cNvPr>
          <p:cNvPicPr>
            <a:picLocks noChangeAspect="1"/>
          </p:cNvPicPr>
          <p:nvPr/>
        </p:nvPicPr>
        <p:blipFill>
          <a:blip r:embed="rId3"/>
          <a:stretch>
            <a:fillRect/>
          </a:stretch>
        </p:blipFill>
        <p:spPr>
          <a:xfrm>
            <a:off x="7822692" y="4229100"/>
            <a:ext cx="411480" cy="411480"/>
          </a:xfrm>
          <a:prstGeom prst="rect">
            <a:avLst/>
          </a:prstGeom>
        </p:spPr>
      </p:pic>
      <p:sp>
        <p:nvSpPr>
          <p:cNvPr id="29" name="Accuracy label"/>
          <p:cNvSpPr txBox="1"/>
          <p:nvPr/>
        </p:nvSpPr>
        <p:spPr>
          <a:xfrm>
            <a:off x="6885432" y="4983480"/>
            <a:ext cx="2286000" cy="411480"/>
          </a:xfrm>
          <a:prstGeom prst="rect">
            <a:avLst/>
          </a:prstGeom>
          <a:noFill/>
          <a:ln/>
        </p:spPr>
        <p:txBody>
          <a:bodyPr wrap="square" lIns="0" tIns="0" rIns="0" bIns="0" rtlCol="0" anchor="ctr"/>
          <a:lstStyle/>
          <a:p>
            <a:pPr algn="ctr" indent="0" marL="0">
              <a:buNone/>
            </a:pPr>
            <a:r>
              <a:rPr lang="en-US" sz="2200" b="1" dirty="0">
                <a:solidFill>
                  <a:schemeClr val="tx1"/>
                </a:solidFill>
              </a:rPr>
              <a:t>Accuracy</a:t>
            </a:r>
            <a:endParaRPr lang="en-US" sz="2200" dirty="0"/>
          </a:p>
        </p:txBody>
      </p:sp>
      <p:sp>
        <p:nvSpPr>
          <p:cNvPr id="30" name="Accuracy unit"/>
          <p:cNvSpPr txBox="1"/>
          <p:nvPr/>
        </p:nvSpPr>
        <p:spPr>
          <a:xfrm>
            <a:off x="6885432" y="5440680"/>
            <a:ext cx="2286000" cy="320040"/>
          </a:xfrm>
          <a:prstGeom prst="rect">
            <a:avLst/>
          </a:prstGeom>
          <a:noFill/>
          <a:ln/>
        </p:spPr>
        <p:txBody>
          <a:bodyPr wrap="square" lIns="0" tIns="0" rIns="0" bIns="0" rtlCol="0" anchor="ctr"/>
          <a:lstStyle/>
          <a:p>
            <a:pPr algn="ctr" indent="0" marL="0">
              <a:buNone/>
            </a:pPr>
            <a:r>
              <a:rPr lang="en-US" sz="1500" dirty="0">
                <a:solidFill>
                  <a:srgbClr val="5F727C"/>
                </a:solidFill>
              </a:rPr>
              <a:t>(%)</a:t>
            </a:r>
            <a:endParaRPr lang="en-US" sz="1500" dirty="0"/>
          </a:p>
        </p:txBody>
      </p:sp>
      <p:sp>
        <p:nvSpPr>
          <p:cNvPr id="31" name="Metric tile Bandwidth"/>
          <p:cNvSpPr/>
          <p:nvPr/>
        </p:nvSpPr>
        <p:spPr>
          <a:xfrm>
            <a:off x="9354312" y="3749040"/>
            <a:ext cx="2286000" cy="2194560"/>
          </a:xfrm>
          <a:prstGeom prst="roundRect">
            <a:avLst>
              <a:gd name="adj" fmla="val 5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32" name="Bandwidth circle"/>
          <p:cNvSpPr/>
          <p:nvPr/>
        </p:nvSpPr>
        <p:spPr>
          <a:xfrm>
            <a:off x="10085832" y="4023360"/>
            <a:ext cx="822960" cy="822960"/>
          </a:xfrm>
          <a:prstGeom prst="ellipse">
            <a:avLst/>
          </a:prstGeom>
          <a:solidFill>
            <a:schemeClr val="accent1"/>
          </a:solidFill>
          <a:ln/>
        </p:spPr>
      </p:sp>
      <p:pic>
        <p:nvPicPr>
          <p:cNvPr id="33" name="Image 3" descr="Bandwidth icon">    </p:cNvPr>
          <p:cNvPicPr>
            <a:picLocks noChangeAspect="1"/>
          </p:cNvPicPr>
          <p:nvPr/>
        </p:nvPicPr>
        <p:blipFill>
          <a:blip r:embed="rId4"/>
          <a:stretch>
            <a:fillRect/>
          </a:stretch>
        </p:blipFill>
        <p:spPr>
          <a:xfrm>
            <a:off x="10291572" y="4229100"/>
            <a:ext cx="411480" cy="411480"/>
          </a:xfrm>
          <a:prstGeom prst="rect">
            <a:avLst/>
          </a:prstGeom>
        </p:spPr>
      </p:pic>
      <p:sp>
        <p:nvSpPr>
          <p:cNvPr id="34" name="Bandwidth label"/>
          <p:cNvSpPr txBox="1"/>
          <p:nvPr/>
        </p:nvSpPr>
        <p:spPr>
          <a:xfrm>
            <a:off x="9354312" y="4983480"/>
            <a:ext cx="2286000" cy="411480"/>
          </a:xfrm>
          <a:prstGeom prst="rect">
            <a:avLst/>
          </a:prstGeom>
          <a:noFill/>
          <a:ln/>
        </p:spPr>
        <p:txBody>
          <a:bodyPr wrap="square" lIns="0" tIns="0" rIns="0" bIns="0" rtlCol="0" anchor="ctr"/>
          <a:lstStyle/>
          <a:p>
            <a:pPr algn="ctr" indent="0" marL="0">
              <a:buNone/>
            </a:pPr>
            <a:r>
              <a:rPr lang="en-US" sz="2200" b="1" dirty="0">
                <a:solidFill>
                  <a:schemeClr val="tx1"/>
                </a:solidFill>
              </a:rPr>
              <a:t>Bandwidth</a:t>
            </a:r>
            <a:endParaRPr lang="en-US" sz="2200" dirty="0"/>
          </a:p>
        </p:txBody>
      </p:sp>
      <p:sp>
        <p:nvSpPr>
          <p:cNvPr id="35" name="Bandwidth unit"/>
          <p:cNvSpPr txBox="1"/>
          <p:nvPr/>
        </p:nvSpPr>
        <p:spPr>
          <a:xfrm>
            <a:off x="9354312" y="5440680"/>
            <a:ext cx="2286000" cy="320040"/>
          </a:xfrm>
          <a:prstGeom prst="rect">
            <a:avLst/>
          </a:prstGeom>
          <a:noFill/>
          <a:ln/>
        </p:spPr>
        <p:txBody>
          <a:bodyPr wrap="square" lIns="0" tIns="0" rIns="0" bIns="0" rtlCol="0" anchor="ctr"/>
          <a:lstStyle/>
          <a:p>
            <a:pPr algn="ctr" indent="0" marL="0">
              <a:buNone/>
            </a:pPr>
            <a:r>
              <a:rPr lang="en-US" sz="1500" dirty="0">
                <a:solidFill>
                  <a:srgbClr val="5F727C"/>
                </a:solidFill>
              </a:rPr>
              <a:t>(bytes sent)</a:t>
            </a:r>
            <a:endParaRPr lang="en-US" sz="15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Results: Pre-Hardware Simulation</a:t>
            </a:r>
            <a:endParaRPr lang="en-US" sz="3600" dirty="0"/>
          </a:p>
        </p:txBody>
      </p:sp>
      <p:sp>
        <p:nvSpPr>
          <p:cNvPr id="4" name="Results figure card"/>
          <p:cNvSpPr/>
          <p:nvPr/>
        </p:nvSpPr>
        <p:spPr>
          <a:xfrm>
            <a:off x="548640" y="1371600"/>
            <a:ext cx="6400800" cy="4069080"/>
          </a:xfrm>
          <a:prstGeom prst="roundRect">
            <a:avLst>
              <a:gd name="adj" fmla="val 2697"/>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pic>
        <p:nvPicPr>
          <p:cNvPr id="5" name="Image 0" descr="Three stacked panels showing the simulated signal and the sampling instants of the fixed-rate, threshold-adaptive and predictive-adaptive policies around an induced event">    </p:cNvPr>
          <p:cNvPicPr>
            <a:picLocks noChangeAspect="1"/>
          </p:cNvPicPr>
          <p:nvPr/>
        </p:nvPicPr>
        <p:blipFill>
          <a:blip r:embed="rId1"/>
          <a:stretch>
            <a:fillRect/>
          </a:stretch>
        </p:blipFill>
        <p:spPr>
          <a:xfrm>
            <a:off x="868680" y="1508760"/>
            <a:ext cx="5760720" cy="3577450"/>
          </a:xfrm>
          <a:prstGeom prst="rect">
            <a:avLst/>
          </a:prstGeom>
        </p:spPr>
      </p:pic>
      <p:sp>
        <p:nvSpPr>
          <p:cNvPr id="6" name="Results figure caption"/>
          <p:cNvSpPr txBox="1"/>
          <p:nvPr/>
        </p:nvSpPr>
        <p:spPr>
          <a:xfrm>
            <a:off x="868680" y="5141074"/>
            <a:ext cx="5760720" cy="256032"/>
          </a:xfrm>
          <a:prstGeom prst="rect">
            <a:avLst/>
          </a:prstGeom>
          <a:noFill/>
          <a:ln/>
        </p:spPr>
        <p:txBody>
          <a:bodyPr wrap="square" lIns="0" tIns="0" rIns="0" bIns="0" rtlCol="0" anchor="ctr"/>
          <a:lstStyle/>
          <a:p>
            <a:pPr indent="0" marL="0">
              <a:buNone/>
            </a:pPr>
            <a:r>
              <a:rPr lang="en-US" sz="1200" i="1" dirty="0">
                <a:solidFill>
                  <a:srgbClr val="5F727C"/>
                </a:solidFill>
              </a:rPr>
              <a:t>Pre-hardware simulation (synthetic event)</a:t>
            </a:r>
            <a:endParaRPr lang="en-US" sz="1200" dirty="0"/>
          </a:p>
        </p:txBody>
      </p:sp>
      <p:graphicFrame>
        <p:nvGraphicFramePr>
          <p:cNvPr id="11" name="Results table"/>
          <p:cNvGraphicFramePr>
            <a:graphicFrameLocks noGrp="1"/>
          </p:cNvGraphicFramePr>
          <p:nvPr>
            <p:extLst>
              <p:ext uri="{D42A27DB-BD31-4B8C-83A1-F6EECF244321}">
                <p14:modId xmlns:p14="http://schemas.microsoft.com/office/powerpoint/2010/main" val="1579011935"/>
              </p:ext>
            </p:extLst>
          </p:nvPr>
        </p:nvGraphicFramePr>
        <p:xfrm>
          <a:off x="7178040" y="1371600"/>
          <a:ext cx="4465015" cy="914400"/>
        </p:xfrm>
        <a:graphic>
          <a:graphicData uri="http://schemas.openxmlformats.org/drawingml/2006/table">
            <a:tbl>
              <a:tblPr/>
              <a:tblGrid>
                <a:gridCol w="1874520"/>
                <a:gridCol w="868680"/>
                <a:gridCol w="1721815"/>
              </a:tblGrid>
              <a:tr h="457200">
                <a:tc>
                  <a:txBody>
                    <a:bodyPr/>
                    <a:lstStyle/>
                    <a:p>
                      <a:pPr algn="l" indent="0" marL="0">
                        <a:buNone/>
                      </a:pPr>
                      <a:r>
                        <a:rPr lang="en-US" sz="1400" b="1" dirty="0">
                          <a:solidFill>
                            <a:schemeClr val="bg1"/>
                          </a:solidFill>
                        </a:rPr>
                        <a:t>Policy</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Samples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High-rate start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r>
              <a:tr h="457200">
                <a:tc>
                  <a:txBody>
                    <a:bodyPr/>
                    <a:lstStyle/>
                    <a:p>
                      <a:pPr algn="l" indent="0" marL="0">
                        <a:buNone/>
                      </a:pPr>
                      <a:r>
                        <a:rPr lang="en-US" sz="1400" dirty="0">
                          <a:solidFill>
                            <a:schemeClr val="tx1"/>
                          </a:solidFill>
                        </a:rPr>
                        <a:t>Fixed-rate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20</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n/a</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Threshold-adaptive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52</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+400 ms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rPr>
                        <a:t>Predictive-adaptive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c>
                  <a:txBody>
                    <a:bodyPr/>
                    <a:lstStyle/>
                    <a:p>
                      <a:pPr algn="ctr" indent="0" marL="0">
                        <a:buNone/>
                      </a:pPr>
                      <a:r>
                        <a:rPr lang="en-US" sz="1400" b="1" dirty="0">
                          <a:solidFill>
                            <a:schemeClr val="tx1"/>
                          </a:solidFill>
                        </a:rPr>
                        <a:t>65</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c>
                  <a:txBody>
                    <a:bodyPr/>
                    <a:lstStyle/>
                    <a:p>
                      <a:pPr algn="ctr" indent="0" marL="0">
                        <a:buNone/>
                      </a:pPr>
                      <a:r>
                        <a:rPr lang="en-US" sz="1400" b="1" dirty="0">
                          <a:solidFill>
                            <a:schemeClr val="tx1"/>
                          </a:solidFill>
                        </a:rPr>
                        <a:t>−400 ms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r>
            </a:tbl>
          </a:graphicData>
        </a:graphic>
      </p:graphicFrame>
      <p:sp>
        <p:nvSpPr>
          <p:cNvPr id="8" name="Results table caption"/>
          <p:cNvSpPr txBox="1"/>
          <p:nvPr/>
        </p:nvSpPr>
        <p:spPr>
          <a:xfrm>
            <a:off x="7178040" y="3273552"/>
            <a:ext cx="4465015" cy="256032"/>
          </a:xfrm>
          <a:prstGeom prst="rect">
            <a:avLst/>
          </a:prstGeom>
          <a:noFill/>
          <a:ln/>
        </p:spPr>
        <p:txBody>
          <a:bodyPr wrap="square" lIns="0" tIns="0" rIns="0" bIns="0" rtlCol="0" anchor="ctr"/>
          <a:lstStyle/>
          <a:p>
            <a:pPr indent="0" marL="0">
              <a:buNone/>
            </a:pPr>
            <a:r>
              <a:rPr lang="en-US" sz="1200" dirty="0">
                <a:solidFill>
                  <a:srgbClr val="5F727C"/>
                </a:solidFill>
              </a:rPr>
              <a:t>Times relative to event start (0 ms)</a:t>
            </a:r>
            <a:endParaRPr lang="en-US" sz="1200" dirty="0"/>
          </a:p>
        </p:txBody>
      </p:sp>
      <p:sp>
        <p:nvSpPr>
          <p:cNvPr id="9" name="Results callout"/>
          <p:cNvSpPr/>
          <p:nvPr/>
        </p:nvSpPr>
        <p:spPr>
          <a:xfrm>
            <a:off x="7178040" y="3703320"/>
            <a:ext cx="4465015" cy="1737360"/>
          </a:xfrm>
          <a:prstGeom prst="roundRect">
            <a:avLst>
              <a:gd name="adj" fmla="val 6316"/>
            </a:avLst>
          </a:prstGeom>
          <a:solidFill>
            <a:schemeClr val="accent3"/>
          </a:solidFill>
          <a:ln/>
        </p:spPr>
      </p:sp>
      <p:sp>
        <p:nvSpPr>
          <p:cNvPr id="10" name="Results callout text"/>
          <p:cNvSpPr txBox="1"/>
          <p:nvPr/>
        </p:nvSpPr>
        <p:spPr>
          <a:xfrm>
            <a:off x="7452360" y="3886200"/>
            <a:ext cx="3916375" cy="1371600"/>
          </a:xfrm>
          <a:prstGeom prst="rect">
            <a:avLst/>
          </a:prstGeom>
          <a:noFill/>
          <a:ln/>
        </p:spPr>
        <p:txBody>
          <a:bodyPr wrap="square" lIns="0" tIns="0" rIns="0" bIns="0" rtlCol="0" anchor="ctr"/>
          <a:lstStyle/>
          <a:p>
            <a:pPr indent="0" marL="0">
              <a:buNone/>
            </a:pPr>
            <a:r>
              <a:rPr lang="en-US" sz="1900" b="1" dirty="0">
                <a:solidFill>
                  <a:schemeClr val="bg1"/>
                </a:solidFill>
              </a:rPr>
              <a:t>Predictive switched to high-rate sampling 800 ms earlier than the threshold policy, for 13 extra samples</a:t>
            </a:r>
            <a:endParaRPr lang="en-US" sz="1900" dirty="0"/>
          </a:p>
        </p:txBody>
      </p:sp>
      <p:sp>
        <p:nvSpPr>
          <p:cNvPr id="11" name="Simulation caveat strip"/>
          <p:cNvSpPr/>
          <p:nvPr/>
        </p:nvSpPr>
        <p:spPr>
          <a:xfrm>
            <a:off x="548640" y="5577840"/>
            <a:ext cx="11094415" cy="457200"/>
          </a:xfrm>
          <a:prstGeom prst="roundRect">
            <a:avLst>
              <a:gd name="adj" fmla="val 24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2" name="Simulation caveat text"/>
          <p:cNvSpPr txBox="1"/>
          <p:nvPr/>
        </p:nvSpPr>
        <p:spPr>
          <a:xfrm>
            <a:off x="777240" y="5577840"/>
            <a:ext cx="10637215" cy="457200"/>
          </a:xfrm>
          <a:prstGeom prst="rect">
            <a:avLst/>
          </a:prstGeom>
          <a:noFill/>
          <a:ln/>
        </p:spPr>
        <p:txBody>
          <a:bodyPr wrap="square" lIns="0" tIns="0" rIns="0" bIns="0" rtlCol="0" anchor="ctr"/>
          <a:lstStyle/>
          <a:p>
            <a:pPr indent="0" marL="0">
              <a:buNone/>
            </a:pPr>
            <a:r>
              <a:rPr lang="en-US" sz="1300" dirty="0">
                <a:solidFill>
                  <a:schemeClr val="tx1"/>
                </a:solidFill>
              </a:rPr>
              <a:t>Synthetic 20-second trace with one induced event. Trigger sensitivity was tuned on this same trace. Physical-hardware results pending.</a:t>
            </a:r>
            <a:endParaRPr lang="en-US" sz="13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Limitations and Future Work</a:t>
            </a:r>
            <a:endParaRPr lang="en-US" sz="3600" dirty="0"/>
          </a:p>
        </p:txBody>
      </p:sp>
      <p:sp>
        <p:nvSpPr>
          <p:cNvPr id="4" name="Limitations card"/>
          <p:cNvSpPr/>
          <p:nvPr/>
        </p:nvSpPr>
        <p:spPr>
          <a:xfrm>
            <a:off x="548640" y="1371600"/>
            <a:ext cx="5455768" cy="4480560"/>
          </a:xfrm>
          <a:prstGeom prst="roundRect">
            <a:avLst>
              <a:gd name="adj" fmla="val 244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Limitations circle"/>
          <p:cNvSpPr/>
          <p:nvPr/>
        </p:nvSpPr>
        <p:spPr>
          <a:xfrm>
            <a:off x="914400" y="1691640"/>
            <a:ext cx="731520" cy="731520"/>
          </a:xfrm>
          <a:prstGeom prst="ellipse">
            <a:avLst/>
          </a:prstGeom>
          <a:solidFill>
            <a:schemeClr val="accent5"/>
          </a:solidFill>
          <a:ln/>
        </p:spPr>
      </p:sp>
      <p:pic>
        <p:nvPicPr>
          <p:cNvPr id="6" name="Image 0" descr="Limitations icon">    </p:cNvPr>
          <p:cNvPicPr>
            <a:picLocks noChangeAspect="1"/>
          </p:cNvPicPr>
          <p:nvPr/>
        </p:nvPicPr>
        <p:blipFill>
          <a:blip r:embed="rId1"/>
          <a:stretch>
            <a:fillRect/>
          </a:stretch>
        </p:blipFill>
        <p:spPr>
          <a:xfrm>
            <a:off x="1097280" y="1874520"/>
            <a:ext cx="365760" cy="365760"/>
          </a:xfrm>
          <a:prstGeom prst="rect">
            <a:avLst/>
          </a:prstGeom>
        </p:spPr>
      </p:pic>
      <p:sp>
        <p:nvSpPr>
          <p:cNvPr id="7" name="Limitations title"/>
          <p:cNvSpPr txBox="1"/>
          <p:nvPr/>
        </p:nvSpPr>
        <p:spPr>
          <a:xfrm>
            <a:off x="1828800" y="1691640"/>
            <a:ext cx="3809848" cy="731520"/>
          </a:xfrm>
          <a:prstGeom prst="rect">
            <a:avLst/>
          </a:prstGeom>
          <a:noFill/>
          <a:ln/>
        </p:spPr>
        <p:txBody>
          <a:bodyPr wrap="square" lIns="0" tIns="0" rIns="0" bIns="0" rtlCol="0" anchor="ctr"/>
          <a:lstStyle/>
          <a:p>
            <a:pPr indent="0" marL="0">
              <a:buNone/>
            </a:pPr>
            <a:r>
              <a:rPr lang="en-US" sz="2600" b="1" dirty="0">
                <a:solidFill>
                  <a:schemeClr val="tx1"/>
                </a:solidFill>
              </a:rPr>
              <a:t>Limitations</a:t>
            </a:r>
            <a:endParaRPr lang="en-US" sz="2600" dirty="0"/>
          </a:p>
        </p:txBody>
      </p:sp>
      <p:sp>
        <p:nvSpPr>
          <p:cNvPr id="8" name="Limitations list"/>
          <p:cNvSpPr txBox="1"/>
          <p:nvPr/>
        </p:nvSpPr>
        <p:spPr>
          <a:xfrm>
            <a:off x="960120" y="2743200"/>
            <a:ext cx="4632808"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Not yet validated on physical hardware</a:t>
            </a:r>
            <a:endParaRPr lang="en-US" sz="2000" dirty="0"/>
          </a:p>
          <a:p>
            <a:pPr marL="342900" indent="-342900">
              <a:spcAft>
                <a:spcPts val="1400"/>
              </a:spcAft>
              <a:buSzPct val="100000"/>
              <a:buChar char="•"/>
            </a:pPr>
            <a:r>
              <a:rPr lang="en-US" sz="2000" dirty="0">
                <a:solidFill>
                  <a:schemeClr val="tx1"/>
                </a:solidFill>
              </a:rPr>
              <a:t>Simulation uses a single synthetic event</a:t>
            </a:r>
            <a:endParaRPr lang="en-US" sz="2000" dirty="0"/>
          </a:p>
          <a:p>
            <a:pPr marL="342900" indent="-342900">
              <a:spcAft>
                <a:spcPts val="1400"/>
              </a:spcAft>
              <a:buSzPct val="100000"/>
              <a:buChar char="•"/>
            </a:pPr>
            <a:r>
              <a:rPr lang="en-US" sz="2000" dirty="0">
                <a:solidFill>
                  <a:schemeClr val="tx1"/>
                </a:solidFill>
              </a:rPr>
              <a:t>Accuracy metric is a placeholder until labelled data exists</a:t>
            </a:r>
            <a:endParaRPr lang="en-US" sz="2000" dirty="0"/>
          </a:p>
          <a:p>
            <a:pPr marL="342900" indent="-342900">
              <a:spcAft>
                <a:spcPts val="1400"/>
              </a:spcAft>
              <a:buSzPct val="100000"/>
              <a:buChar char="•"/>
            </a:pPr>
            <a:r>
              <a:rPr lang="en-US" sz="2000" dirty="0">
                <a:solidFill>
                  <a:schemeClr val="tx1"/>
                </a:solidFill>
              </a:rPr>
              <a:t>Trigger value was tuned on the same trace it is evaluated on</a:t>
            </a:r>
            <a:endParaRPr lang="en-US" sz="2000" dirty="0"/>
          </a:p>
        </p:txBody>
      </p:sp>
      <p:sp>
        <p:nvSpPr>
          <p:cNvPr id="9" name="Future Work card"/>
          <p:cNvSpPr/>
          <p:nvPr/>
        </p:nvSpPr>
        <p:spPr>
          <a:xfrm>
            <a:off x="6187288" y="1371600"/>
            <a:ext cx="5455768" cy="4480560"/>
          </a:xfrm>
          <a:prstGeom prst="roundRect">
            <a:avLst>
              <a:gd name="adj" fmla="val 244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0" name="Future Work circle"/>
          <p:cNvSpPr/>
          <p:nvPr/>
        </p:nvSpPr>
        <p:spPr>
          <a:xfrm>
            <a:off x="6553048" y="1691640"/>
            <a:ext cx="731520" cy="731520"/>
          </a:xfrm>
          <a:prstGeom prst="ellipse">
            <a:avLst/>
          </a:prstGeom>
          <a:solidFill>
            <a:schemeClr val="accent3"/>
          </a:solidFill>
          <a:ln/>
        </p:spPr>
      </p:sp>
      <p:pic>
        <p:nvPicPr>
          <p:cNvPr id="11" name="Image 1" descr="Future Work icon">    </p:cNvPr>
          <p:cNvPicPr>
            <a:picLocks noChangeAspect="1"/>
          </p:cNvPicPr>
          <p:nvPr/>
        </p:nvPicPr>
        <p:blipFill>
          <a:blip r:embed="rId2"/>
          <a:stretch>
            <a:fillRect/>
          </a:stretch>
        </p:blipFill>
        <p:spPr>
          <a:xfrm>
            <a:off x="6735928" y="1874520"/>
            <a:ext cx="365760" cy="365760"/>
          </a:xfrm>
          <a:prstGeom prst="rect">
            <a:avLst/>
          </a:prstGeom>
        </p:spPr>
      </p:pic>
      <p:sp>
        <p:nvSpPr>
          <p:cNvPr id="12" name="Future Work title"/>
          <p:cNvSpPr txBox="1"/>
          <p:nvPr/>
        </p:nvSpPr>
        <p:spPr>
          <a:xfrm>
            <a:off x="7467448" y="1691640"/>
            <a:ext cx="3809848" cy="731520"/>
          </a:xfrm>
          <a:prstGeom prst="rect">
            <a:avLst/>
          </a:prstGeom>
          <a:noFill/>
          <a:ln/>
        </p:spPr>
        <p:txBody>
          <a:bodyPr wrap="square" lIns="0" tIns="0" rIns="0" bIns="0" rtlCol="0" anchor="ctr"/>
          <a:lstStyle/>
          <a:p>
            <a:pPr indent="0" marL="0">
              <a:buNone/>
            </a:pPr>
            <a:r>
              <a:rPr lang="en-US" sz="2600" b="1" dirty="0">
                <a:solidFill>
                  <a:schemeClr val="tx1"/>
                </a:solidFill>
              </a:rPr>
              <a:t>Future Work</a:t>
            </a:r>
            <a:endParaRPr lang="en-US" sz="2600" dirty="0"/>
          </a:p>
        </p:txBody>
      </p:sp>
      <p:sp>
        <p:nvSpPr>
          <p:cNvPr id="13" name="Future Work list"/>
          <p:cNvSpPr txBox="1"/>
          <p:nvPr/>
        </p:nvSpPr>
        <p:spPr>
          <a:xfrm>
            <a:off x="6598768" y="2743200"/>
            <a:ext cx="4632808"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tx1"/>
                </a:solidFill>
              </a:rPr>
              <a:t>Run real trials on the ESP32 rig</a:t>
            </a:r>
            <a:endParaRPr lang="en-US" sz="2000" dirty="0"/>
          </a:p>
          <a:p>
            <a:pPr marL="342900" indent="-342900">
              <a:spcAft>
                <a:spcPts val="1400"/>
              </a:spcAft>
              <a:buSzPct val="100000"/>
              <a:buChar char="•"/>
            </a:pPr>
            <a:r>
              <a:rPr lang="en-US" sz="2000" dirty="0">
                <a:solidFill>
                  <a:schemeClr val="tx1"/>
                </a:solidFill>
              </a:rPr>
              <a:t>Sweep trigger sensitivity for the full trade-off curve</a:t>
            </a:r>
            <a:endParaRPr lang="en-US" sz="2000" dirty="0"/>
          </a:p>
          <a:p>
            <a:pPr marL="342900" indent="-342900">
              <a:spcAft>
                <a:spcPts val="1400"/>
              </a:spcAft>
              <a:buSzPct val="100000"/>
              <a:buChar char="•"/>
            </a:pPr>
            <a:r>
              <a:rPr lang="en-US" sz="2000" dirty="0">
                <a:solidFill>
                  <a:schemeClr val="tx1"/>
                </a:solidFill>
              </a:rPr>
              <a:t>Compare light sleep with deep sleep</a:t>
            </a:r>
            <a:endParaRPr lang="en-US" sz="2000" dirty="0"/>
          </a:p>
          <a:p>
            <a:pPr marL="342900" indent="-342900">
              <a:spcAft>
                <a:spcPts val="1400"/>
              </a:spcAft>
              <a:buSzPct val="100000"/>
              <a:buChar char="•"/>
            </a:pPr>
            <a:r>
              <a:rPr lang="en-US" sz="2000" dirty="0">
                <a:solidFill>
                  <a:schemeClr val="tx1"/>
                </a:solidFill>
              </a:rPr>
              <a:t>Add precision, recall and F1 scoring</a:t>
            </a:r>
            <a:endParaRPr lang="en-US" sz="20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Conclusion and Expected Contribution</a:t>
            </a:r>
            <a:endParaRPr lang="en-US" sz="3600" dirty="0"/>
          </a:p>
        </p:txBody>
      </p:sp>
      <p:sp>
        <p:nvSpPr>
          <p:cNvPr id="4" name="Contribution card"/>
          <p:cNvSpPr/>
          <p:nvPr/>
        </p:nvSpPr>
        <p:spPr>
          <a:xfrm>
            <a:off x="548640" y="1371600"/>
            <a:ext cx="5120640" cy="4480560"/>
          </a:xfrm>
          <a:prstGeom prst="roundRect">
            <a:avLst>
              <a:gd name="adj" fmla="val 244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5" name="Efficiency circle"/>
          <p:cNvSpPr/>
          <p:nvPr/>
        </p:nvSpPr>
        <p:spPr>
          <a:xfrm>
            <a:off x="1005840" y="1828800"/>
            <a:ext cx="1188720" cy="1188720"/>
          </a:xfrm>
          <a:prstGeom prst="ellipse">
            <a:avLst/>
          </a:prstGeom>
          <a:solidFill>
            <a:schemeClr val="accent3"/>
          </a:solidFill>
          <a:ln/>
        </p:spPr>
      </p:sp>
      <p:pic>
        <p:nvPicPr>
          <p:cNvPr id="6" name="Image 0" descr="Efficiency icon">    </p:cNvPr>
          <p:cNvPicPr>
            <a:picLocks noChangeAspect="1"/>
          </p:cNvPicPr>
          <p:nvPr/>
        </p:nvPicPr>
        <p:blipFill>
          <a:blip r:embed="rId1"/>
          <a:stretch>
            <a:fillRect/>
          </a:stretch>
        </p:blipFill>
        <p:spPr>
          <a:xfrm>
            <a:off x="1303020" y="2125980"/>
            <a:ext cx="594360" cy="594360"/>
          </a:xfrm>
          <a:prstGeom prst="rect">
            <a:avLst/>
          </a:prstGeom>
        </p:spPr>
      </p:pic>
      <p:sp>
        <p:nvSpPr>
          <p:cNvPr id="7" name="Contribution statement"/>
          <p:cNvSpPr txBox="1"/>
          <p:nvPr/>
        </p:nvSpPr>
        <p:spPr>
          <a:xfrm>
            <a:off x="1005840" y="3291840"/>
            <a:ext cx="4206240" cy="2194560"/>
          </a:xfrm>
          <a:prstGeom prst="rect">
            <a:avLst/>
          </a:prstGeom>
          <a:noFill/>
          <a:ln/>
        </p:spPr>
        <p:txBody>
          <a:bodyPr wrap="square" lIns="0" tIns="0" rIns="0" bIns="0" rtlCol="0" anchor="t"/>
          <a:lstStyle/>
          <a:p>
            <a:pPr indent="0" marL="0">
              <a:buNone/>
            </a:pPr>
            <a:r>
              <a:rPr lang="en-US" sz="2600" b="1" dirty="0">
                <a:solidFill>
                  <a:schemeClr val="tx2"/>
                </a:solidFill>
              </a:rPr>
              <a:t>A lightweight on-device predictive trigger, tested against fixed-rate and threshold baselines</a:t>
            </a:r>
            <a:endParaRPr lang="en-US" sz="2600" dirty="0"/>
          </a:p>
        </p:txBody>
      </p:sp>
      <p:sp>
        <p:nvSpPr>
          <p:cNvPr id="8" name="Contribution point 1"/>
          <p:cNvSpPr/>
          <p:nvPr/>
        </p:nvSpPr>
        <p:spPr>
          <a:xfrm>
            <a:off x="5943600" y="1371600"/>
            <a:ext cx="5699455"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9" name="Contribution point 1 circle"/>
          <p:cNvSpPr/>
          <p:nvPr/>
        </p:nvSpPr>
        <p:spPr>
          <a:xfrm>
            <a:off x="6263640" y="1737360"/>
            <a:ext cx="640080" cy="640080"/>
          </a:xfrm>
          <a:prstGeom prst="ellipse">
            <a:avLst/>
          </a:prstGeom>
          <a:solidFill>
            <a:schemeClr val="accent3"/>
          </a:solidFill>
          <a:ln/>
        </p:spPr>
      </p:sp>
      <p:pic>
        <p:nvPicPr>
          <p:cNvPr id="10" name="Image 1" descr="Contribution point 1 icon">    </p:cNvPr>
          <p:cNvPicPr>
            <a:picLocks noChangeAspect="1"/>
          </p:cNvPicPr>
          <p:nvPr/>
        </p:nvPicPr>
        <p:blipFill>
          <a:blip r:embed="rId2"/>
          <a:stretch>
            <a:fillRect/>
          </a:stretch>
        </p:blipFill>
        <p:spPr>
          <a:xfrm>
            <a:off x="6423660" y="1897380"/>
            <a:ext cx="320040" cy="320040"/>
          </a:xfrm>
          <a:prstGeom prst="rect">
            <a:avLst/>
          </a:prstGeom>
        </p:spPr>
      </p:pic>
      <p:sp>
        <p:nvSpPr>
          <p:cNvPr id="11" name="Contribution point 1 text"/>
          <p:cNvSpPr txBox="1"/>
          <p:nvPr/>
        </p:nvSpPr>
        <p:spPr>
          <a:xfrm>
            <a:off x="7178040" y="1508760"/>
            <a:ext cx="4190695" cy="1097280"/>
          </a:xfrm>
          <a:prstGeom prst="rect">
            <a:avLst/>
          </a:prstGeom>
          <a:noFill/>
          <a:ln/>
        </p:spPr>
        <p:txBody>
          <a:bodyPr wrap="square" lIns="0" tIns="0" rIns="0" bIns="0" rtlCol="0" anchor="ctr"/>
          <a:lstStyle/>
          <a:p>
            <a:pPr indent="0" marL="0">
              <a:buNone/>
            </a:pPr>
            <a:r>
              <a:rPr lang="en-US" sz="2000" dirty="0">
                <a:solidFill>
                  <a:schemeClr val="tx1"/>
                </a:solidFill>
              </a:rPr>
              <a:t>Full accuracy-vs-energy trade-off curve, not a single point</a:t>
            </a:r>
            <a:endParaRPr lang="en-US" sz="2000" dirty="0"/>
          </a:p>
        </p:txBody>
      </p:sp>
      <p:sp>
        <p:nvSpPr>
          <p:cNvPr id="12" name="Contribution point 2"/>
          <p:cNvSpPr/>
          <p:nvPr/>
        </p:nvSpPr>
        <p:spPr>
          <a:xfrm>
            <a:off x="5943600" y="2926080"/>
            <a:ext cx="5699455"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3" name="Contribution point 2 circle"/>
          <p:cNvSpPr/>
          <p:nvPr/>
        </p:nvSpPr>
        <p:spPr>
          <a:xfrm>
            <a:off x="6263640" y="3291840"/>
            <a:ext cx="640080" cy="640080"/>
          </a:xfrm>
          <a:prstGeom prst="ellipse">
            <a:avLst/>
          </a:prstGeom>
          <a:solidFill>
            <a:schemeClr val="accent3"/>
          </a:solidFill>
          <a:ln/>
        </p:spPr>
      </p:sp>
      <p:pic>
        <p:nvPicPr>
          <p:cNvPr id="14" name="Image 2" descr="Contribution point 2 icon">    </p:cNvPr>
          <p:cNvPicPr>
            <a:picLocks noChangeAspect="1"/>
          </p:cNvPicPr>
          <p:nvPr/>
        </p:nvPicPr>
        <p:blipFill>
          <a:blip r:embed="rId3"/>
          <a:stretch>
            <a:fillRect/>
          </a:stretch>
        </p:blipFill>
        <p:spPr>
          <a:xfrm>
            <a:off x="6423660" y="3451860"/>
            <a:ext cx="320040" cy="320040"/>
          </a:xfrm>
          <a:prstGeom prst="rect">
            <a:avLst/>
          </a:prstGeom>
        </p:spPr>
      </p:pic>
      <p:sp>
        <p:nvSpPr>
          <p:cNvPr id="15" name="Contribution point 2 text"/>
          <p:cNvSpPr txBox="1"/>
          <p:nvPr/>
        </p:nvSpPr>
        <p:spPr>
          <a:xfrm>
            <a:off x="7178040" y="3063240"/>
            <a:ext cx="4190695" cy="1097280"/>
          </a:xfrm>
          <a:prstGeom prst="rect">
            <a:avLst/>
          </a:prstGeom>
          <a:noFill/>
          <a:ln/>
        </p:spPr>
        <p:txBody>
          <a:bodyPr wrap="square" lIns="0" tIns="0" rIns="0" bIns="0" rtlCol="0" anchor="ctr"/>
          <a:lstStyle/>
          <a:p>
            <a:pPr indent="0" marL="0">
              <a:buNone/>
            </a:pPr>
            <a:r>
              <a:rPr lang="en-US" sz="2000" dirty="0">
                <a:solidFill>
                  <a:schemeClr val="tx1"/>
                </a:solidFill>
              </a:rPr>
              <a:t>Reproducible low-cost reference design (under $50)</a:t>
            </a:r>
            <a:endParaRPr lang="en-US" sz="2000" dirty="0"/>
          </a:p>
        </p:txBody>
      </p:sp>
      <p:sp>
        <p:nvSpPr>
          <p:cNvPr id="16" name="Contribution point 3"/>
          <p:cNvSpPr/>
          <p:nvPr/>
        </p:nvSpPr>
        <p:spPr>
          <a:xfrm>
            <a:off x="5943600" y="4480560"/>
            <a:ext cx="5699455" cy="1371600"/>
          </a:xfrm>
          <a:prstGeom prst="roundRect">
            <a:avLst>
              <a:gd name="adj" fmla="val 8000"/>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sp>
        <p:nvSpPr>
          <p:cNvPr id="17" name="Contribution point 3 circle"/>
          <p:cNvSpPr/>
          <p:nvPr/>
        </p:nvSpPr>
        <p:spPr>
          <a:xfrm>
            <a:off x="6263640" y="4846320"/>
            <a:ext cx="640080" cy="640080"/>
          </a:xfrm>
          <a:prstGeom prst="ellipse">
            <a:avLst/>
          </a:prstGeom>
          <a:solidFill>
            <a:schemeClr val="accent3"/>
          </a:solidFill>
          <a:ln/>
        </p:spPr>
      </p:sp>
      <p:pic>
        <p:nvPicPr>
          <p:cNvPr id="18" name="Image 3" descr="Contribution point 3 icon">    </p:cNvPr>
          <p:cNvPicPr>
            <a:picLocks noChangeAspect="1"/>
          </p:cNvPicPr>
          <p:nvPr/>
        </p:nvPicPr>
        <p:blipFill>
          <a:blip r:embed="rId4"/>
          <a:stretch>
            <a:fillRect/>
          </a:stretch>
        </p:blipFill>
        <p:spPr>
          <a:xfrm>
            <a:off x="6423660" y="5006340"/>
            <a:ext cx="320040" cy="320040"/>
          </a:xfrm>
          <a:prstGeom prst="rect">
            <a:avLst/>
          </a:prstGeom>
        </p:spPr>
      </p:pic>
      <p:sp>
        <p:nvSpPr>
          <p:cNvPr id="19" name="Contribution point 3 text"/>
          <p:cNvSpPr txBox="1"/>
          <p:nvPr/>
        </p:nvSpPr>
        <p:spPr>
          <a:xfrm>
            <a:off x="7178040" y="4617720"/>
            <a:ext cx="4190695" cy="1097280"/>
          </a:xfrm>
          <a:prstGeom prst="rect">
            <a:avLst/>
          </a:prstGeom>
          <a:noFill/>
          <a:ln/>
        </p:spPr>
        <p:txBody>
          <a:bodyPr wrap="square" lIns="0" tIns="0" rIns="0" bIns="0" rtlCol="0" anchor="ctr"/>
          <a:lstStyle/>
          <a:p>
            <a:pPr indent="0" marL="0">
              <a:buNone/>
            </a:pPr>
            <a:r>
              <a:rPr lang="en-US" sz="2000" dirty="0">
                <a:solidFill>
                  <a:schemeClr val="tx1"/>
                </a:solidFill>
              </a:rPr>
              <a:t>Early simulation: predictive triggers before the event begins</a:t>
            </a:r>
            <a:endParaRPr lang="en-US" sz="20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2103120"/>
            <a:ext cx="6309360" cy="1371600"/>
          </a:xfrm>
          <a:prstGeom prst="rect">
            <a:avLst/>
          </a:prstGeom>
          <a:noFill/>
          <a:ln/>
        </p:spPr>
        <p:txBody>
          <a:bodyPr wrap="square" lIns="0" tIns="0" rIns="0" bIns="0" rtlCol="0" anchor="ctr"/>
          <a:lstStyle/>
          <a:p>
            <a:pPr algn="l" indent="0" marL="0">
              <a:buNone/>
            </a:pPr>
            <a:r>
              <a:rPr lang="en-US" sz="6600" b="1" dirty="0">
                <a:solidFill>
                  <a:schemeClr val="bg1"/>
                </a:solidFill>
              </a:rPr>
              <a:t>Questions?</a:t>
            </a:r>
            <a:endParaRPr lang="en-US" sz="6600" dirty="0"/>
          </a:p>
        </p:txBody>
      </p:sp>
      <p:sp>
        <p:nvSpPr>
          <p:cNvPr id="3" name="Text 1"/>
          <p:cNvSpPr/>
          <p:nvPr>
            <p:ph idx="103" type="body" hasCustomPrompt="1"/>
          </p:nvPr>
        </p:nvSpPr>
        <p:spPr>
          <a:xfrm>
            <a:off x="640080" y="3611880"/>
            <a:ext cx="6309360" cy="822960"/>
          </a:xfrm>
          <a:prstGeom prst="rect">
            <a:avLst/>
          </a:prstGeom>
          <a:noFill/>
          <a:ln/>
        </p:spPr>
        <p:txBody>
          <a:bodyPr wrap="square" lIns="0" tIns="0" rIns="0" bIns="0" rtlCol="0" anchor="t"/>
          <a:lstStyle/>
          <a:p>
            <a:pPr algn="l" indent="0" marL="0">
              <a:buNone/>
            </a:pPr>
            <a:r>
              <a:rPr lang="en-US" sz="3200" dirty="0">
                <a:solidFill>
                  <a:schemeClr val="accent2"/>
                </a:solidFill>
              </a:rPr>
              <a:t>Thank you</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Appendix: Dashboard Pages</a:t>
            </a:r>
            <a:endParaRPr lang="en-US" sz="3600" dirty="0"/>
          </a:p>
        </p:txBody>
      </p:sp>
      <p:sp>
        <p:nvSpPr>
          <p:cNvPr id="4" name="Trial Results screenshot frame"/>
          <p:cNvSpPr/>
          <p:nvPr/>
        </p:nvSpPr>
        <p:spPr>
          <a:xfrm>
            <a:off x="548640" y="1371600"/>
            <a:ext cx="5455768" cy="3200400"/>
          </a:xfrm>
          <a:prstGeom prst="roundRect">
            <a:avLst>
              <a:gd name="adj" fmla="val 342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pic>
        <p:nvPicPr>
          <p:cNvPr id="5" name="Image 0" descr="Screenshot of the Trial Results page">    </p:cNvPr>
          <p:cNvPicPr>
            <a:picLocks noChangeAspect="1"/>
          </p:cNvPicPr>
          <p:nvPr/>
        </p:nvPicPr>
        <p:blipFill>
          <a:blip r:embed="rId1"/>
          <a:stretch>
            <a:fillRect/>
          </a:stretch>
        </p:blipFill>
        <p:spPr>
          <a:xfrm>
            <a:off x="685800" y="1533023"/>
            <a:ext cx="5181448" cy="2877554"/>
          </a:xfrm>
          <a:prstGeom prst="rect">
            <a:avLst/>
          </a:prstGeom>
        </p:spPr>
      </p:pic>
      <p:sp>
        <p:nvSpPr>
          <p:cNvPr id="6" name="Trial Results caption title"/>
          <p:cNvSpPr txBox="1"/>
          <p:nvPr/>
        </p:nvSpPr>
        <p:spPr>
          <a:xfrm>
            <a:off x="548640" y="4709160"/>
            <a:ext cx="5455768" cy="320040"/>
          </a:xfrm>
          <a:prstGeom prst="rect">
            <a:avLst/>
          </a:prstGeom>
          <a:noFill/>
          <a:ln/>
        </p:spPr>
        <p:txBody>
          <a:bodyPr wrap="square" lIns="0" tIns="0" rIns="0" bIns="0" rtlCol="0" anchor="ctr"/>
          <a:lstStyle/>
          <a:p>
            <a:pPr indent="0" marL="0">
              <a:buNone/>
            </a:pPr>
            <a:r>
              <a:rPr lang="en-US" sz="1800" b="1" dirty="0">
                <a:solidFill>
                  <a:schemeClr val="tx1"/>
                </a:solidFill>
              </a:rPr>
              <a:t>Trial Results</a:t>
            </a:r>
            <a:endParaRPr lang="en-US" sz="1800" dirty="0"/>
          </a:p>
        </p:txBody>
      </p:sp>
      <p:sp>
        <p:nvSpPr>
          <p:cNvPr id="7" name="Trial Results caption"/>
          <p:cNvSpPr txBox="1"/>
          <p:nvPr/>
        </p:nvSpPr>
        <p:spPr>
          <a:xfrm>
            <a:off x="548640" y="5047488"/>
            <a:ext cx="5455768" cy="548640"/>
          </a:xfrm>
          <a:prstGeom prst="rect">
            <a:avLst/>
          </a:prstGeom>
          <a:noFill/>
          <a:ln/>
        </p:spPr>
        <p:txBody>
          <a:bodyPr wrap="square" lIns="0" tIns="0" rIns="0" bIns="0" rtlCol="0" anchor="t"/>
          <a:lstStyle/>
          <a:p>
            <a:pPr indent="0" marL="0">
              <a:buNone/>
            </a:pPr>
            <a:r>
              <a:rPr lang="en-US" sz="1400" dirty="0">
                <a:solidFill>
                  <a:srgbClr val="5F727C"/>
                </a:solidFill>
              </a:rPr>
              <a:t>Accuracy-vs-energy trade-off curve and policy comparison (sample data)</a:t>
            </a:r>
            <a:endParaRPr lang="en-US" sz="1400" dirty="0"/>
          </a:p>
        </p:txBody>
      </p:sp>
      <p:sp>
        <p:nvSpPr>
          <p:cNvPr id="8" name="Trial History screenshot frame"/>
          <p:cNvSpPr/>
          <p:nvPr/>
        </p:nvSpPr>
        <p:spPr>
          <a:xfrm>
            <a:off x="6187288" y="1371600"/>
            <a:ext cx="5455768" cy="3200400"/>
          </a:xfrm>
          <a:prstGeom prst="roundRect">
            <a:avLst>
              <a:gd name="adj" fmla="val 3429"/>
            </a:avLst>
          </a:prstGeom>
          <a:solidFill>
            <a:schemeClr val="bg1"/>
          </a:solidFill>
          <a:ln w="9525">
            <a:solidFill>
              <a:srgbClr val="D9E1E6"/>
            </a:solidFill>
            <a:prstDash val="solid"/>
          </a:ln>
          <a:effectLst>
            <a:outerShdw sx="100000" sy="100000" kx="0" ky="0" algn="bl" rotWithShape="0" blurRad="101600" dist="25400" dir="5400000">
              <a:srgbClr val="000000">
                <a:alpha val="10000"/>
              </a:srgbClr>
            </a:outerShdw>
          </a:effectLst>
        </p:spPr>
      </p:sp>
      <p:pic>
        <p:nvPicPr>
          <p:cNvPr id="9" name="Image 1" descr="Screenshot of the Trial History page">    </p:cNvPr>
          <p:cNvPicPr>
            <a:picLocks noChangeAspect="1"/>
          </p:cNvPicPr>
          <p:nvPr/>
        </p:nvPicPr>
        <p:blipFill>
          <a:blip r:embed="rId2"/>
          <a:stretch>
            <a:fillRect/>
          </a:stretch>
        </p:blipFill>
        <p:spPr>
          <a:xfrm>
            <a:off x="6324448" y="1698027"/>
            <a:ext cx="5181448" cy="2547545"/>
          </a:xfrm>
          <a:prstGeom prst="rect">
            <a:avLst/>
          </a:prstGeom>
        </p:spPr>
      </p:pic>
      <p:sp>
        <p:nvSpPr>
          <p:cNvPr id="10" name="Trial History caption title"/>
          <p:cNvSpPr txBox="1"/>
          <p:nvPr/>
        </p:nvSpPr>
        <p:spPr>
          <a:xfrm>
            <a:off x="6187288" y="4709160"/>
            <a:ext cx="5455768" cy="320040"/>
          </a:xfrm>
          <a:prstGeom prst="rect">
            <a:avLst/>
          </a:prstGeom>
          <a:noFill/>
          <a:ln/>
        </p:spPr>
        <p:txBody>
          <a:bodyPr wrap="square" lIns="0" tIns="0" rIns="0" bIns="0" rtlCol="0" anchor="ctr"/>
          <a:lstStyle/>
          <a:p>
            <a:pPr indent="0" marL="0">
              <a:buNone/>
            </a:pPr>
            <a:r>
              <a:rPr lang="en-US" sz="1800" b="1" dirty="0">
                <a:solidFill>
                  <a:schemeClr val="tx1"/>
                </a:solidFill>
              </a:rPr>
              <a:t>Trial History</a:t>
            </a:r>
            <a:endParaRPr lang="en-US" sz="1800" dirty="0"/>
          </a:p>
        </p:txBody>
      </p:sp>
      <p:sp>
        <p:nvSpPr>
          <p:cNvPr id="11" name="Trial History caption"/>
          <p:cNvSpPr txBox="1"/>
          <p:nvPr/>
        </p:nvSpPr>
        <p:spPr>
          <a:xfrm>
            <a:off x="6187288" y="5047488"/>
            <a:ext cx="5455768" cy="548640"/>
          </a:xfrm>
          <a:prstGeom prst="rect">
            <a:avLst/>
          </a:prstGeom>
          <a:noFill/>
          <a:ln/>
        </p:spPr>
        <p:txBody>
          <a:bodyPr wrap="square" lIns="0" tIns="0" rIns="0" bIns="0" rtlCol="0" anchor="t"/>
          <a:lstStyle/>
          <a:p>
            <a:pPr indent="0" marL="0">
              <a:buNone/>
            </a:pPr>
            <a:r>
              <a:rPr lang="en-US" sz="1400" dirty="0">
                <a:solidFill>
                  <a:srgbClr val="5F727C"/>
                </a:solidFill>
              </a:rPr>
              <a:t>Filter, sort and open past trials (sample data)</a:t>
            </a:r>
            <a:endParaRPr lang="en-US" sz="14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Appendix: Closest Prior Work</a:t>
            </a:r>
            <a:endParaRPr lang="en-US" sz="3600" dirty="0"/>
          </a:p>
        </p:txBody>
      </p:sp>
      <p:graphicFrame>
        <p:nvGraphicFramePr>
          <p:cNvPr id="16" name="Prior work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3200400"/>
                <a:gridCol w="2743200"/>
                <a:gridCol w="2773375"/>
              </a:tblGrid>
              <a:tr h="411480">
                <a:tc>
                  <a:txBody>
                    <a:bodyPr/>
                    <a:lstStyle/>
                    <a:p>
                      <a:pPr indent="0" marL="0">
                        <a:buNone/>
                      </a:pPr>
                      <a:r>
                        <a:rPr lang="en-US" sz="1400" b="1" dirty="0">
                          <a:solidFill>
                            <a:schemeClr val="bg1"/>
                          </a:solidFill>
                        </a:rPr>
                        <a:t>Work</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Reported result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Limitation</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This project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r>
              <a:tr h="658368">
                <a:tc>
                  <a:txBody>
                    <a:bodyPr/>
                    <a:lstStyle/>
                    <a:p>
                      <a:pPr indent="0" marL="0">
                        <a:buNone/>
                      </a:pPr>
                      <a:r>
                        <a:rPr lang="en-US" sz="1400" b="1" dirty="0">
                          <a:solidFill>
                            <a:schemeClr val="tx1"/>
                          </a:solidFill>
                        </a:rPr>
                        <a:t>Ambrosia (Sci. Rep. 2021)</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60% less data sent; 2x battery life (real LoRa/BLE deployment)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Adapts transmission only, not the sampling rate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Adapts sampling and transmission together</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TinyML agri. sampling (2026)</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77.8% energy reduction vs. fixed interval (60-day field pilot)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slow variable (temperature)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Targets fast vibration events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Two-to-One Trigger (2025)</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41.9% fewer CO2 measurements; MAE 0.0089</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Authors call for adaptive thresholds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Predictive, adaptive trigger</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DGAST protocol</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78% energy reduction; 94.6% accuracy</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Simulation and dataset replay only</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Live energy measurement (planned)</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EdgeSpike (2026)</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91.4% mean accuracy; 6.3x projected battery life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Best gains need neuromorphic hardware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Lightweight trigger on an ESP32-class node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658368">
                <a:tc>
                  <a:txBody>
                    <a:bodyPr/>
                    <a:lstStyle/>
                    <a:p>
                      <a:pPr indent="0" marL="0">
                        <a:buNone/>
                      </a:pPr>
                      <a:r>
                        <a:rPr lang="en-US" sz="1400" b="1" dirty="0">
                          <a:solidFill>
                            <a:schemeClr val="tx1"/>
                          </a:solidFill>
                        </a:rPr>
                        <a:t>Telemetry predictor (patent)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Predictor triggers a fast sampler before the fault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quantitative benchmark disclosed</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Real-hardware validation (planned)</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bl>
          </a:graphicData>
        </a:graphic>
      </p:graphicFrame>
      <p:sp>
        <p:nvSpPr>
          <p:cNvPr id="5" name="Prior work footnote"/>
          <p:cNvSpPr txBox="1"/>
          <p:nvPr/>
        </p:nvSpPr>
        <p:spPr>
          <a:xfrm>
            <a:off x="548640" y="5760720"/>
            <a:ext cx="7315200" cy="274320"/>
          </a:xfrm>
          <a:prstGeom prst="rect">
            <a:avLst/>
          </a:prstGeom>
          <a:noFill/>
          <a:ln/>
        </p:spPr>
        <p:txBody>
          <a:bodyPr wrap="square" lIns="0" tIns="0" rIns="0" bIns="0" rtlCol="0" anchor="ctr"/>
          <a:lstStyle/>
          <a:p>
            <a:pPr indent="0" marL="0">
              <a:buNone/>
            </a:pPr>
            <a:r>
              <a:rPr lang="en-US" sz="1200" dirty="0">
                <a:solidFill>
                  <a:srgbClr val="5F727C"/>
                </a:solidFill>
              </a:rPr>
              <a:t>Full 23-paper comparison matrix: Deliverable 2</a:t>
            </a:r>
            <a:endParaRPr lang="en-US" sz="12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Appendix: Bill of Materials</a:t>
            </a:r>
            <a:endParaRPr lang="en-US" sz="3600" dirty="0"/>
          </a:p>
        </p:txBody>
      </p:sp>
      <p:graphicFrame>
        <p:nvGraphicFramePr>
          <p:cNvPr id="17" name="Bill of material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480560"/>
                <a:gridCol w="4206240"/>
                <a:gridCol w="2407615"/>
              </a:tblGrid>
              <a:tr h="475488">
                <a:tc>
                  <a:txBody>
                    <a:bodyPr/>
                    <a:lstStyle/>
                    <a:p>
                      <a:pPr algn="l" indent="0" marL="0">
                        <a:buNone/>
                      </a:pPr>
                      <a:r>
                        <a:rPr lang="en-US" sz="1400" b="1" dirty="0">
                          <a:solidFill>
                            <a:schemeClr val="bg1"/>
                          </a:solidFill>
                        </a:rPr>
                        <a:t>Component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algn="l" indent="0" marL="0">
                        <a:buNone/>
                      </a:pPr>
                      <a:r>
                        <a:rPr lang="en-US" sz="1400" b="1" dirty="0">
                          <a:solidFill>
                            <a:schemeClr val="bg1"/>
                          </a:solidFill>
                        </a:rPr>
                        <a:t>Purpose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c>
                  <a:txBody>
                    <a:bodyPr/>
                    <a:lstStyle/>
                    <a:p>
                      <a:pPr algn="r" indent="0" marL="0">
                        <a:buNone/>
                      </a:pPr>
                      <a:r>
                        <a:rPr lang="en-US" sz="1400" b="1" dirty="0">
                          <a:solidFill>
                            <a:schemeClr val="bg1"/>
                          </a:solidFill>
                        </a:rPr>
                        <a:t>Approx. cost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accent1"/>
                    </a:solidFill>
                  </a:tcPr>
                </a:tc>
              </a:tr>
              <a:tr h="475488">
                <a:tc>
                  <a:txBody>
                    <a:bodyPr/>
                    <a:lstStyle/>
                    <a:p>
                      <a:pPr indent="0" marL="0">
                        <a:buNone/>
                      </a:pPr>
                      <a:r>
                        <a:rPr lang="en-US" sz="1400" dirty="0">
                          <a:solidFill>
                            <a:schemeClr val="tx1"/>
                          </a:solidFill>
                        </a:rPr>
                        <a:t>ESP32 development board (deep-sleep capable)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Main compute and adaptive-sampling logic</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$6–10</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ADXL345 (or MPU6050) accelerometer</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Vibration sensing over I²C</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$3–8</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INA219 current-sense breakout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Direct energy and current measurement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$5–8</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Small DC motor</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Induces repeatable vibration events</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$5–10</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18650 Li-ion cell and holder</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Realistic battery-life projection</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$5–8</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Breadboard, jumper wires, USB cable</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Prototyping</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$5</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Laptop (or Raspberry Pi) as MQTT broker host</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Mosquitto broker and data logging</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 laptop / ~$35 Pi</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Total, without a Raspberry Pi</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c>
                  <a:txBody>
                    <a:bodyPr/>
                    <a:lstStyle/>
                    <a:p>
                      <a:pPr indent="0" marL="0">
                        <a:buNone/>
                      </a:pP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c>
                  <a:txBody>
                    <a:bodyPr/>
                    <a:lstStyle/>
                    <a:p>
                      <a:pPr algn="r" indent="0" marL="0">
                        <a:buNone/>
                      </a:pPr>
                      <a:r>
                        <a:rPr lang="en-US" sz="1400" b="1" dirty="0">
                          <a:solidFill>
                            <a:schemeClr val="tx1"/>
                          </a:solidFill>
                        </a:rPr>
                        <a:t>≈ $29–$49</a:t>
                      </a:r>
                      <a:endParaRPr lang="en-US" sz="1400" dirty="0"/>
                    </a:p>
                  </a:txBody>
                  <a:tcPr marL="91440" marR="91440" marT="45720" marB="45720" anchor="ctr">
                    <a:lnL w="9525" cap="flat" cmpd="sng" algn="ctr">
                      <a:solidFill>
                        <a:srgbClr val="D9E1E6"/>
                      </a:solidFill>
                      <a:prstDash val="solid"/>
                      <a:round/>
                      <a:headEnd type="none" w="med" len="med"/>
                      <a:tailEnd type="none" w="med" len="med"/>
                    </a:lnL>
                    <a:lnR w="9525" cap="flat" cmpd="sng" algn="ctr">
                      <a:solidFill>
                        <a:srgbClr val="D9E1E6"/>
                      </a:solidFill>
                      <a:prstDash val="solid"/>
                      <a:round/>
                      <a:headEnd type="none" w="med" len="med"/>
                      <a:tailEnd type="none" w="med" len="med"/>
                    </a:lnR>
                    <a:lnT w="9525" cap="flat" cmpd="sng" algn="ctr">
                      <a:solidFill>
                        <a:srgbClr val="D9E1E6"/>
                      </a:solidFill>
                      <a:prstDash val="solid"/>
                      <a:round/>
                      <a:headEnd type="none" w="med" len="med"/>
                      <a:tailEnd type="none" w="med" len="med"/>
                    </a:lnT>
                    <a:lnB w="9525" cap="flat" cmpd="sng" algn="ctr">
                      <a:solidFill>
                        <a:srgbClr val="D9E1E6"/>
                      </a:solidFill>
                      <a:prstDash val="solid"/>
                      <a:round/>
                      <a:headEnd type="none" w="med" len="med"/>
                      <a:tailEnd type="none" w="med" len="med"/>
                    </a:lnB>
                    <a:solidFill>
                      <a:srgbClr val="E3F3EC"/>
                    </a:solidFill>
                  </a:tcPr>
                </a:tc>
              </a:tr>
            </a:tbl>
          </a:graphicData>
        </a:graphic>
      </p:graphicFrame>
      <p:sp>
        <p:nvSpPr>
          <p:cNvPr id="5" name="BOM footnote"/>
          <p:cNvSpPr txBox="1"/>
          <p:nvPr/>
        </p:nvSpPr>
        <p:spPr>
          <a:xfrm>
            <a:off x="548640" y="5806440"/>
            <a:ext cx="7315200" cy="274320"/>
          </a:xfrm>
          <a:prstGeom prst="rect">
            <a:avLst/>
          </a:prstGeom>
          <a:noFill/>
          <a:ln/>
        </p:spPr>
        <p:txBody>
          <a:bodyPr wrap="square" lIns="0" tIns="0" rIns="0" bIns="0" rtlCol="0" anchor="ctr"/>
          <a:lstStyle/>
          <a:p>
            <a:pPr indent="0" marL="0">
              <a:buNone/>
            </a:pPr>
            <a:r>
              <a:rPr lang="en-US" sz="1200" dirty="0">
                <a:solidFill>
                  <a:srgbClr val="5F727C"/>
                </a:solidFill>
              </a:rPr>
              <a:t>Rough estimates from Deliverable 1; prices vary by supplier</a:t>
            </a:r>
            <a:endParaRPr lang="en-US" sz="12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Appendix: Selected References</a:t>
            </a:r>
            <a:endParaRPr lang="en-US" sz="3600" dirty="0"/>
          </a:p>
        </p:txBody>
      </p:sp>
      <p:sp>
        <p:nvSpPr>
          <p:cNvPr id="4" name="References 1-5"/>
          <p:cNvSpPr txBox="1"/>
          <p:nvPr/>
        </p:nvSpPr>
        <p:spPr>
          <a:xfrm>
            <a:off x="548640" y="1371600"/>
            <a:ext cx="5364328" cy="44805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chemeClr val="tx1"/>
                </a:solidFill>
              </a:rPr>
              <a:t>Algabroun, H., &amp; Håkansson, L. (2025). Parametric Machine Learning-Based Adaptive Sampling Algorithm for Efficient IoT Data Collection in Environmental Monitoring. Journal of Network and Systems Management, 33(5). doi:10.1007/s10922-024-09881-1</a:t>
            </a:r>
            <a:endParaRPr lang="en-US" sz="1400" dirty="0"/>
          </a:p>
          <a:p>
            <a:pPr marL="342900" indent="-342900">
              <a:spcAft>
                <a:spcPts val="1000"/>
              </a:spcAft>
              <a:buSzPct val="100000"/>
              <a:buFont typeface="+mj-lt"/>
              <a:buAutoNum type="arabicPeriod" startAt="1"/>
            </a:pPr>
            <a:r>
              <a:rPr lang="en-US" sz="1400" dirty="0">
                <a:solidFill>
                  <a:schemeClr val="tx1"/>
                </a:solidFill>
              </a:rPr>
              <a:t>A data-driven approach to increasing the lifetime of IoT sensor nodes (2021). Scientific Reports, 11, 22459.</a:t>
            </a:r>
            <a:endParaRPr lang="en-US" sz="1400" dirty="0"/>
          </a:p>
          <a:p>
            <a:pPr marL="342900" indent="-342900">
              <a:spcAft>
                <a:spcPts val="1000"/>
              </a:spcAft>
              <a:buSzPct val="100000"/>
              <a:buFont typeface="+mj-lt"/>
              <a:buAutoNum type="arabicPeriod" startAt="1"/>
            </a:pPr>
            <a:r>
              <a:rPr lang="en-US" sz="1400" dirty="0">
                <a:solidFill>
                  <a:schemeClr val="tx1"/>
                </a:solidFill>
              </a:rPr>
              <a:t>Smart Energy Management in Agricultural Wireless Sensor Nodes Using TinyML-Based Adaptive Sampling (2026). Sensors, 26(7), 2014. doi:10.3390/s26072014</a:t>
            </a:r>
            <a:endParaRPr lang="en-US" sz="1400" dirty="0"/>
          </a:p>
          <a:p>
            <a:pPr marL="342900" indent="-342900">
              <a:spcAft>
                <a:spcPts val="1000"/>
              </a:spcAft>
              <a:buSzPct val="100000"/>
              <a:buFont typeface="+mj-lt"/>
              <a:buAutoNum type="arabicPeriod" startAt="1"/>
            </a:pPr>
            <a:r>
              <a:rPr lang="en-US" sz="1400" dirty="0">
                <a:solidFill>
                  <a:schemeClr val="tx1"/>
                </a:solidFill>
              </a:rPr>
              <a:t>Two-to-One Trigger Mechanism for Event-Based Environmental Sensing (2025). Sensors, 25(13), 4107. doi:10.3390/s25134107</a:t>
            </a:r>
            <a:endParaRPr lang="en-US" sz="1400" dirty="0"/>
          </a:p>
          <a:p>
            <a:pPr marL="342900" indent="-342900">
              <a:spcAft>
                <a:spcPts val="1000"/>
              </a:spcAft>
              <a:buSzPct val="100000"/>
              <a:buFont typeface="+mj-lt"/>
              <a:buAutoNum type="arabicPeriod" startAt="1"/>
            </a:pPr>
            <a:r>
              <a:rPr lang="en-US" sz="1400" dirty="0">
                <a:solidFill>
                  <a:schemeClr val="tx1"/>
                </a:solidFill>
              </a:rPr>
              <a:t>EdgeSpike: Spiking Neural Networks for Low-Power Autonomous Sensing in Edge IoT Architectures (2026). arXiv:2604.27004.</a:t>
            </a:r>
            <a:endParaRPr lang="en-US" sz="1400" dirty="0"/>
          </a:p>
        </p:txBody>
      </p:sp>
      <p:sp>
        <p:nvSpPr>
          <p:cNvPr id="5" name="References 6-10"/>
          <p:cNvSpPr txBox="1"/>
          <p:nvPr/>
        </p:nvSpPr>
        <p:spPr>
          <a:xfrm>
            <a:off x="6278728" y="1371600"/>
            <a:ext cx="5364328" cy="4480560"/>
          </a:xfrm>
          <a:prstGeom prst="rect">
            <a:avLst/>
          </a:prstGeom>
          <a:noFill/>
          <a:ln/>
        </p:spPr>
        <p:txBody>
          <a:bodyPr wrap="square" lIns="0" tIns="0" rIns="0" bIns="0" rtlCol="0" anchor="t"/>
          <a:lstStyle/>
          <a:p>
            <a:pPr marL="342900" indent="-342900">
              <a:spcAft>
                <a:spcPts val="1000"/>
              </a:spcAft>
              <a:buSzPct val="100000"/>
              <a:buFont typeface="+mj-lt"/>
              <a:buAutoNum type="arabicPeriod" startAt="6"/>
            </a:pPr>
            <a:r>
              <a:rPr lang="en-US" sz="1400" dirty="0">
                <a:solidFill>
                  <a:schemeClr val="tx1"/>
                </a:solidFill>
              </a:rPr>
              <a:t>Low-Power Embedded Sensor Node for Real-Time Environmental Monitoring with On-Board Machine-Learning Inference (2026). Sensors, 26(2), 703. doi:10.3390/s26020703</a:t>
            </a:r>
            <a:endParaRPr lang="en-US" sz="1400" dirty="0"/>
          </a:p>
          <a:p>
            <a:pPr marL="342900" indent="-342900">
              <a:spcAft>
                <a:spcPts val="1000"/>
              </a:spcAft>
              <a:buSzPct val="100000"/>
              <a:buFont typeface="+mj-lt"/>
              <a:buAutoNum type="arabicPeriod" startAt="6"/>
            </a:pPr>
            <a:r>
              <a:rPr lang="en-US" sz="1400" dirty="0">
                <a:solidFill>
                  <a:schemeClr val="tx1"/>
                </a:solidFill>
              </a:rPr>
              <a:t>An energy-efficient adaptive sampling scheme for wireless sensor networks (DGAST protocol).</a:t>
            </a:r>
            <a:endParaRPr lang="en-US" sz="1400" dirty="0"/>
          </a:p>
          <a:p>
            <a:pPr marL="342900" indent="-342900">
              <a:spcAft>
                <a:spcPts val="1000"/>
              </a:spcAft>
              <a:buSzPct val="100000"/>
              <a:buFont typeface="+mj-lt"/>
              <a:buAutoNum type="arabicPeriod" startAt="6"/>
            </a:pPr>
            <a:r>
              <a:rPr lang="en-US" sz="1400" dirty="0">
                <a:solidFill>
                  <a:schemeClr val="tx1"/>
                </a:solidFill>
              </a:rPr>
              <a:t>Telemetry-based anomaly detection (predictive triggering system). U.S. Patent/Publication No. 12,556,607.</a:t>
            </a:r>
            <a:endParaRPr lang="en-US" sz="1400" dirty="0"/>
          </a:p>
          <a:p>
            <a:pPr marL="342900" indent="-342900">
              <a:spcAft>
                <a:spcPts val="1000"/>
              </a:spcAft>
              <a:buSzPct val="100000"/>
              <a:buFont typeface="+mj-lt"/>
              <a:buAutoNum type="arabicPeriod" startAt="6"/>
            </a:pPr>
            <a:r>
              <a:rPr lang="en-US" sz="1400" dirty="0">
                <a:solidFill>
                  <a:schemeClr val="tx1"/>
                </a:solidFill>
              </a:rPr>
              <a:t>ITU-T Recommendation L.1341 (2025). Energy efficiency requirements for IoT platforms.</a:t>
            </a:r>
            <a:endParaRPr lang="en-US" sz="1400" dirty="0"/>
          </a:p>
          <a:p>
            <a:pPr marL="342900" indent="-342900">
              <a:spcAft>
                <a:spcPts val="1000"/>
              </a:spcAft>
              <a:buSzPct val="100000"/>
              <a:buFont typeface="+mj-lt"/>
              <a:buAutoNum type="arabicPeriod" startAt="6"/>
            </a:pPr>
            <a:r>
              <a:rPr lang="en-US" sz="1400" dirty="0">
                <a:solidFill>
                  <a:schemeClr val="tx1"/>
                </a:solidFill>
              </a:rPr>
              <a:t>Green Edge AI: A Contemporary Survey (2025). arXiv preprint.</a:t>
            </a:r>
            <a:endParaRPr lang="en-US" sz="1400" dirty="0"/>
          </a:p>
        </p:txBody>
      </p:sp>
      <p:sp>
        <p:nvSpPr>
          <p:cNvPr id="6" name="References footnote"/>
          <p:cNvSpPr txBox="1"/>
          <p:nvPr/>
        </p:nvSpPr>
        <p:spPr>
          <a:xfrm>
            <a:off x="548640" y="5852160"/>
            <a:ext cx="7315200" cy="274320"/>
          </a:xfrm>
          <a:prstGeom prst="rect">
            <a:avLst/>
          </a:prstGeom>
          <a:noFill/>
          <a:ln/>
        </p:spPr>
        <p:txBody>
          <a:bodyPr wrap="square" lIns="0" tIns="0" rIns="0" bIns="0" rtlCol="0" anchor="ctr"/>
          <a:lstStyle/>
          <a:p>
            <a:pPr indent="0" marL="0">
              <a:buNone/>
            </a:pPr>
            <a:r>
              <a:rPr lang="en-US" sz="1200" dirty="0">
                <a:solidFill>
                  <a:srgbClr val="5F727C"/>
                </a:solidFill>
              </a:rPr>
              <a:t>Complete reference list: Deliverables 1 and 2</a:t>
            </a:r>
            <a:endParaRPr lang="en-US" sz="1200" dirty="0"/>
          </a:p>
        </p:txBody>
      </p:sp>
      <p:sp>
        <p:nvSpPr>
          <p:cNvPr id="25" name="Slide Number Placeholder 0"/>
          <p:cNvSpPr>
            <a:spLocks noGrp="1"/>
          </p:cNvSpPr>
          <p:nvPr>
            <p:ph type="sldNum" sz="quarter" idx="4294967295"/>
          </p:nvPr>
        </p:nvSpPr>
        <p:spPr>
          <a:xfrm>
            <a:off x="548640" y="6382512"/>
            <a:ext cx="36576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727C"/>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aptive IoT Sensing">
  <a:themeElements>
    <a:clrScheme name="Adaptive IoT Sensing">
      <a:dk1>
        <a:srgbClr val="1A2B33"/>
      </a:dk1>
      <a:lt1>
        <a:srgbClr val="FFFFFF"/>
      </a:lt1>
      <a:dk2>
        <a:srgbClr val="0D3B4F"/>
      </a:dk2>
      <a:lt2>
        <a:srgbClr val="EEF2F5"/>
      </a:lt2>
      <a:accent1>
        <a:srgbClr val="1F4E5F"/>
      </a:accent1>
      <a:accent2>
        <a:srgbClr val="1AB6D6"/>
      </a:accent2>
      <a:accent3>
        <a:srgbClr val="1A9B6C"/>
      </a:accent3>
      <a:accent4>
        <a:srgbClr val="3366CC"/>
      </a:accent4>
      <a:accent5>
        <a:srgbClr val="E08A2C"/>
      </a:accent5>
      <a:accent6>
        <a:srgbClr val="D94B4B"/>
      </a:accent6>
      <a:hlink>
        <a:srgbClr val="1F7AA8"/>
      </a:hlink>
      <a:folHlink>
        <a:srgbClr val="6D5CE6"/>
      </a:folHlink>
    </a:clrScheme>
    <a:fontScheme name="Adaptive IoT Sens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Adaptive Sampling for Energy-Efficient Edge IoT</dc:title>
  <dc:subject>IoT &amp; Industrial IoT course project</dc:subject>
  <dc:creator>Project team</dc:creator>
  <cp:lastModifiedBy>Project team</cp:lastModifiedBy>
  <cp:revision>1</cp:revision>
  <dcterms:created xsi:type="dcterms:W3CDTF">2026-10-15T13:28:17Z</dcterms:created>
  <dcterms:modified xsi:type="dcterms:W3CDTF">2026-10-15T13:28:17Z</dcterms:modified>
</cp:coreProperties>
</file>